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product aim, one spec, one design language. This deck walks the athlete's path through the app and shows where the honesty rules become pixels.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clause is load-bearing. Four sensors because donning time is the retention constraint. Three signals because that is the attention ceiling at threshold. Honest because a greyed metric builds more trust than a confident wrong one. One cue because an athlete given five adopts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session flow is modal: no tab bar between setup and report. Home, History and Settings are the only tabbed screens. Five degraded states hang off the flow and are designed, not improvised.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details carry disproportionate weight: the one-tap software L/R swap, and the sync-tap instruction as a first-class block. Wrong-limb mounting is common; without the swap the athlete re-straps and some fraction stops using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Showing the variance percentage while measuring rather than a spinner is deliberate: it makes the pass criterion legible, so a repeat feels like a near-miss rather than an arbitrary rejection. Failure names the sensor and the likely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signals maximum, all pre-attentively decodable — colour and position, no reading. The screen budget is fixed: any proposal to add a live element must displace an existing one. This is the rule that erodes first, so it is in the spec.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 order: went well, one focus, next drill. The cue is set apart in italic quotation because it is the one line the athlete should be able to retain. Suppressed faults are never expanded here — that restraint is the whole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visual hierarchy is the safety mechanism. If a future design change moves the referral card below the coaching content, that is a regression in a safety behaviour, not a layout preference — flag it in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greyed metric with a stated reason builds more trust than a confident wrong one. The same metric is structurally omitted from the descriptor, so the coaching layer cannot mention it — a constraint the model can violate is weaker than a number it never receives.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Degradation is always visible and labelled. A silently degraded live signal teaches the athlete the wrong movement. Five states are designed, not improvised at implementation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design still needs before pilot: Swedish strings at final length, real placement footage, and a decision on whether cadence is prescribed by default. Coach tablet view stays out of 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143000" y="1047750"/>
            <a:ext cx="3931600" cy="392385"/>
          </a:xfrm>
          <a:prstGeom prst="rect">
            <a:avLst/>
          </a:prstGeom>
          <a:noFill/>
          <a:ln/>
        </p:spPr>
        <p:txBody>
          <a:bodyPr wrap="square" lIns="25400" tIns="25400" rIns="25400" bIns="25400" rtlCol="0" anchor="t">
            <a:normAutofit/>
          </a:bodyPr>
          <a:lstStyle/>
          <a:p>
            <a:pPr algn="l" indent="0" marL="0">
              <a:lnSpc>
                <a:spcPct val="135273"/>
              </a:lnSpc>
              <a:buNone/>
            </a:pPr>
            <a:r>
              <a:rPr lang="en-US" sz="1800" b="1" spc="252" kern="0" dirty="0">
                <a:solidFill>
                  <a:srgbClr val="416180"/>
                </a:solidFill>
                <a:latin typeface="Arial" pitchFamily="34" charset="0"/>
                <a:ea typeface="Arial" pitchFamily="34" charset="-122"/>
                <a:cs typeface="Arial" pitchFamily="34" charset="-120"/>
              </a:rPr>
              <a:t>MOVESENSE · TIER A · 4 SENSORS</a:t>
            </a:r>
            <a:endParaRPr lang="en-US" sz="1800" dirty="0"/>
          </a:p>
        </p:txBody>
      </p:sp>
      <p:sp>
        <p:nvSpPr>
          <p:cNvPr id="3" name="Text 1"/>
          <p:cNvSpPr/>
          <p:nvPr/>
        </p:nvSpPr>
        <p:spPr>
          <a:xfrm>
            <a:off x="14308931" y="1047750"/>
            <a:ext cx="3119676" cy="392385"/>
          </a:xfrm>
          <a:prstGeom prst="rect">
            <a:avLst/>
          </a:prstGeom>
          <a:noFill/>
          <a:ln/>
        </p:spPr>
        <p:txBody>
          <a:bodyPr wrap="square" lIns="25400" tIns="25400" rIns="25400" bIns="25400" rtlCol="0" anchor="t">
            <a:normAutofit/>
          </a:bodyPr>
          <a:lstStyle/>
          <a:p>
            <a:pPr algn="l" indent="0" marL="0">
              <a:lnSpc>
                <a:spcPct val="135273"/>
              </a:lnSpc>
              <a:buNone/>
            </a:pPr>
            <a:r>
              <a:rPr lang="en-US" sz="1800" b="1" spc="252" kern="0" dirty="0">
                <a:solidFill>
                  <a:srgbClr val="416180"/>
                </a:solidFill>
                <a:latin typeface="Arial" pitchFamily="34" charset="0"/>
                <a:ea typeface="Arial" pitchFamily="34" charset="-122"/>
                <a:cs typeface="Arial" pitchFamily="34" charset="-120"/>
              </a:rPr>
              <a:t>SPEC V1.0 · CONFIG 2026.1</a:t>
            </a:r>
            <a:endParaRPr lang="en-US" sz="1800" dirty="0"/>
          </a:p>
        </p:txBody>
      </p:sp>
      <p:sp>
        <p:nvSpPr>
          <p:cNvPr id="4" name="Text 2"/>
          <p:cNvSpPr/>
          <p:nvPr/>
        </p:nvSpPr>
        <p:spPr>
          <a:xfrm>
            <a:off x="1143000" y="2931393"/>
            <a:ext cx="14716125" cy="2724150"/>
          </a:xfrm>
          <a:prstGeom prst="rect">
            <a:avLst/>
          </a:prstGeom>
          <a:noFill/>
          <a:ln/>
        </p:spPr>
        <p:txBody>
          <a:bodyPr wrap="square" lIns="25400" tIns="25400" rIns="25400" bIns="25400" rtlCol="0" anchor="t">
            <a:normAutofit/>
          </a:bodyPr>
          <a:lstStyle/>
          <a:p>
            <a:pPr algn="l" indent="0" marL="0">
              <a:lnSpc>
                <a:spcPct val="81503"/>
              </a:lnSpc>
              <a:buNone/>
            </a:pPr>
            <a:r>
              <a:rPr lang="en-US" sz="11250" b="1" spc="-225" kern="0" dirty="0">
                <a:solidFill>
                  <a:srgbClr val="1D1F20"/>
                </a:solidFill>
                <a:latin typeface="Arial" pitchFamily="34" charset="0"/>
                <a:ea typeface="Arial" pitchFamily="34" charset="-122"/>
                <a:cs typeface="Arial" pitchFamily="34" charset="-120"/>
              </a:rPr>
              <a:t>Double-Poling Trainer</a:t>
            </a:r>
            <a:endParaRPr lang="en-US" sz="11250" dirty="0"/>
          </a:p>
        </p:txBody>
      </p:sp>
      <p:sp>
        <p:nvSpPr>
          <p:cNvPr id="5" name="Text 3"/>
          <p:cNvSpPr/>
          <p:nvPr/>
        </p:nvSpPr>
        <p:spPr>
          <a:xfrm>
            <a:off x="1143000" y="6036543"/>
            <a:ext cx="11576685" cy="1051471"/>
          </a:xfrm>
          <a:prstGeom prst="rect">
            <a:avLst/>
          </a:prstGeom>
          <a:noFill/>
          <a:ln/>
        </p:spPr>
        <p:txBody>
          <a:bodyPr wrap="square" lIns="25400" tIns="25400" rIns="25400" bIns="25400" rtlCol="0" anchor="t">
            <a:normAutofit/>
          </a:bodyPr>
          <a:lstStyle/>
          <a:p>
            <a:pPr algn="l" indent="0" marL="0">
              <a:lnSpc>
                <a:spcPct val="116923"/>
              </a:lnSpc>
              <a:buNone/>
            </a:pPr>
            <a:r>
              <a:rPr lang="en-US" sz="2850" dirty="0">
                <a:solidFill>
                  <a:srgbClr val="424244"/>
                </a:solidFill>
                <a:latin typeface="Barlow" pitchFamily="34" charset="0"/>
                <a:ea typeface="Barlow" pitchFamily="34" charset="-122"/>
                <a:cs typeface="Barlow" pitchFamily="34" charset="-120"/>
              </a:rPr>
              <a:t>Mobile app design for ergometer double poling — three signals live, an honest report, one grounded cue.</a:t>
            </a:r>
            <a:endParaRPr lang="en-US" sz="2850" dirty="0"/>
          </a:p>
        </p:txBody>
      </p:sp>
      <p:sp>
        <p:nvSpPr>
          <p:cNvPr id="6" name="Shape 4"/>
          <p:cNvSpPr/>
          <p:nvPr/>
        </p:nvSpPr>
        <p:spPr>
          <a:xfrm>
            <a:off x="1143000" y="8579197"/>
            <a:ext cx="16002000" cy="9525"/>
          </a:xfrm>
          <a:prstGeom prst="rect">
            <a:avLst/>
          </a:prstGeom>
          <a:solidFill>
            <a:srgbClr val="1D1F20">
              <a:alpha val="16000"/>
            </a:srgbClr>
          </a:solidFill>
          <a:ln/>
        </p:spPr>
      </p:sp>
      <p:sp>
        <p:nvSpPr>
          <p:cNvPr id="7" name="Text 5"/>
          <p:cNvSpPr/>
          <p:nvPr/>
        </p:nvSpPr>
        <p:spPr>
          <a:xfrm>
            <a:off x="1143000" y="8855422"/>
            <a:ext cx="2263795" cy="421928"/>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5D5D60"/>
                </a:solidFill>
                <a:latin typeface="Barlow" pitchFamily="34" charset="0"/>
                <a:ea typeface="Barlow" pitchFamily="34" charset="-122"/>
                <a:cs typeface="Barlow" pitchFamily="34" charset="-120"/>
              </a:rPr>
              <a:t>14 screens &amp; states</a:t>
            </a:r>
            <a:endParaRPr lang="en-US" sz="1950" dirty="0"/>
          </a:p>
        </p:txBody>
      </p:sp>
      <p:sp>
        <p:nvSpPr>
          <p:cNvPr id="8" name="Text 6"/>
          <p:cNvSpPr/>
          <p:nvPr/>
        </p:nvSpPr>
        <p:spPr>
          <a:xfrm>
            <a:off x="3810595" y="8855422"/>
            <a:ext cx="3075637" cy="421928"/>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5D5D60"/>
                </a:solidFill>
                <a:latin typeface="Barlow" pitchFamily="34" charset="0"/>
                <a:ea typeface="Barlow" pitchFamily="34" charset="-122"/>
                <a:cs typeface="Barlow" pitchFamily="34" charset="-120"/>
              </a:rPr>
              <a:t>English · Swedish to follow</a:t>
            </a:r>
            <a:endParaRPr lang="en-US" sz="1950" dirty="0"/>
          </a:p>
        </p:txBody>
      </p:sp>
      <p:sp>
        <p:nvSpPr>
          <p:cNvPr id="9" name="Text 7"/>
          <p:cNvSpPr/>
          <p:nvPr/>
        </p:nvSpPr>
        <p:spPr>
          <a:xfrm>
            <a:off x="7216229" y="8855422"/>
            <a:ext cx="2613318" cy="421928"/>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5D5D60"/>
                </a:solidFill>
                <a:latin typeface="Barlow" pitchFamily="34" charset="0"/>
                <a:ea typeface="Barlow" pitchFamily="34" charset="-122"/>
                <a:cs typeface="Barlow" pitchFamily="34" charset="-120"/>
              </a:rPr>
              <a:t>Dev handoff reference</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143000" y="914400"/>
            <a:ext cx="17602200" cy="392385"/>
          </a:xfrm>
          <a:prstGeom prst="rect">
            <a:avLst/>
          </a:prstGeom>
          <a:noFill/>
          <a:ln/>
        </p:spPr>
        <p:txBody>
          <a:bodyPr wrap="square" lIns="25400" tIns="25400" rIns="25400" bIns="25400" rtlCol="0" anchor="t">
            <a:normAutofit/>
          </a:bodyPr>
          <a:lstStyle/>
          <a:p>
            <a:pPr algn="l" indent="0" marL="0">
              <a:lnSpc>
                <a:spcPct val="128276"/>
              </a:lnSpc>
              <a:buNone/>
            </a:pPr>
            <a:r>
              <a:rPr lang="en-US" sz="1800" b="1" spc="252" kern="0" dirty="0">
                <a:solidFill>
                  <a:srgbClr val="416180"/>
                </a:solidFill>
                <a:latin typeface="Barlow Condensed" pitchFamily="34" charset="0"/>
                <a:ea typeface="Barlow Condensed" pitchFamily="34" charset="-122"/>
                <a:cs typeface="Barlow Condensed" pitchFamily="34" charset="-120"/>
              </a:rPr>
              <a:t>01 · THE AIM</a:t>
            </a:r>
            <a:endParaRPr lang="en-US" sz="1800" dirty="0"/>
          </a:p>
        </p:txBody>
      </p:sp>
      <p:sp>
        <p:nvSpPr>
          <p:cNvPr id="3" name="Text 1"/>
          <p:cNvSpPr/>
          <p:nvPr/>
        </p:nvSpPr>
        <p:spPr>
          <a:xfrm>
            <a:off x="1143000" y="1649685"/>
            <a:ext cx="15304770" cy="2263378"/>
          </a:xfrm>
          <a:prstGeom prst="rect">
            <a:avLst/>
          </a:prstGeom>
          <a:noFill/>
          <a:ln/>
        </p:spPr>
        <p:txBody>
          <a:bodyPr wrap="square" lIns="25400" tIns="25400" rIns="25400" bIns="25400" rtlCol="0" anchor="t">
            <a:normAutofit/>
          </a:bodyPr>
          <a:lstStyle/>
          <a:p>
            <a:pPr algn="l" indent="0" marL="0">
              <a:lnSpc>
                <a:spcPct val="98582"/>
              </a:lnSpc>
              <a:buNone/>
            </a:pPr>
            <a:r>
              <a:rPr lang="en-US" sz="4950" b="1" dirty="0">
                <a:solidFill>
                  <a:srgbClr val="1D1F20"/>
                </a:solidFill>
                <a:latin typeface="Barlow Condensed" pitchFamily="34" charset="0"/>
                <a:ea typeface="Barlow Condensed" pitchFamily="34" charset="-122"/>
                <a:cs typeface="Barlow Condensed" pitchFamily="34" charset="-120"/>
              </a:rPr>
              <a:t>A four-sensor system that measures double poling well enough to show </a:t>
            </a:r>
            <a:pPr algn="l" indent="0" marL="0">
              <a:lnSpc>
                <a:spcPct val="98582"/>
              </a:lnSpc>
              <a:buNone/>
            </a:pPr>
            <a:r>
              <a:rPr lang="en-US" sz="4950" b="1" dirty="0">
                <a:solidFill>
                  <a:srgbClr val="416180"/>
                </a:solidFill>
                <a:latin typeface="Barlow Condensed" pitchFamily="34" charset="0"/>
                <a:ea typeface="Barlow Condensed" pitchFamily="34" charset="-122"/>
                <a:cs typeface="Barlow Condensed" pitchFamily="34" charset="-120"/>
              </a:rPr>
              <a:t>three trustworthy signals live</a:t>
            </a:r>
            <a:pPr algn="l" indent="0" marL="0">
              <a:lnSpc>
                <a:spcPct val="98582"/>
              </a:lnSpc>
              <a:buNone/>
            </a:pPr>
            <a:r>
              <a:rPr lang="en-US" sz="4950" b="1" dirty="0">
                <a:solidFill>
                  <a:srgbClr val="1D1F20"/>
                </a:solidFill>
                <a:latin typeface="Barlow Condensed" pitchFamily="34" charset="0"/>
                <a:ea typeface="Barlow Condensed" pitchFamily="34" charset="-122"/>
                <a:cs typeface="Barlow Condensed" pitchFamily="34" charset="-120"/>
              </a:rPr>
              <a:t>, produce an </a:t>
            </a:r>
            <a:pPr algn="l" indent="0" marL="0">
              <a:lnSpc>
                <a:spcPct val="98582"/>
              </a:lnSpc>
              <a:buNone/>
            </a:pPr>
            <a:r>
              <a:rPr lang="en-US" sz="4950" b="1" dirty="0">
                <a:solidFill>
                  <a:srgbClr val="416180"/>
                </a:solidFill>
                <a:latin typeface="Barlow Condensed" pitchFamily="34" charset="0"/>
                <a:ea typeface="Barlow Condensed" pitchFamily="34" charset="-122"/>
                <a:cs typeface="Barlow Condensed" pitchFamily="34" charset="-120"/>
              </a:rPr>
              <a:t>honest report </a:t>
            </a:r>
            <a:pPr algn="l" indent="0" marL="0">
              <a:lnSpc>
                <a:spcPct val="98582"/>
              </a:lnSpc>
              <a:buNone/>
            </a:pPr>
            <a:r>
              <a:rPr lang="en-US" sz="4950" b="1" dirty="0">
                <a:solidFill>
                  <a:srgbClr val="1D1F20"/>
                </a:solidFill>
                <a:latin typeface="Barlow Condensed" pitchFamily="34" charset="0"/>
                <a:ea typeface="Barlow Condensed" pitchFamily="34" charset="-122"/>
                <a:cs typeface="Barlow Condensed" pitchFamily="34" charset="-120"/>
              </a:rPr>
              <a:t>, and deliver </a:t>
            </a:r>
            <a:pPr algn="l" indent="0" marL="0">
              <a:lnSpc>
                <a:spcPct val="98582"/>
              </a:lnSpc>
              <a:buNone/>
            </a:pPr>
            <a:r>
              <a:rPr lang="en-US" sz="4950" b="1" dirty="0">
                <a:solidFill>
                  <a:srgbClr val="416180"/>
                </a:solidFill>
                <a:latin typeface="Barlow Condensed" pitchFamily="34" charset="0"/>
                <a:ea typeface="Barlow Condensed" pitchFamily="34" charset="-122"/>
                <a:cs typeface="Barlow Condensed" pitchFamily="34" charset="-120"/>
              </a:rPr>
              <a:t>one grounded cue </a:t>
            </a:r>
            <a:pPr algn="l" indent="0" marL="0">
              <a:lnSpc>
                <a:spcPct val="98582"/>
              </a:lnSpc>
              <a:buNone/>
            </a:pPr>
            <a:r>
              <a:rPr lang="en-US" sz="4950" b="1" dirty="0">
                <a:solidFill>
                  <a:srgbClr val="1D1F20"/>
                </a:solidFill>
                <a:latin typeface="Barlow Condensed" pitchFamily="34" charset="0"/>
                <a:ea typeface="Barlow Condensed" pitchFamily="34" charset="-122"/>
                <a:cs typeface="Barlow Condensed" pitchFamily="34" charset="-120"/>
              </a:rPr>
              <a:t>per session.</a:t>
            </a:r>
            <a:endParaRPr lang="en-US" sz="4950" dirty="0"/>
          </a:p>
        </p:txBody>
      </p:sp>
      <p:sp>
        <p:nvSpPr>
          <p:cNvPr id="4" name="Shape 2"/>
          <p:cNvSpPr/>
          <p:nvPr/>
        </p:nvSpPr>
        <p:spPr>
          <a:xfrm>
            <a:off x="1143000" y="7285806"/>
            <a:ext cx="3714750" cy="2086794"/>
          </a:xfrm>
          <a:prstGeom prst="rect">
            <a:avLst/>
          </a:prstGeom>
          <a:ln w="9525">
            <a:solidFill>
              <a:srgbClr val="1F1F1F">
                <a:alpha val="16000"/>
              </a:srgbClr>
            </a:solidFill>
            <a:prstDash val="solid"/>
          </a:ln>
        </p:spPr>
      </p:sp>
      <p:sp>
        <p:nvSpPr>
          <p:cNvPr id="5" name="Text 3"/>
          <p:cNvSpPr/>
          <p:nvPr/>
        </p:nvSpPr>
        <p:spPr>
          <a:xfrm>
            <a:off x="1400175" y="7542981"/>
            <a:ext cx="3520440" cy="540023"/>
          </a:xfrm>
          <a:prstGeom prst="rect">
            <a:avLst/>
          </a:prstGeom>
          <a:noFill/>
          <a:ln/>
        </p:spPr>
        <p:txBody>
          <a:bodyPr wrap="square" lIns="25400" tIns="25400" rIns="25400" bIns="25400" rtlCol="0" anchor="t">
            <a:normAutofit/>
          </a:bodyPr>
          <a:lstStyle/>
          <a:p>
            <a:pPr algn="l" indent="0" marL="0">
              <a:lnSpc>
                <a:spcPct val="128537"/>
              </a:lnSpc>
              <a:buNone/>
            </a:pPr>
            <a:r>
              <a:rPr lang="en-US" sz="2550" b="1" dirty="0">
                <a:solidFill>
                  <a:srgbClr val="1D1F20"/>
                </a:solidFill>
                <a:latin typeface="Barlow Condensed" pitchFamily="34" charset="0"/>
                <a:ea typeface="Barlow Condensed" pitchFamily="34" charset="-122"/>
                <a:cs typeface="Barlow Condensed" pitchFamily="34" charset="-120"/>
              </a:rPr>
              <a:t>Four sensors</a:t>
            </a:r>
            <a:endParaRPr lang="en-US" sz="2550" dirty="0"/>
          </a:p>
        </p:txBody>
      </p:sp>
      <p:sp>
        <p:nvSpPr>
          <p:cNvPr id="6" name="Text 4"/>
          <p:cNvSpPr/>
          <p:nvPr/>
        </p:nvSpPr>
        <p:spPr>
          <a:xfrm>
            <a:off x="1400175" y="8121104"/>
            <a:ext cx="3296412" cy="103242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424244"/>
                </a:solidFill>
                <a:latin typeface="Barlow" pitchFamily="34" charset="0"/>
                <a:ea typeface="Barlow" pitchFamily="34" charset="-122"/>
                <a:cs typeface="Barlow" pitchFamily="34" charset="-120"/>
              </a:rPr>
              <a:t>Donning time is the retention constraint. Three minutes to dressed.</a:t>
            </a:r>
            <a:endParaRPr lang="en-US" sz="1800" dirty="0"/>
          </a:p>
        </p:txBody>
      </p:sp>
      <p:sp>
        <p:nvSpPr>
          <p:cNvPr id="7" name="Shape 5"/>
          <p:cNvSpPr/>
          <p:nvPr/>
        </p:nvSpPr>
        <p:spPr>
          <a:xfrm>
            <a:off x="5238750" y="7285806"/>
            <a:ext cx="3714750" cy="2086794"/>
          </a:xfrm>
          <a:prstGeom prst="rect">
            <a:avLst/>
          </a:prstGeom>
          <a:ln w="9525">
            <a:solidFill>
              <a:srgbClr val="1F1F1F">
                <a:alpha val="16000"/>
              </a:srgbClr>
            </a:solidFill>
            <a:prstDash val="solid"/>
          </a:ln>
        </p:spPr>
      </p:sp>
      <p:sp>
        <p:nvSpPr>
          <p:cNvPr id="8" name="Text 6"/>
          <p:cNvSpPr/>
          <p:nvPr/>
        </p:nvSpPr>
        <p:spPr>
          <a:xfrm>
            <a:off x="5495925" y="7542981"/>
            <a:ext cx="3520440" cy="540023"/>
          </a:xfrm>
          <a:prstGeom prst="rect">
            <a:avLst/>
          </a:prstGeom>
          <a:noFill/>
          <a:ln/>
        </p:spPr>
        <p:txBody>
          <a:bodyPr wrap="square" lIns="25400" tIns="25400" rIns="25400" bIns="25400" rtlCol="0" anchor="t">
            <a:normAutofit/>
          </a:bodyPr>
          <a:lstStyle/>
          <a:p>
            <a:pPr algn="l" indent="0" marL="0">
              <a:lnSpc>
                <a:spcPct val="128537"/>
              </a:lnSpc>
              <a:buNone/>
            </a:pPr>
            <a:r>
              <a:rPr lang="en-US" sz="2550" b="1" dirty="0">
                <a:solidFill>
                  <a:srgbClr val="1D1F20"/>
                </a:solidFill>
                <a:latin typeface="Barlow Condensed" pitchFamily="34" charset="0"/>
                <a:ea typeface="Barlow Condensed" pitchFamily="34" charset="-122"/>
                <a:cs typeface="Barlow Condensed" pitchFamily="34" charset="-120"/>
              </a:rPr>
              <a:t>Three signals</a:t>
            </a:r>
            <a:endParaRPr lang="en-US" sz="2550" dirty="0"/>
          </a:p>
        </p:txBody>
      </p:sp>
      <p:sp>
        <p:nvSpPr>
          <p:cNvPr id="9" name="Text 7"/>
          <p:cNvSpPr/>
          <p:nvPr/>
        </p:nvSpPr>
        <p:spPr>
          <a:xfrm>
            <a:off x="5495925" y="8121104"/>
            <a:ext cx="3296412" cy="7009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424244"/>
                </a:solidFill>
                <a:latin typeface="Barlow" pitchFamily="34" charset="0"/>
                <a:ea typeface="Barlow" pitchFamily="34" charset="-122"/>
                <a:cs typeface="Barlow" pitchFamily="34" charset="-120"/>
              </a:rPr>
              <a:t>The attention ceiling at threshold — not a UI preference.</a:t>
            </a:r>
            <a:endParaRPr lang="en-US" sz="1800" dirty="0"/>
          </a:p>
        </p:txBody>
      </p:sp>
      <p:sp>
        <p:nvSpPr>
          <p:cNvPr id="10" name="Shape 8"/>
          <p:cNvSpPr/>
          <p:nvPr/>
        </p:nvSpPr>
        <p:spPr>
          <a:xfrm>
            <a:off x="9334500" y="7285806"/>
            <a:ext cx="3714750" cy="2086794"/>
          </a:xfrm>
          <a:prstGeom prst="rect">
            <a:avLst/>
          </a:prstGeom>
          <a:ln w="9525">
            <a:solidFill>
              <a:srgbClr val="1F1F1F">
                <a:alpha val="16000"/>
              </a:srgbClr>
            </a:solidFill>
            <a:prstDash val="solid"/>
          </a:ln>
        </p:spPr>
      </p:sp>
      <p:sp>
        <p:nvSpPr>
          <p:cNvPr id="11" name="Text 9"/>
          <p:cNvSpPr/>
          <p:nvPr/>
        </p:nvSpPr>
        <p:spPr>
          <a:xfrm>
            <a:off x="9591675" y="7542981"/>
            <a:ext cx="3520440" cy="540023"/>
          </a:xfrm>
          <a:prstGeom prst="rect">
            <a:avLst/>
          </a:prstGeom>
          <a:noFill/>
          <a:ln/>
        </p:spPr>
        <p:txBody>
          <a:bodyPr wrap="square" lIns="25400" tIns="25400" rIns="25400" bIns="25400" rtlCol="0" anchor="t">
            <a:normAutofit/>
          </a:bodyPr>
          <a:lstStyle/>
          <a:p>
            <a:pPr algn="l" indent="0" marL="0">
              <a:lnSpc>
                <a:spcPct val="128537"/>
              </a:lnSpc>
              <a:buNone/>
            </a:pPr>
            <a:r>
              <a:rPr lang="en-US" sz="2550" b="1" dirty="0">
                <a:solidFill>
                  <a:srgbClr val="1D1F20"/>
                </a:solidFill>
                <a:latin typeface="Barlow Condensed" pitchFamily="34" charset="0"/>
                <a:ea typeface="Barlow Condensed" pitchFamily="34" charset="-122"/>
                <a:cs typeface="Barlow Condensed" pitchFamily="34" charset="-120"/>
              </a:rPr>
              <a:t>Honest</a:t>
            </a:r>
            <a:endParaRPr lang="en-US" sz="2550" dirty="0"/>
          </a:p>
        </p:txBody>
      </p:sp>
      <p:sp>
        <p:nvSpPr>
          <p:cNvPr id="12" name="Text 10"/>
          <p:cNvSpPr/>
          <p:nvPr/>
        </p:nvSpPr>
        <p:spPr>
          <a:xfrm>
            <a:off x="9591675" y="8121104"/>
            <a:ext cx="3296412" cy="103242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424244"/>
                </a:solidFill>
                <a:latin typeface="Barlow" pitchFamily="34" charset="0"/>
                <a:ea typeface="Barlow" pitchFamily="34" charset="-122"/>
                <a:cs typeface="Barlow" pitchFamily="34" charset="-120"/>
              </a:rPr>
              <a:t>Every number defensible or visibly absent, with its gate named.</a:t>
            </a:r>
            <a:endParaRPr lang="en-US" sz="1800" dirty="0"/>
          </a:p>
        </p:txBody>
      </p:sp>
      <p:sp>
        <p:nvSpPr>
          <p:cNvPr id="13" name="Shape 11"/>
          <p:cNvSpPr/>
          <p:nvPr/>
        </p:nvSpPr>
        <p:spPr>
          <a:xfrm>
            <a:off x="13430250" y="7285806"/>
            <a:ext cx="3714750" cy="2086794"/>
          </a:xfrm>
          <a:prstGeom prst="rect">
            <a:avLst/>
          </a:prstGeom>
          <a:ln w="9525">
            <a:solidFill>
              <a:srgbClr val="1F1F1F">
                <a:alpha val="16000"/>
              </a:srgbClr>
            </a:solidFill>
            <a:prstDash val="solid"/>
          </a:ln>
        </p:spPr>
      </p:sp>
      <p:sp>
        <p:nvSpPr>
          <p:cNvPr id="14" name="Text 12"/>
          <p:cNvSpPr/>
          <p:nvPr/>
        </p:nvSpPr>
        <p:spPr>
          <a:xfrm>
            <a:off x="13687425" y="7542981"/>
            <a:ext cx="3520440" cy="540023"/>
          </a:xfrm>
          <a:prstGeom prst="rect">
            <a:avLst/>
          </a:prstGeom>
          <a:noFill/>
          <a:ln/>
        </p:spPr>
        <p:txBody>
          <a:bodyPr wrap="square" lIns="25400" tIns="25400" rIns="25400" bIns="25400" rtlCol="0" anchor="t">
            <a:normAutofit/>
          </a:bodyPr>
          <a:lstStyle/>
          <a:p>
            <a:pPr algn="l" indent="0" marL="0">
              <a:lnSpc>
                <a:spcPct val="128537"/>
              </a:lnSpc>
              <a:buNone/>
            </a:pPr>
            <a:r>
              <a:rPr lang="en-US" sz="2550" b="1" dirty="0">
                <a:solidFill>
                  <a:srgbClr val="1D1F20"/>
                </a:solidFill>
                <a:latin typeface="Barlow Condensed" pitchFamily="34" charset="0"/>
                <a:ea typeface="Barlow Condensed" pitchFamily="34" charset="-122"/>
                <a:cs typeface="Barlow Condensed" pitchFamily="34" charset="-120"/>
              </a:rPr>
              <a:t>One cue</a:t>
            </a:r>
            <a:endParaRPr lang="en-US" sz="2550" dirty="0"/>
          </a:p>
        </p:txBody>
      </p:sp>
      <p:sp>
        <p:nvSpPr>
          <p:cNvPr id="15" name="Text 13"/>
          <p:cNvSpPr/>
          <p:nvPr/>
        </p:nvSpPr>
        <p:spPr>
          <a:xfrm>
            <a:off x="13687425" y="8121104"/>
            <a:ext cx="3296412" cy="7009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424244"/>
                </a:solidFill>
                <a:latin typeface="Barlow" pitchFamily="34" charset="0"/>
                <a:ea typeface="Barlow" pitchFamily="34" charset="-122"/>
                <a:cs typeface="Barlow" pitchFamily="34" charset="-120"/>
              </a:rPr>
              <a:t>An athlete given five cues adopts zero.</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143000" y="914400"/>
            <a:ext cx="17602200" cy="392385"/>
          </a:xfrm>
          <a:prstGeom prst="rect">
            <a:avLst/>
          </a:prstGeom>
          <a:noFill/>
          <a:ln/>
        </p:spPr>
        <p:txBody>
          <a:bodyPr wrap="square" lIns="25400" tIns="25400" rIns="25400" bIns="25400" rtlCol="0" anchor="t">
            <a:normAutofit/>
          </a:bodyPr>
          <a:lstStyle/>
          <a:p>
            <a:pPr algn="l" indent="0" marL="0">
              <a:lnSpc>
                <a:spcPct val="128276"/>
              </a:lnSpc>
              <a:buNone/>
            </a:pPr>
            <a:r>
              <a:rPr lang="en-US" sz="1800" b="1" spc="252" kern="0" dirty="0">
                <a:solidFill>
                  <a:srgbClr val="416180"/>
                </a:solidFill>
                <a:latin typeface="Barlow Condensed" pitchFamily="34" charset="0"/>
                <a:ea typeface="Barlow Condensed" pitchFamily="34" charset="-122"/>
                <a:cs typeface="Barlow Condensed" pitchFamily="34" charset="-120"/>
              </a:rPr>
              <a:t>02 · SCREEN FLOW</a:t>
            </a:r>
            <a:endParaRPr lang="en-US" sz="1800" dirty="0"/>
          </a:p>
        </p:txBody>
      </p:sp>
      <p:sp>
        <p:nvSpPr>
          <p:cNvPr id="3" name="Text 1"/>
          <p:cNvSpPr/>
          <p:nvPr/>
        </p:nvSpPr>
        <p:spPr>
          <a:xfrm>
            <a:off x="1143000" y="1421085"/>
            <a:ext cx="17602200" cy="982935"/>
          </a:xfrm>
          <a:prstGeom prst="rect">
            <a:avLst/>
          </a:prstGeom>
          <a:noFill/>
          <a:ln/>
        </p:spPr>
        <p:txBody>
          <a:bodyPr wrap="square" lIns="25400" tIns="25400" rIns="25400" bIns="25400" rtlCol="0" anchor="t">
            <a:normAutofit/>
          </a:bodyPr>
          <a:lstStyle/>
          <a:p>
            <a:pPr algn="l" indent="0" marL="0">
              <a:lnSpc>
                <a:spcPct val="128831"/>
              </a:lnSpc>
              <a:buNone/>
            </a:pPr>
            <a:r>
              <a:rPr lang="en-US" sz="4800" b="1" dirty="0">
                <a:solidFill>
                  <a:srgbClr val="1D1F20"/>
                </a:solidFill>
                <a:latin typeface="Barlow Condensed" pitchFamily="34" charset="0"/>
                <a:ea typeface="Barlow Condensed" pitchFamily="34" charset="-122"/>
                <a:cs typeface="Barlow Condensed" pitchFamily="34" charset="-120"/>
              </a:rPr>
              <a:t>Six screens from cold start to cue</a:t>
            </a:r>
            <a:endParaRPr lang="en-US" sz="4800" dirty="0"/>
          </a:p>
        </p:txBody>
      </p:sp>
      <p:sp>
        <p:nvSpPr>
          <p:cNvPr id="4" name="Shape 2"/>
          <p:cNvSpPr/>
          <p:nvPr/>
        </p:nvSpPr>
        <p:spPr>
          <a:xfrm>
            <a:off x="1143000" y="2899321"/>
            <a:ext cx="2197150" cy="2096319"/>
          </a:xfrm>
          <a:prstGeom prst="rect">
            <a:avLst/>
          </a:prstGeom>
          <a:ln w="9525">
            <a:solidFill>
              <a:srgbClr val="1F1F1F">
                <a:alpha val="16000"/>
              </a:srgbClr>
            </a:solidFill>
            <a:prstDash val="solid"/>
          </a:ln>
        </p:spPr>
      </p:sp>
      <p:sp>
        <p:nvSpPr>
          <p:cNvPr id="5" name="Text 3"/>
          <p:cNvSpPr/>
          <p:nvPr/>
        </p:nvSpPr>
        <p:spPr>
          <a:xfrm>
            <a:off x="1362075" y="3137446"/>
            <a:ext cx="1934900" cy="333375"/>
          </a:xfrm>
          <a:prstGeom prst="rect">
            <a:avLst/>
          </a:prstGeom>
          <a:noFill/>
          <a:ln/>
        </p:spPr>
        <p:txBody>
          <a:bodyPr wrap="square" lIns="25400" tIns="25400" rIns="25400" bIns="25400" rtlCol="0" anchor="t">
            <a:normAutofit/>
          </a:bodyPr>
          <a:lstStyle/>
          <a:p>
            <a:pPr algn="l" indent="0" marL="0">
              <a:lnSpc>
                <a:spcPct val="137778"/>
              </a:lnSpc>
              <a:buNone/>
            </a:pPr>
            <a:r>
              <a:rPr lang="en-US" sz="1500" dirty="0">
                <a:solidFill>
                  <a:srgbClr val="416180"/>
                </a:solidFill>
                <a:latin typeface="Courier New" pitchFamily="34" charset="0"/>
                <a:ea typeface="Courier New" pitchFamily="34" charset="-122"/>
                <a:cs typeface="Courier New" pitchFamily="34" charset="-120"/>
              </a:rPr>
              <a:t>A1</a:t>
            </a:r>
            <a:endParaRPr lang="en-US" sz="1500" dirty="0"/>
          </a:p>
        </p:txBody>
      </p:sp>
      <p:sp>
        <p:nvSpPr>
          <p:cNvPr id="6" name="Text 4"/>
          <p:cNvSpPr/>
          <p:nvPr/>
        </p:nvSpPr>
        <p:spPr>
          <a:xfrm>
            <a:off x="1362075" y="3489871"/>
            <a:ext cx="1934900" cy="599108"/>
          </a:xfrm>
          <a:prstGeom prst="rect">
            <a:avLst/>
          </a:prstGeom>
          <a:noFill/>
          <a:ln/>
        </p:spPr>
        <p:txBody>
          <a:bodyPr wrap="square" lIns="25400" tIns="25400" rIns="25400" bIns="25400" rtlCol="0" anchor="t">
            <a:normAutofit/>
          </a:bodyPr>
          <a:lstStyle/>
          <a:p>
            <a:pPr algn="l" indent="0" marL="0">
              <a:lnSpc>
                <a:spcPct val="129451"/>
              </a:lnSpc>
              <a:buNone/>
            </a:pPr>
            <a:r>
              <a:rPr lang="en-US" sz="2850" b="1" dirty="0">
                <a:solidFill>
                  <a:srgbClr val="1D1F20"/>
                </a:solidFill>
                <a:latin typeface="Barlow Condensed" pitchFamily="34" charset="0"/>
                <a:ea typeface="Barlow Condensed" pitchFamily="34" charset="-122"/>
                <a:cs typeface="Barlow Condensed" pitchFamily="34" charset="-120"/>
              </a:rPr>
              <a:t>Home</a:t>
            </a:r>
            <a:endParaRPr lang="en-US" sz="2850" dirty="0"/>
          </a:p>
        </p:txBody>
      </p:sp>
      <p:sp>
        <p:nvSpPr>
          <p:cNvPr id="7" name="Text 5"/>
          <p:cNvSpPr/>
          <p:nvPr/>
        </p:nvSpPr>
        <p:spPr>
          <a:xfrm>
            <a:off x="1362075" y="4108028"/>
            <a:ext cx="1835200" cy="687586"/>
          </a:xfrm>
          <a:prstGeom prst="rect">
            <a:avLst/>
          </a:prstGeom>
          <a:noFill/>
          <a:ln/>
        </p:spPr>
        <p:txBody>
          <a:bodyPr wrap="square" lIns="25400" tIns="25400" rIns="25400" bIns="25400" rtlCol="0" anchor="t">
            <a:normAutofit/>
          </a:bodyPr>
          <a:lstStyle/>
          <a:p>
            <a:pPr algn="l" indent="0" marL="0">
              <a:lnSpc>
                <a:spcPct val="128679"/>
              </a:lnSpc>
              <a:buNone/>
            </a:pPr>
            <a:r>
              <a:rPr lang="en-US" sz="1650" dirty="0">
                <a:solidFill>
                  <a:srgbClr val="5D5D60"/>
                </a:solidFill>
                <a:latin typeface="Barlow" pitchFamily="34" charset="0"/>
                <a:ea typeface="Barlow" pitchFamily="34" charset="-122"/>
                <a:cs typeface="Barlow" pitchFamily="34" charset="-120"/>
              </a:rPr>
              <a:t>Last session · battery</a:t>
            </a:r>
            <a:endParaRPr lang="en-US" sz="1650" dirty="0"/>
          </a:p>
        </p:txBody>
      </p:sp>
      <p:sp>
        <p:nvSpPr>
          <p:cNvPr id="8" name="Text 6"/>
          <p:cNvSpPr/>
          <p:nvPr/>
        </p:nvSpPr>
        <p:spPr>
          <a:xfrm>
            <a:off x="3473500" y="2899321"/>
            <a:ext cx="373261" cy="2134419"/>
          </a:xfrm>
          <a:prstGeom prst="rect">
            <a:avLst/>
          </a:prstGeom>
          <a:noFill/>
          <a:ln/>
        </p:spPr>
        <p:txBody>
          <a:bodyPr wrap="square" lIns="25400" tIns="25400" rIns="25400" bIns="25400" rtlCol="0" anchor="ctr">
            <a:normAutofit/>
          </a:bodyPr>
          <a:lstStyle/>
          <a:p>
            <a:pPr algn="l" indent="0" marL="0">
              <a:lnSpc>
                <a:spcPct val="128537"/>
              </a:lnSpc>
              <a:buNone/>
            </a:pPr>
            <a:r>
              <a:rPr lang="en-US" sz="2550" dirty="0">
                <a:solidFill>
                  <a:srgbClr val="5D5D60"/>
                </a:solidFill>
                <a:latin typeface="Barlow" pitchFamily="34" charset="0"/>
                <a:ea typeface="Barlow" pitchFamily="34" charset="-122"/>
                <a:cs typeface="Barlow" pitchFamily="34" charset="-120"/>
              </a:rPr>
              <a:t>→</a:t>
            </a:r>
            <a:endParaRPr lang="en-US" sz="2550" dirty="0"/>
          </a:p>
        </p:txBody>
      </p:sp>
      <p:sp>
        <p:nvSpPr>
          <p:cNvPr id="9" name="Shape 7"/>
          <p:cNvSpPr/>
          <p:nvPr/>
        </p:nvSpPr>
        <p:spPr>
          <a:xfrm>
            <a:off x="3903911" y="2899321"/>
            <a:ext cx="2197224" cy="2096319"/>
          </a:xfrm>
          <a:prstGeom prst="rect">
            <a:avLst/>
          </a:prstGeom>
          <a:ln w="9525">
            <a:solidFill>
              <a:srgbClr val="1F1F1F">
                <a:alpha val="16000"/>
              </a:srgbClr>
            </a:solidFill>
            <a:prstDash val="solid"/>
          </a:ln>
        </p:spPr>
      </p:sp>
      <p:sp>
        <p:nvSpPr>
          <p:cNvPr id="10" name="Text 8"/>
          <p:cNvSpPr/>
          <p:nvPr/>
        </p:nvSpPr>
        <p:spPr>
          <a:xfrm>
            <a:off x="4122986" y="3137446"/>
            <a:ext cx="1934981" cy="333375"/>
          </a:xfrm>
          <a:prstGeom prst="rect">
            <a:avLst/>
          </a:prstGeom>
          <a:noFill/>
          <a:ln/>
        </p:spPr>
        <p:txBody>
          <a:bodyPr wrap="square" lIns="25400" tIns="25400" rIns="25400" bIns="25400" rtlCol="0" anchor="t">
            <a:normAutofit/>
          </a:bodyPr>
          <a:lstStyle/>
          <a:p>
            <a:pPr algn="l" indent="0" marL="0">
              <a:lnSpc>
                <a:spcPct val="137778"/>
              </a:lnSpc>
              <a:buNone/>
            </a:pPr>
            <a:r>
              <a:rPr lang="en-US" sz="1500" dirty="0">
                <a:solidFill>
                  <a:srgbClr val="416180"/>
                </a:solidFill>
                <a:latin typeface="Courier New" pitchFamily="34" charset="0"/>
                <a:ea typeface="Courier New" pitchFamily="34" charset="-122"/>
                <a:cs typeface="Courier New" pitchFamily="34" charset="-120"/>
              </a:rPr>
              <a:t>A2</a:t>
            </a:r>
            <a:endParaRPr lang="en-US" sz="1500" dirty="0"/>
          </a:p>
        </p:txBody>
      </p:sp>
      <p:sp>
        <p:nvSpPr>
          <p:cNvPr id="11" name="Text 9"/>
          <p:cNvSpPr/>
          <p:nvPr/>
        </p:nvSpPr>
        <p:spPr>
          <a:xfrm>
            <a:off x="4122986" y="3489871"/>
            <a:ext cx="1934981" cy="599108"/>
          </a:xfrm>
          <a:prstGeom prst="rect">
            <a:avLst/>
          </a:prstGeom>
          <a:noFill/>
          <a:ln/>
        </p:spPr>
        <p:txBody>
          <a:bodyPr wrap="square" lIns="25400" tIns="25400" rIns="25400" bIns="25400" rtlCol="0" anchor="t">
            <a:normAutofit/>
          </a:bodyPr>
          <a:lstStyle/>
          <a:p>
            <a:pPr algn="l" indent="0" marL="0">
              <a:lnSpc>
                <a:spcPct val="129451"/>
              </a:lnSpc>
              <a:buNone/>
            </a:pPr>
            <a:r>
              <a:rPr lang="en-US" sz="2850" b="1" dirty="0">
                <a:solidFill>
                  <a:srgbClr val="1D1F20"/>
                </a:solidFill>
                <a:latin typeface="Barlow Condensed" pitchFamily="34" charset="0"/>
                <a:ea typeface="Barlow Condensed" pitchFamily="34" charset="-122"/>
                <a:cs typeface="Barlow Condensed" pitchFamily="34" charset="-120"/>
              </a:rPr>
              <a:t>Setup</a:t>
            </a:r>
            <a:endParaRPr lang="en-US" sz="2850" dirty="0"/>
          </a:p>
        </p:txBody>
      </p:sp>
      <p:sp>
        <p:nvSpPr>
          <p:cNvPr id="12" name="Text 10"/>
          <p:cNvSpPr/>
          <p:nvPr/>
        </p:nvSpPr>
        <p:spPr>
          <a:xfrm>
            <a:off x="4122986" y="4108028"/>
            <a:ext cx="1835274" cy="687586"/>
          </a:xfrm>
          <a:prstGeom prst="rect">
            <a:avLst/>
          </a:prstGeom>
          <a:noFill/>
          <a:ln/>
        </p:spPr>
        <p:txBody>
          <a:bodyPr wrap="square" lIns="25400" tIns="25400" rIns="25400" bIns="25400" rtlCol="0" anchor="t">
            <a:normAutofit/>
          </a:bodyPr>
          <a:lstStyle/>
          <a:p>
            <a:pPr algn="l" indent="0" marL="0">
              <a:lnSpc>
                <a:spcPct val="128679"/>
              </a:lnSpc>
              <a:buNone/>
            </a:pPr>
            <a:r>
              <a:rPr lang="en-US" sz="1650" dirty="0">
                <a:solidFill>
                  <a:srgbClr val="5D5D60"/>
                </a:solidFill>
                <a:latin typeface="Barlow" pitchFamily="34" charset="0"/>
                <a:ea typeface="Barlow" pitchFamily="34" charset="-122"/>
                <a:cs typeface="Barlow" pitchFamily="34" charset="-120"/>
              </a:rPr>
              <a:t>Sites · L/R swap · sync tap</a:t>
            </a:r>
            <a:endParaRPr lang="en-US" sz="1650" dirty="0"/>
          </a:p>
        </p:txBody>
      </p:sp>
      <p:sp>
        <p:nvSpPr>
          <p:cNvPr id="13" name="Text 11"/>
          <p:cNvSpPr/>
          <p:nvPr/>
        </p:nvSpPr>
        <p:spPr>
          <a:xfrm>
            <a:off x="6234485" y="2899321"/>
            <a:ext cx="373261" cy="2134419"/>
          </a:xfrm>
          <a:prstGeom prst="rect">
            <a:avLst/>
          </a:prstGeom>
          <a:noFill/>
          <a:ln/>
        </p:spPr>
        <p:txBody>
          <a:bodyPr wrap="square" lIns="25400" tIns="25400" rIns="25400" bIns="25400" rtlCol="0" anchor="ctr">
            <a:normAutofit/>
          </a:bodyPr>
          <a:lstStyle/>
          <a:p>
            <a:pPr algn="l" indent="0" marL="0">
              <a:lnSpc>
                <a:spcPct val="128537"/>
              </a:lnSpc>
              <a:buNone/>
            </a:pPr>
            <a:r>
              <a:rPr lang="en-US" sz="2550" dirty="0">
                <a:solidFill>
                  <a:srgbClr val="5D5D60"/>
                </a:solidFill>
                <a:latin typeface="Barlow" pitchFamily="34" charset="0"/>
                <a:ea typeface="Barlow" pitchFamily="34" charset="-122"/>
                <a:cs typeface="Barlow" pitchFamily="34" charset="-120"/>
              </a:rPr>
              <a:t>→</a:t>
            </a:r>
            <a:endParaRPr lang="en-US" sz="2550" dirty="0"/>
          </a:p>
        </p:txBody>
      </p:sp>
      <p:sp>
        <p:nvSpPr>
          <p:cNvPr id="14" name="Shape 12"/>
          <p:cNvSpPr/>
          <p:nvPr/>
        </p:nvSpPr>
        <p:spPr>
          <a:xfrm>
            <a:off x="6664896" y="2899321"/>
            <a:ext cx="2197150" cy="2096319"/>
          </a:xfrm>
          <a:prstGeom prst="rect">
            <a:avLst/>
          </a:prstGeom>
          <a:ln w="9525">
            <a:solidFill>
              <a:srgbClr val="1F1F1F">
                <a:alpha val="16000"/>
              </a:srgbClr>
            </a:solidFill>
            <a:prstDash val="solid"/>
          </a:ln>
        </p:spPr>
      </p:sp>
      <p:sp>
        <p:nvSpPr>
          <p:cNvPr id="15" name="Text 13"/>
          <p:cNvSpPr/>
          <p:nvPr/>
        </p:nvSpPr>
        <p:spPr>
          <a:xfrm>
            <a:off x="6883971" y="3137446"/>
            <a:ext cx="1934900" cy="333375"/>
          </a:xfrm>
          <a:prstGeom prst="rect">
            <a:avLst/>
          </a:prstGeom>
          <a:noFill/>
          <a:ln/>
        </p:spPr>
        <p:txBody>
          <a:bodyPr wrap="square" lIns="25400" tIns="25400" rIns="25400" bIns="25400" rtlCol="0" anchor="t">
            <a:normAutofit/>
          </a:bodyPr>
          <a:lstStyle/>
          <a:p>
            <a:pPr algn="l" indent="0" marL="0">
              <a:lnSpc>
                <a:spcPct val="137778"/>
              </a:lnSpc>
              <a:buNone/>
            </a:pPr>
            <a:r>
              <a:rPr lang="en-US" sz="1500" dirty="0">
                <a:solidFill>
                  <a:srgbClr val="416180"/>
                </a:solidFill>
                <a:latin typeface="Courier New" pitchFamily="34" charset="0"/>
                <a:ea typeface="Courier New" pitchFamily="34" charset="-122"/>
                <a:cs typeface="Courier New" pitchFamily="34" charset="-120"/>
              </a:rPr>
              <a:t>A3</a:t>
            </a:r>
            <a:endParaRPr lang="en-US" sz="1500" dirty="0"/>
          </a:p>
        </p:txBody>
      </p:sp>
      <p:sp>
        <p:nvSpPr>
          <p:cNvPr id="16" name="Text 14"/>
          <p:cNvSpPr/>
          <p:nvPr/>
        </p:nvSpPr>
        <p:spPr>
          <a:xfrm>
            <a:off x="6883971" y="3489871"/>
            <a:ext cx="1934900" cy="599108"/>
          </a:xfrm>
          <a:prstGeom prst="rect">
            <a:avLst/>
          </a:prstGeom>
          <a:noFill/>
          <a:ln/>
        </p:spPr>
        <p:txBody>
          <a:bodyPr wrap="square" lIns="25400" tIns="25400" rIns="25400" bIns="25400" rtlCol="0" anchor="t">
            <a:normAutofit/>
          </a:bodyPr>
          <a:lstStyle/>
          <a:p>
            <a:pPr algn="l" indent="0" marL="0">
              <a:lnSpc>
                <a:spcPct val="129451"/>
              </a:lnSpc>
              <a:buNone/>
            </a:pPr>
            <a:r>
              <a:rPr lang="en-US" sz="2850" b="1" dirty="0">
                <a:solidFill>
                  <a:srgbClr val="1D1F20"/>
                </a:solidFill>
                <a:latin typeface="Barlow Condensed" pitchFamily="34" charset="0"/>
                <a:ea typeface="Barlow Condensed" pitchFamily="34" charset="-122"/>
                <a:cs typeface="Barlow Condensed" pitchFamily="34" charset="-120"/>
              </a:rPr>
              <a:t>Calibration</a:t>
            </a:r>
            <a:endParaRPr lang="en-US" sz="2850" dirty="0"/>
          </a:p>
        </p:txBody>
      </p:sp>
      <p:sp>
        <p:nvSpPr>
          <p:cNvPr id="17" name="Text 15"/>
          <p:cNvSpPr/>
          <p:nvPr/>
        </p:nvSpPr>
        <p:spPr>
          <a:xfrm>
            <a:off x="6883971" y="4108028"/>
            <a:ext cx="1934900" cy="362843"/>
          </a:xfrm>
          <a:prstGeom prst="rect">
            <a:avLst/>
          </a:prstGeom>
          <a:noFill/>
          <a:ln/>
        </p:spPr>
        <p:txBody>
          <a:bodyPr wrap="square" lIns="25400" tIns="25400" rIns="25400" bIns="25400" rtlCol="0" anchor="t">
            <a:normAutofit/>
          </a:bodyPr>
          <a:lstStyle/>
          <a:p>
            <a:pPr algn="l" indent="0" marL="0">
              <a:lnSpc>
                <a:spcPct val="128679"/>
              </a:lnSpc>
              <a:buNone/>
            </a:pPr>
            <a:r>
              <a:rPr lang="en-US" sz="1650" dirty="0">
                <a:solidFill>
                  <a:srgbClr val="5D5D60"/>
                </a:solidFill>
                <a:latin typeface="Barlow" pitchFamily="34" charset="0"/>
                <a:ea typeface="Barlow" pitchFamily="34" charset="-122"/>
                <a:cs typeface="Barlow" pitchFamily="34" charset="-120"/>
              </a:rPr>
              <a:t>5 steps · 60–90 s</a:t>
            </a:r>
            <a:endParaRPr lang="en-US" sz="1650" dirty="0"/>
          </a:p>
        </p:txBody>
      </p:sp>
      <p:sp>
        <p:nvSpPr>
          <p:cNvPr id="18" name="Text 16"/>
          <p:cNvSpPr/>
          <p:nvPr/>
        </p:nvSpPr>
        <p:spPr>
          <a:xfrm>
            <a:off x="8995395" y="2899321"/>
            <a:ext cx="373261" cy="2134419"/>
          </a:xfrm>
          <a:prstGeom prst="rect">
            <a:avLst/>
          </a:prstGeom>
          <a:noFill/>
          <a:ln/>
        </p:spPr>
        <p:txBody>
          <a:bodyPr wrap="square" lIns="25400" tIns="25400" rIns="25400" bIns="25400" rtlCol="0" anchor="ctr">
            <a:normAutofit/>
          </a:bodyPr>
          <a:lstStyle/>
          <a:p>
            <a:pPr algn="l" indent="0" marL="0">
              <a:lnSpc>
                <a:spcPct val="128537"/>
              </a:lnSpc>
              <a:buNone/>
            </a:pPr>
            <a:r>
              <a:rPr lang="en-US" sz="2550" dirty="0">
                <a:solidFill>
                  <a:srgbClr val="5D5D60"/>
                </a:solidFill>
                <a:latin typeface="Barlow" pitchFamily="34" charset="0"/>
                <a:ea typeface="Barlow" pitchFamily="34" charset="-122"/>
                <a:cs typeface="Barlow" pitchFamily="34" charset="-120"/>
              </a:rPr>
              <a:t>→</a:t>
            </a:r>
            <a:endParaRPr lang="en-US" sz="2550" dirty="0"/>
          </a:p>
        </p:txBody>
      </p:sp>
      <p:sp>
        <p:nvSpPr>
          <p:cNvPr id="19" name="Shape 17"/>
          <p:cNvSpPr/>
          <p:nvPr/>
        </p:nvSpPr>
        <p:spPr>
          <a:xfrm>
            <a:off x="9425806" y="2899321"/>
            <a:ext cx="2197224" cy="2096319"/>
          </a:xfrm>
          <a:prstGeom prst="rect">
            <a:avLst/>
          </a:prstGeom>
          <a:solidFill>
            <a:srgbClr val="1D2D3D"/>
          </a:solidFill>
          <a:ln w="9525">
            <a:solidFill>
              <a:srgbClr val="1D2D3D"/>
            </a:solidFill>
            <a:prstDash val="solid"/>
          </a:ln>
        </p:spPr>
      </p:sp>
      <p:sp>
        <p:nvSpPr>
          <p:cNvPr id="20" name="Text 18"/>
          <p:cNvSpPr/>
          <p:nvPr/>
        </p:nvSpPr>
        <p:spPr>
          <a:xfrm>
            <a:off x="9644881" y="3137446"/>
            <a:ext cx="1934981" cy="333375"/>
          </a:xfrm>
          <a:prstGeom prst="rect">
            <a:avLst/>
          </a:prstGeom>
          <a:noFill/>
          <a:ln/>
        </p:spPr>
        <p:txBody>
          <a:bodyPr wrap="square" lIns="25400" tIns="25400" rIns="25400" bIns="25400" rtlCol="0" anchor="t">
            <a:normAutofit/>
          </a:bodyPr>
          <a:lstStyle/>
          <a:p>
            <a:pPr algn="l" indent="0" marL="0">
              <a:lnSpc>
                <a:spcPct val="137778"/>
              </a:lnSpc>
              <a:buNone/>
            </a:pPr>
            <a:r>
              <a:rPr lang="en-US" sz="1500" dirty="0">
                <a:solidFill>
                  <a:srgbClr val="94BCE3"/>
                </a:solidFill>
                <a:latin typeface="Courier New" pitchFamily="34" charset="0"/>
                <a:ea typeface="Courier New" pitchFamily="34" charset="-122"/>
                <a:cs typeface="Courier New" pitchFamily="34" charset="-120"/>
              </a:rPr>
              <a:t>A4</a:t>
            </a:r>
            <a:endParaRPr lang="en-US" sz="1500" dirty="0"/>
          </a:p>
        </p:txBody>
      </p:sp>
      <p:sp>
        <p:nvSpPr>
          <p:cNvPr id="21" name="Text 19"/>
          <p:cNvSpPr/>
          <p:nvPr/>
        </p:nvSpPr>
        <p:spPr>
          <a:xfrm>
            <a:off x="9644881" y="3489871"/>
            <a:ext cx="1934981" cy="599108"/>
          </a:xfrm>
          <a:prstGeom prst="rect">
            <a:avLst/>
          </a:prstGeom>
          <a:noFill/>
          <a:ln/>
        </p:spPr>
        <p:txBody>
          <a:bodyPr wrap="square" lIns="25400" tIns="25400" rIns="25400" bIns="25400" rtlCol="0" anchor="t">
            <a:normAutofit/>
          </a:bodyPr>
          <a:lstStyle/>
          <a:p>
            <a:pPr algn="l" indent="0" marL="0">
              <a:lnSpc>
                <a:spcPct val="129451"/>
              </a:lnSpc>
              <a:buNone/>
            </a:pPr>
            <a:r>
              <a:rPr lang="en-US" sz="2850" b="1" dirty="0">
                <a:solidFill>
                  <a:srgbClr val="F2F2F3"/>
                </a:solidFill>
                <a:latin typeface="Barlow Condensed" pitchFamily="34" charset="0"/>
                <a:ea typeface="Barlow Condensed" pitchFamily="34" charset="-122"/>
                <a:cs typeface="Barlow Condensed" pitchFamily="34" charset="-120"/>
              </a:rPr>
              <a:t>Live</a:t>
            </a:r>
            <a:endParaRPr lang="en-US" sz="2850" dirty="0"/>
          </a:p>
        </p:txBody>
      </p:sp>
      <p:sp>
        <p:nvSpPr>
          <p:cNvPr id="22" name="Text 20"/>
          <p:cNvSpPr/>
          <p:nvPr/>
        </p:nvSpPr>
        <p:spPr>
          <a:xfrm>
            <a:off x="9644881" y="4108028"/>
            <a:ext cx="1934981" cy="362843"/>
          </a:xfrm>
          <a:prstGeom prst="rect">
            <a:avLst/>
          </a:prstGeom>
          <a:noFill/>
          <a:ln/>
        </p:spPr>
        <p:txBody>
          <a:bodyPr wrap="square" lIns="25400" tIns="25400" rIns="25400" bIns="25400" rtlCol="0" anchor="t">
            <a:normAutofit/>
          </a:bodyPr>
          <a:lstStyle/>
          <a:p>
            <a:pPr algn="l" indent="0" marL="0">
              <a:lnSpc>
                <a:spcPct val="128679"/>
              </a:lnSpc>
              <a:buNone/>
            </a:pPr>
            <a:r>
              <a:rPr lang="en-US" sz="1650" dirty="0">
                <a:solidFill>
                  <a:srgbClr val="B7B7BA"/>
                </a:solidFill>
                <a:latin typeface="Barlow" pitchFamily="34" charset="0"/>
                <a:ea typeface="Barlow" pitchFamily="34" charset="-122"/>
                <a:cs typeface="Barlow" pitchFamily="34" charset="-120"/>
              </a:rPr>
              <a:t>Three signals</a:t>
            </a:r>
            <a:endParaRPr lang="en-US" sz="1650" dirty="0"/>
          </a:p>
        </p:txBody>
      </p:sp>
      <p:sp>
        <p:nvSpPr>
          <p:cNvPr id="23" name="Text 21"/>
          <p:cNvSpPr/>
          <p:nvPr/>
        </p:nvSpPr>
        <p:spPr>
          <a:xfrm>
            <a:off x="11756380" y="2899321"/>
            <a:ext cx="373261" cy="2134419"/>
          </a:xfrm>
          <a:prstGeom prst="rect">
            <a:avLst/>
          </a:prstGeom>
          <a:noFill/>
          <a:ln/>
        </p:spPr>
        <p:txBody>
          <a:bodyPr wrap="square" lIns="25400" tIns="25400" rIns="25400" bIns="25400" rtlCol="0" anchor="ctr">
            <a:normAutofit/>
          </a:bodyPr>
          <a:lstStyle/>
          <a:p>
            <a:pPr algn="l" indent="0" marL="0">
              <a:lnSpc>
                <a:spcPct val="128537"/>
              </a:lnSpc>
              <a:buNone/>
            </a:pPr>
            <a:r>
              <a:rPr lang="en-US" sz="2550" dirty="0">
                <a:solidFill>
                  <a:srgbClr val="5D5D60"/>
                </a:solidFill>
                <a:latin typeface="Barlow" pitchFamily="34" charset="0"/>
                <a:ea typeface="Barlow" pitchFamily="34" charset="-122"/>
                <a:cs typeface="Barlow" pitchFamily="34" charset="-120"/>
              </a:rPr>
              <a:t>→</a:t>
            </a:r>
            <a:endParaRPr lang="en-US" sz="2550" dirty="0"/>
          </a:p>
        </p:txBody>
      </p:sp>
      <p:sp>
        <p:nvSpPr>
          <p:cNvPr id="24" name="Shape 22"/>
          <p:cNvSpPr/>
          <p:nvPr/>
        </p:nvSpPr>
        <p:spPr>
          <a:xfrm>
            <a:off x="12186791" y="2899321"/>
            <a:ext cx="2197224" cy="2096319"/>
          </a:xfrm>
          <a:prstGeom prst="rect">
            <a:avLst/>
          </a:prstGeom>
          <a:ln w="9525">
            <a:solidFill>
              <a:srgbClr val="1F1F1F">
                <a:alpha val="16000"/>
              </a:srgbClr>
            </a:solidFill>
            <a:prstDash val="solid"/>
          </a:ln>
        </p:spPr>
      </p:sp>
      <p:sp>
        <p:nvSpPr>
          <p:cNvPr id="25" name="Text 23"/>
          <p:cNvSpPr/>
          <p:nvPr/>
        </p:nvSpPr>
        <p:spPr>
          <a:xfrm>
            <a:off x="12405866" y="3137446"/>
            <a:ext cx="1934981" cy="333375"/>
          </a:xfrm>
          <a:prstGeom prst="rect">
            <a:avLst/>
          </a:prstGeom>
          <a:noFill/>
          <a:ln/>
        </p:spPr>
        <p:txBody>
          <a:bodyPr wrap="square" lIns="25400" tIns="25400" rIns="25400" bIns="25400" rtlCol="0" anchor="t">
            <a:normAutofit/>
          </a:bodyPr>
          <a:lstStyle/>
          <a:p>
            <a:pPr algn="l" indent="0" marL="0">
              <a:lnSpc>
                <a:spcPct val="137778"/>
              </a:lnSpc>
              <a:buNone/>
            </a:pPr>
            <a:r>
              <a:rPr lang="en-US" sz="1500" dirty="0">
                <a:solidFill>
                  <a:srgbClr val="416180"/>
                </a:solidFill>
                <a:latin typeface="Courier New" pitchFamily="34" charset="0"/>
                <a:ea typeface="Courier New" pitchFamily="34" charset="-122"/>
                <a:cs typeface="Courier New" pitchFamily="34" charset="-120"/>
              </a:rPr>
              <a:t>A7</a:t>
            </a:r>
            <a:endParaRPr lang="en-US" sz="1500" dirty="0"/>
          </a:p>
        </p:txBody>
      </p:sp>
      <p:sp>
        <p:nvSpPr>
          <p:cNvPr id="26" name="Text 24"/>
          <p:cNvSpPr/>
          <p:nvPr/>
        </p:nvSpPr>
        <p:spPr>
          <a:xfrm>
            <a:off x="12405866" y="3489871"/>
            <a:ext cx="1934981" cy="599108"/>
          </a:xfrm>
          <a:prstGeom prst="rect">
            <a:avLst/>
          </a:prstGeom>
          <a:noFill/>
          <a:ln/>
        </p:spPr>
        <p:txBody>
          <a:bodyPr wrap="square" lIns="25400" tIns="25400" rIns="25400" bIns="25400" rtlCol="0" anchor="t">
            <a:normAutofit/>
          </a:bodyPr>
          <a:lstStyle/>
          <a:p>
            <a:pPr algn="l" indent="0" marL="0">
              <a:lnSpc>
                <a:spcPct val="129451"/>
              </a:lnSpc>
              <a:buNone/>
            </a:pPr>
            <a:r>
              <a:rPr lang="en-US" sz="2850" b="1" dirty="0">
                <a:solidFill>
                  <a:srgbClr val="1D1F20"/>
                </a:solidFill>
                <a:latin typeface="Barlow Condensed" pitchFamily="34" charset="0"/>
                <a:ea typeface="Barlow Condensed" pitchFamily="34" charset="-122"/>
                <a:cs typeface="Barlow Condensed" pitchFamily="34" charset="-120"/>
              </a:rPr>
              <a:t>Report card</a:t>
            </a:r>
            <a:endParaRPr lang="en-US" sz="2850" dirty="0"/>
          </a:p>
        </p:txBody>
      </p:sp>
      <p:sp>
        <p:nvSpPr>
          <p:cNvPr id="27" name="Text 25"/>
          <p:cNvSpPr/>
          <p:nvPr/>
        </p:nvSpPr>
        <p:spPr>
          <a:xfrm>
            <a:off x="12405866" y="4108028"/>
            <a:ext cx="1934981" cy="362843"/>
          </a:xfrm>
          <a:prstGeom prst="rect">
            <a:avLst/>
          </a:prstGeom>
          <a:noFill/>
          <a:ln/>
        </p:spPr>
        <p:txBody>
          <a:bodyPr wrap="square" lIns="25400" tIns="25400" rIns="25400" bIns="25400" rtlCol="0" anchor="t">
            <a:normAutofit/>
          </a:bodyPr>
          <a:lstStyle/>
          <a:p>
            <a:pPr algn="l" indent="0" marL="0">
              <a:lnSpc>
                <a:spcPct val="128679"/>
              </a:lnSpc>
              <a:buNone/>
            </a:pPr>
            <a:r>
              <a:rPr lang="en-US" sz="1650" dirty="0">
                <a:solidFill>
                  <a:srgbClr val="5D5D60"/>
                </a:solidFill>
                <a:latin typeface="Barlow" pitchFamily="34" charset="0"/>
                <a:ea typeface="Barlow" pitchFamily="34" charset="-122"/>
                <a:cs typeface="Barlow" pitchFamily="34" charset="-120"/>
              </a:rPr>
              <a:t>Well · focus · drill</a:t>
            </a:r>
            <a:endParaRPr lang="en-US" sz="1650" dirty="0"/>
          </a:p>
        </p:txBody>
      </p:sp>
      <p:sp>
        <p:nvSpPr>
          <p:cNvPr id="28" name="Text 26"/>
          <p:cNvSpPr/>
          <p:nvPr/>
        </p:nvSpPr>
        <p:spPr>
          <a:xfrm>
            <a:off x="14517365" y="2899321"/>
            <a:ext cx="373261" cy="2134419"/>
          </a:xfrm>
          <a:prstGeom prst="rect">
            <a:avLst/>
          </a:prstGeom>
          <a:noFill/>
          <a:ln/>
        </p:spPr>
        <p:txBody>
          <a:bodyPr wrap="square" lIns="25400" tIns="25400" rIns="25400" bIns="25400" rtlCol="0" anchor="ctr">
            <a:normAutofit/>
          </a:bodyPr>
          <a:lstStyle/>
          <a:p>
            <a:pPr algn="l" indent="0" marL="0">
              <a:lnSpc>
                <a:spcPct val="128537"/>
              </a:lnSpc>
              <a:buNone/>
            </a:pPr>
            <a:r>
              <a:rPr lang="en-US" sz="2550" dirty="0">
                <a:solidFill>
                  <a:srgbClr val="5D5D60"/>
                </a:solidFill>
                <a:latin typeface="Barlow" pitchFamily="34" charset="0"/>
                <a:ea typeface="Barlow" pitchFamily="34" charset="-122"/>
                <a:cs typeface="Barlow" pitchFamily="34" charset="-120"/>
              </a:rPr>
              <a:t>→</a:t>
            </a:r>
            <a:endParaRPr lang="en-US" sz="2550" dirty="0"/>
          </a:p>
        </p:txBody>
      </p:sp>
      <p:sp>
        <p:nvSpPr>
          <p:cNvPr id="29" name="Shape 27"/>
          <p:cNvSpPr/>
          <p:nvPr/>
        </p:nvSpPr>
        <p:spPr>
          <a:xfrm>
            <a:off x="14947776" y="2899321"/>
            <a:ext cx="2197224" cy="2096319"/>
          </a:xfrm>
          <a:prstGeom prst="rect">
            <a:avLst/>
          </a:prstGeom>
          <a:ln w="9525">
            <a:solidFill>
              <a:srgbClr val="1F1F1F">
                <a:alpha val="16000"/>
              </a:srgbClr>
            </a:solidFill>
            <a:prstDash val="solid"/>
          </a:ln>
        </p:spPr>
      </p:sp>
      <p:sp>
        <p:nvSpPr>
          <p:cNvPr id="30" name="Text 28"/>
          <p:cNvSpPr/>
          <p:nvPr/>
        </p:nvSpPr>
        <p:spPr>
          <a:xfrm>
            <a:off x="15166851" y="3137446"/>
            <a:ext cx="1934981" cy="333375"/>
          </a:xfrm>
          <a:prstGeom prst="rect">
            <a:avLst/>
          </a:prstGeom>
          <a:noFill/>
          <a:ln/>
        </p:spPr>
        <p:txBody>
          <a:bodyPr wrap="square" lIns="25400" tIns="25400" rIns="25400" bIns="25400" rtlCol="0" anchor="t">
            <a:normAutofit/>
          </a:bodyPr>
          <a:lstStyle/>
          <a:p>
            <a:pPr algn="l" indent="0" marL="0">
              <a:lnSpc>
                <a:spcPct val="137778"/>
              </a:lnSpc>
              <a:buNone/>
            </a:pPr>
            <a:r>
              <a:rPr lang="en-US" sz="1500" dirty="0">
                <a:solidFill>
                  <a:srgbClr val="416180"/>
                </a:solidFill>
                <a:latin typeface="Courier New" pitchFamily="34" charset="0"/>
                <a:ea typeface="Courier New" pitchFamily="34" charset="-122"/>
                <a:cs typeface="Courier New" pitchFamily="34" charset="-120"/>
              </a:rPr>
              <a:t>A8</a:t>
            </a:r>
            <a:endParaRPr lang="en-US" sz="1500" dirty="0"/>
          </a:p>
        </p:txBody>
      </p:sp>
      <p:sp>
        <p:nvSpPr>
          <p:cNvPr id="31" name="Text 29"/>
          <p:cNvSpPr/>
          <p:nvPr/>
        </p:nvSpPr>
        <p:spPr>
          <a:xfrm>
            <a:off x="15166851" y="3489871"/>
            <a:ext cx="1934981" cy="599108"/>
          </a:xfrm>
          <a:prstGeom prst="rect">
            <a:avLst/>
          </a:prstGeom>
          <a:noFill/>
          <a:ln/>
        </p:spPr>
        <p:txBody>
          <a:bodyPr wrap="square" lIns="25400" tIns="25400" rIns="25400" bIns="25400" rtlCol="0" anchor="t">
            <a:normAutofit/>
          </a:bodyPr>
          <a:lstStyle/>
          <a:p>
            <a:pPr algn="l" indent="0" marL="0">
              <a:lnSpc>
                <a:spcPct val="129451"/>
              </a:lnSpc>
              <a:buNone/>
            </a:pPr>
            <a:r>
              <a:rPr lang="en-US" sz="2850" b="1" dirty="0">
                <a:solidFill>
                  <a:srgbClr val="1D1F20"/>
                </a:solidFill>
                <a:latin typeface="Barlow Condensed" pitchFamily="34" charset="0"/>
                <a:ea typeface="Barlow Condensed" pitchFamily="34" charset="-122"/>
                <a:cs typeface="Barlow Condensed" pitchFamily="34" charset="-120"/>
              </a:rPr>
              <a:t>Full report</a:t>
            </a:r>
            <a:endParaRPr lang="en-US" sz="2850" dirty="0"/>
          </a:p>
        </p:txBody>
      </p:sp>
      <p:sp>
        <p:nvSpPr>
          <p:cNvPr id="32" name="Text 30"/>
          <p:cNvSpPr/>
          <p:nvPr/>
        </p:nvSpPr>
        <p:spPr>
          <a:xfrm>
            <a:off x="15166851" y="4108028"/>
            <a:ext cx="1934981" cy="362843"/>
          </a:xfrm>
          <a:prstGeom prst="rect">
            <a:avLst/>
          </a:prstGeom>
          <a:noFill/>
          <a:ln/>
        </p:spPr>
        <p:txBody>
          <a:bodyPr wrap="square" lIns="25400" tIns="25400" rIns="25400" bIns="25400" rtlCol="0" anchor="t">
            <a:normAutofit/>
          </a:bodyPr>
          <a:lstStyle/>
          <a:p>
            <a:pPr algn="l" indent="0" marL="0">
              <a:lnSpc>
                <a:spcPct val="128679"/>
              </a:lnSpc>
              <a:buNone/>
            </a:pPr>
            <a:r>
              <a:rPr lang="en-US" sz="1650" dirty="0">
                <a:solidFill>
                  <a:srgbClr val="5D5D60"/>
                </a:solidFill>
                <a:latin typeface="Barlow" pitchFamily="34" charset="0"/>
                <a:ea typeface="Barlow" pitchFamily="34" charset="-122"/>
                <a:cs typeface="Barlow" pitchFamily="34" charset="-120"/>
              </a:rPr>
              <a:t>Eight sections</a:t>
            </a:r>
            <a:endParaRPr lang="en-US" sz="1650" dirty="0"/>
          </a:p>
        </p:txBody>
      </p:sp>
      <p:sp>
        <p:nvSpPr>
          <p:cNvPr id="33" name="Text 31"/>
          <p:cNvSpPr/>
          <p:nvPr/>
        </p:nvSpPr>
        <p:spPr>
          <a:xfrm>
            <a:off x="1143000" y="8971657"/>
            <a:ext cx="3773000" cy="439043"/>
          </a:xfrm>
          <a:prstGeom prst="rect">
            <a:avLst/>
          </a:prstGeom>
          <a:noFill/>
          <a:ln/>
        </p:spPr>
        <p:txBody>
          <a:bodyPr wrap="square" lIns="25400" tIns="25400" rIns="25400" bIns="25400" rtlCol="0" anchor="t">
            <a:normAutofit/>
          </a:bodyPr>
          <a:lstStyle/>
          <a:p>
            <a:pPr algn="l" indent="0" marL="0">
              <a:lnSpc>
                <a:spcPct val="128276"/>
              </a:lnSpc>
              <a:buNone/>
            </a:pPr>
            <a:r>
              <a:rPr lang="en-US" sz="1800" dirty="0">
                <a:solidFill>
                  <a:srgbClr val="5D5D60"/>
                </a:solidFill>
                <a:latin typeface="Barlow" pitchFamily="34" charset="0"/>
                <a:ea typeface="Barlow" pitchFamily="34" charset="-122"/>
                <a:cs typeface="Barlow" pitchFamily="34" charset="-120"/>
              </a:rPr>
              <a:t>Designed states hanging off the flow:</a:t>
            </a:r>
            <a:endParaRPr lang="en-US" sz="1800" dirty="0"/>
          </a:p>
        </p:txBody>
      </p:sp>
      <p:sp>
        <p:nvSpPr>
          <p:cNvPr id="34" name="Shape 32"/>
          <p:cNvSpPr/>
          <p:nvPr/>
        </p:nvSpPr>
        <p:spPr>
          <a:xfrm>
            <a:off x="4996607" y="8914507"/>
            <a:ext cx="2248198" cy="458093"/>
          </a:xfrm>
          <a:prstGeom prst="rect">
            <a:avLst/>
          </a:prstGeom>
          <a:ln w="9525">
            <a:solidFill>
              <a:srgbClr val="5980A6"/>
            </a:solidFill>
            <a:prstDash val="solid"/>
          </a:ln>
        </p:spPr>
      </p:sp>
      <p:sp>
        <p:nvSpPr>
          <p:cNvPr id="35" name="Text 33"/>
          <p:cNvSpPr/>
          <p:nvPr/>
        </p:nvSpPr>
        <p:spPr>
          <a:xfrm>
            <a:off x="5139482" y="8981182"/>
            <a:ext cx="2038648" cy="362843"/>
          </a:xfrm>
          <a:prstGeom prst="rect">
            <a:avLst/>
          </a:prstGeom>
          <a:noFill/>
          <a:ln/>
        </p:spPr>
        <p:txBody>
          <a:bodyPr wrap="square" lIns="25400" tIns="25400" rIns="25400" bIns="25400" rtlCol="0" anchor="ctr">
            <a:normAutofit/>
          </a:bodyPr>
          <a:lstStyle/>
          <a:p>
            <a:pPr algn="l" indent="0" marL="0">
              <a:lnSpc>
                <a:spcPct val="128679"/>
              </a:lnSpc>
              <a:buNone/>
            </a:pPr>
            <a:r>
              <a:rPr lang="en-US" sz="1650" spc="33" kern="0" dirty="0">
                <a:solidFill>
                  <a:srgbClr val="5980A6"/>
                </a:solidFill>
                <a:latin typeface="Barlow" pitchFamily="34" charset="0"/>
                <a:ea typeface="Barlow" pitchFamily="34" charset="-122"/>
                <a:cs typeface="Barlow" pitchFamily="34" charset="-120"/>
              </a:rPr>
              <a:t>A3f calibration failed</a:t>
            </a:r>
            <a:endParaRPr lang="en-US" sz="1650" dirty="0"/>
          </a:p>
        </p:txBody>
      </p:sp>
      <p:sp>
        <p:nvSpPr>
          <p:cNvPr id="36" name="Shape 34"/>
          <p:cNvSpPr/>
          <p:nvPr/>
        </p:nvSpPr>
        <p:spPr>
          <a:xfrm>
            <a:off x="7435304" y="8914507"/>
            <a:ext cx="2178621" cy="458093"/>
          </a:xfrm>
          <a:prstGeom prst="rect">
            <a:avLst/>
          </a:prstGeom>
          <a:ln w="9525">
            <a:solidFill>
              <a:srgbClr val="5980A6"/>
            </a:solidFill>
            <a:prstDash val="solid"/>
          </a:ln>
        </p:spPr>
      </p:sp>
      <p:sp>
        <p:nvSpPr>
          <p:cNvPr id="37" name="Text 35"/>
          <p:cNvSpPr/>
          <p:nvPr/>
        </p:nvSpPr>
        <p:spPr>
          <a:xfrm>
            <a:off x="7578179" y="8981182"/>
            <a:ext cx="1969071" cy="362843"/>
          </a:xfrm>
          <a:prstGeom prst="rect">
            <a:avLst/>
          </a:prstGeom>
          <a:noFill/>
          <a:ln/>
        </p:spPr>
        <p:txBody>
          <a:bodyPr wrap="square" lIns="25400" tIns="25400" rIns="25400" bIns="25400" rtlCol="0" anchor="ctr">
            <a:normAutofit/>
          </a:bodyPr>
          <a:lstStyle/>
          <a:p>
            <a:pPr algn="l" indent="0" marL="0">
              <a:lnSpc>
                <a:spcPct val="128679"/>
              </a:lnSpc>
              <a:buNone/>
            </a:pPr>
            <a:r>
              <a:rPr lang="en-US" sz="1650" spc="33" kern="0" dirty="0">
                <a:solidFill>
                  <a:srgbClr val="5980A6"/>
                </a:solidFill>
                <a:latin typeface="Barlow" pitchFamily="34" charset="0"/>
                <a:ea typeface="Barlow" pitchFamily="34" charset="-122"/>
                <a:cs typeface="Barlow" pitchFamily="34" charset="-120"/>
              </a:rPr>
              <a:t>A4d sensor dropped</a:t>
            </a:r>
            <a:endParaRPr lang="en-US" sz="1650" dirty="0"/>
          </a:p>
        </p:txBody>
      </p:sp>
      <p:sp>
        <p:nvSpPr>
          <p:cNvPr id="38" name="Shape 36"/>
          <p:cNvSpPr/>
          <p:nvPr/>
        </p:nvSpPr>
        <p:spPr>
          <a:xfrm>
            <a:off x="9804425" y="8914507"/>
            <a:ext cx="1920032" cy="458093"/>
          </a:xfrm>
          <a:prstGeom prst="rect">
            <a:avLst/>
          </a:prstGeom>
          <a:ln w="9525">
            <a:solidFill>
              <a:srgbClr val="5980A6"/>
            </a:solidFill>
            <a:prstDash val="solid"/>
          </a:ln>
        </p:spPr>
      </p:sp>
      <p:sp>
        <p:nvSpPr>
          <p:cNvPr id="39" name="Text 37"/>
          <p:cNvSpPr/>
          <p:nvPr/>
        </p:nvSpPr>
        <p:spPr>
          <a:xfrm>
            <a:off x="9947300" y="8981182"/>
            <a:ext cx="1710482" cy="362843"/>
          </a:xfrm>
          <a:prstGeom prst="rect">
            <a:avLst/>
          </a:prstGeom>
          <a:noFill/>
          <a:ln/>
        </p:spPr>
        <p:txBody>
          <a:bodyPr wrap="square" lIns="25400" tIns="25400" rIns="25400" bIns="25400" rtlCol="0" anchor="ctr">
            <a:normAutofit/>
          </a:bodyPr>
          <a:lstStyle/>
          <a:p>
            <a:pPr algn="l" indent="0" marL="0">
              <a:lnSpc>
                <a:spcPct val="128679"/>
              </a:lnSpc>
              <a:buNone/>
            </a:pPr>
            <a:r>
              <a:rPr lang="en-US" sz="1650" spc="33" kern="0" dirty="0">
                <a:solidFill>
                  <a:srgbClr val="5980A6"/>
                </a:solidFill>
                <a:latin typeface="Barlow" pitchFamily="34" charset="0"/>
                <a:ea typeface="Barlow" pitchFamily="34" charset="-122"/>
                <a:cs typeface="Barlow" pitchFamily="34" charset="-120"/>
              </a:rPr>
              <a:t>A4s slip detected</a:t>
            </a:r>
            <a:endParaRPr lang="en-US" sz="1650" dirty="0"/>
          </a:p>
        </p:txBody>
      </p:sp>
      <p:sp>
        <p:nvSpPr>
          <p:cNvPr id="40" name="Shape 38"/>
          <p:cNvSpPr/>
          <p:nvPr/>
        </p:nvSpPr>
        <p:spPr>
          <a:xfrm>
            <a:off x="11914956" y="8914507"/>
            <a:ext cx="1662336" cy="458093"/>
          </a:xfrm>
          <a:prstGeom prst="rect">
            <a:avLst/>
          </a:prstGeom>
          <a:ln w="9525">
            <a:solidFill>
              <a:srgbClr val="5980A6"/>
            </a:solidFill>
            <a:prstDash val="solid"/>
          </a:ln>
        </p:spPr>
      </p:sp>
      <p:sp>
        <p:nvSpPr>
          <p:cNvPr id="41" name="Text 39"/>
          <p:cNvSpPr/>
          <p:nvPr/>
        </p:nvSpPr>
        <p:spPr>
          <a:xfrm>
            <a:off x="12057831" y="8981182"/>
            <a:ext cx="1452786" cy="362843"/>
          </a:xfrm>
          <a:prstGeom prst="rect">
            <a:avLst/>
          </a:prstGeom>
          <a:noFill/>
          <a:ln/>
        </p:spPr>
        <p:txBody>
          <a:bodyPr wrap="square" lIns="25400" tIns="25400" rIns="25400" bIns="25400" rtlCol="0" anchor="ctr">
            <a:normAutofit/>
          </a:bodyPr>
          <a:lstStyle/>
          <a:p>
            <a:pPr algn="l" indent="0" marL="0">
              <a:lnSpc>
                <a:spcPct val="128679"/>
              </a:lnSpc>
              <a:buNone/>
            </a:pPr>
            <a:r>
              <a:rPr lang="en-US" sz="1650" spc="33" kern="0" dirty="0">
                <a:solidFill>
                  <a:srgbClr val="5980A6"/>
                </a:solidFill>
                <a:latin typeface="Barlow" pitchFamily="34" charset="0"/>
                <a:ea typeface="Barlow" pitchFamily="34" charset="-122"/>
                <a:cs typeface="Barlow" pitchFamily="34" charset="-120"/>
              </a:rPr>
              <a:t>A7e escalation</a:t>
            </a:r>
            <a:endParaRPr lang="en-US" sz="1650" dirty="0"/>
          </a:p>
        </p:txBody>
      </p:sp>
      <p:sp>
        <p:nvSpPr>
          <p:cNvPr id="42" name="Shape 40"/>
          <p:cNvSpPr/>
          <p:nvPr/>
        </p:nvSpPr>
        <p:spPr>
          <a:xfrm>
            <a:off x="13767792" y="8914507"/>
            <a:ext cx="2460724" cy="458093"/>
          </a:xfrm>
          <a:prstGeom prst="rect">
            <a:avLst/>
          </a:prstGeom>
          <a:ln w="9525">
            <a:solidFill>
              <a:srgbClr val="5980A6"/>
            </a:solidFill>
            <a:prstDash val="solid"/>
          </a:ln>
        </p:spPr>
      </p:sp>
      <p:sp>
        <p:nvSpPr>
          <p:cNvPr id="43" name="Text 41"/>
          <p:cNvSpPr/>
          <p:nvPr/>
        </p:nvSpPr>
        <p:spPr>
          <a:xfrm>
            <a:off x="13910667" y="8981182"/>
            <a:ext cx="2251174" cy="362843"/>
          </a:xfrm>
          <a:prstGeom prst="rect">
            <a:avLst/>
          </a:prstGeom>
          <a:noFill/>
          <a:ln/>
        </p:spPr>
        <p:txBody>
          <a:bodyPr wrap="square" lIns="25400" tIns="25400" rIns="25400" bIns="25400" rtlCol="0" anchor="ctr">
            <a:normAutofit/>
          </a:bodyPr>
          <a:lstStyle/>
          <a:p>
            <a:pPr algn="l" indent="0" marL="0">
              <a:lnSpc>
                <a:spcPct val="128679"/>
              </a:lnSpc>
              <a:buNone/>
            </a:pPr>
            <a:r>
              <a:rPr lang="en-US" sz="1650" spc="33" kern="0" dirty="0">
                <a:solidFill>
                  <a:srgbClr val="5980A6"/>
                </a:solidFill>
                <a:latin typeface="Barlow" pitchFamily="34" charset="0"/>
                <a:ea typeface="Barlow" pitchFamily="34" charset="-122"/>
                <a:cs typeface="Barlow" pitchFamily="34" charset="-120"/>
              </a:rPr>
              <a:t>A8q suppressed metric</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050131" y="922973"/>
            <a:ext cx="3900488" cy="8441055"/>
          </a:xfrm>
          <a:prstGeom prst="rect">
            <a:avLst/>
          </a:prstGeom>
          <a:solidFill>
            <a:srgbClr val="FFFFFF"/>
          </a:solidFill>
          <a:ln w="10001">
            <a:solidFill>
              <a:srgbClr val="1F1F1F">
                <a:alpha val="16000"/>
              </a:srgbClr>
            </a:solidFill>
            <a:prstDash val="solid"/>
          </a:ln>
        </p:spPr>
      </p:sp>
      <p:sp>
        <p:nvSpPr>
          <p:cNvPr id="3" name="Shape 1"/>
          <p:cNvSpPr/>
          <p:nvPr/>
        </p:nvSpPr>
        <p:spPr>
          <a:xfrm>
            <a:off x="1060133" y="1492028"/>
            <a:ext cx="3880485" cy="10001"/>
          </a:xfrm>
          <a:prstGeom prst="rect">
            <a:avLst/>
          </a:prstGeom>
          <a:solidFill>
            <a:srgbClr val="1D1F20">
              <a:alpha val="16000"/>
            </a:srgbClr>
          </a:solidFill>
          <a:ln/>
        </p:spPr>
      </p:sp>
      <p:sp>
        <p:nvSpPr>
          <p:cNvPr id="4" name="Text 2"/>
          <p:cNvSpPr/>
          <p:nvPr/>
        </p:nvSpPr>
        <p:spPr>
          <a:xfrm>
            <a:off x="1240155" y="1092994"/>
            <a:ext cx="141599" cy="317119"/>
          </a:xfrm>
          <a:prstGeom prst="rect">
            <a:avLst/>
          </a:prstGeom>
          <a:noFill/>
          <a:ln/>
        </p:spPr>
        <p:txBody>
          <a:bodyPr wrap="square" lIns="25400" tIns="25400" rIns="25400" bIns="25400" rtlCol="0" anchor="t">
            <a:normAutofit/>
          </a:bodyPr>
          <a:lstStyle/>
          <a:p>
            <a:pPr algn="l" indent="0" marL="0">
              <a:lnSpc>
                <a:spcPct val="129767"/>
              </a:lnSpc>
              <a:buNone/>
            </a:pPr>
            <a:r>
              <a:rPr lang="en-US" sz="1418" dirty="0">
                <a:solidFill>
                  <a:srgbClr val="1D1F20"/>
                </a:solidFill>
                <a:latin typeface="Barlow" pitchFamily="34" charset="0"/>
                <a:ea typeface="Barlow" pitchFamily="34" charset="-122"/>
                <a:cs typeface="Barlow" pitchFamily="34" charset="-120"/>
              </a:rPr>
              <a:t>‹</a:t>
            </a:r>
            <a:endParaRPr lang="en-US" sz="1418" dirty="0"/>
          </a:p>
        </p:txBody>
      </p:sp>
      <p:sp>
        <p:nvSpPr>
          <p:cNvPr id="5" name="Text 3"/>
          <p:cNvSpPr/>
          <p:nvPr/>
        </p:nvSpPr>
        <p:spPr>
          <a:xfrm>
            <a:off x="1405566" y="1092994"/>
            <a:ext cx="1008192" cy="317119"/>
          </a:xfrm>
          <a:prstGeom prst="rect">
            <a:avLst/>
          </a:prstGeom>
          <a:noFill/>
          <a:ln/>
        </p:spPr>
        <p:txBody>
          <a:bodyPr wrap="square" lIns="25400" tIns="25400" rIns="25400" bIns="25400" rtlCol="0" anchor="t">
            <a:normAutofit/>
          </a:bodyPr>
          <a:lstStyle/>
          <a:p>
            <a:pPr algn="l" indent="0" marL="0">
              <a:lnSpc>
                <a:spcPct val="129767"/>
              </a:lnSpc>
              <a:buNone/>
            </a:pPr>
            <a:r>
              <a:rPr lang="en-US" sz="1418" b="1" dirty="0">
                <a:solidFill>
                  <a:srgbClr val="1D1F20"/>
                </a:solidFill>
                <a:latin typeface="Barlow Condensed" pitchFamily="34" charset="0"/>
                <a:ea typeface="Barlow Condensed" pitchFamily="34" charset="-122"/>
                <a:cs typeface="Barlow Condensed" pitchFamily="34" charset="-120"/>
              </a:rPr>
              <a:t>SENSOR SETUP</a:t>
            </a:r>
            <a:endParaRPr lang="en-US" sz="1418" dirty="0"/>
          </a:p>
        </p:txBody>
      </p:sp>
      <p:sp>
        <p:nvSpPr>
          <p:cNvPr id="6" name="Shape 4"/>
          <p:cNvSpPr/>
          <p:nvPr/>
        </p:nvSpPr>
        <p:spPr>
          <a:xfrm>
            <a:off x="4153019" y="1114950"/>
            <a:ext cx="607576" cy="235029"/>
          </a:xfrm>
          <a:prstGeom prst="rect">
            <a:avLst/>
          </a:prstGeom>
          <a:ln w="10001">
            <a:solidFill>
              <a:srgbClr val="5980A6"/>
            </a:solidFill>
            <a:prstDash val="solid"/>
          </a:ln>
        </p:spPr>
      </p:sp>
      <p:sp>
        <p:nvSpPr>
          <p:cNvPr id="7" name="Text 5"/>
          <p:cNvSpPr/>
          <p:nvPr/>
        </p:nvSpPr>
        <p:spPr>
          <a:xfrm>
            <a:off x="4263033" y="1154955"/>
            <a:ext cx="463748" cy="193119"/>
          </a:xfrm>
          <a:prstGeom prst="rect">
            <a:avLst/>
          </a:prstGeom>
          <a:noFill/>
          <a:ln/>
        </p:spPr>
        <p:txBody>
          <a:bodyPr wrap="square" lIns="25400" tIns="25400" rIns="25400" bIns="25400" rtlCol="0" anchor="ctr">
            <a:normAutofit/>
          </a:bodyPr>
          <a:lstStyle/>
          <a:p>
            <a:pPr algn="l" indent="0" marL="0">
              <a:lnSpc>
                <a:spcPct val="129167"/>
              </a:lnSpc>
              <a:buNone/>
            </a:pPr>
            <a:r>
              <a:rPr lang="en-US" sz="788" spc="16" kern="0" dirty="0">
                <a:solidFill>
                  <a:srgbClr val="5980A6"/>
                </a:solidFill>
                <a:latin typeface="Barlow" pitchFamily="34" charset="0"/>
                <a:ea typeface="Barlow" pitchFamily="34" charset="-122"/>
                <a:cs typeface="Barlow" pitchFamily="34" charset="-120"/>
              </a:rPr>
              <a:t>Tier A · 4</a:t>
            </a:r>
            <a:endParaRPr lang="en-US" sz="788"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00225" y="1602042"/>
            <a:ext cx="2400300" cy="2720340"/>
          </a:xfrm>
          <a:prstGeom prst="rect">
            <a:avLst/>
          </a:prstGeom>
        </p:spPr>
      </p:pic>
      <p:sp>
        <p:nvSpPr>
          <p:cNvPr id="9" name="Shape 6"/>
          <p:cNvSpPr/>
          <p:nvPr/>
        </p:nvSpPr>
        <p:spPr>
          <a:xfrm>
            <a:off x="1240155" y="4916675"/>
            <a:ext cx="3520440" cy="10001"/>
          </a:xfrm>
          <a:prstGeom prst="rect">
            <a:avLst/>
          </a:prstGeom>
          <a:solidFill>
            <a:srgbClr val="1D1F20">
              <a:alpha val="16000"/>
            </a:srgbClr>
          </a:solidFill>
          <a:ln/>
        </p:spPr>
      </p:sp>
      <p:sp>
        <p:nvSpPr>
          <p:cNvPr id="10" name="Shape 7"/>
          <p:cNvSpPr/>
          <p:nvPr/>
        </p:nvSpPr>
        <p:spPr>
          <a:xfrm>
            <a:off x="1240155" y="4322382"/>
            <a:ext cx="3520440" cy="10001"/>
          </a:xfrm>
          <a:prstGeom prst="rect">
            <a:avLst/>
          </a:prstGeom>
          <a:solidFill>
            <a:srgbClr val="1D1F20">
              <a:alpha val="16000"/>
            </a:srgbClr>
          </a:solidFill>
          <a:ln/>
        </p:spPr>
      </p:sp>
      <p:sp>
        <p:nvSpPr>
          <p:cNvPr id="11" name="Shape 8"/>
          <p:cNvSpPr/>
          <p:nvPr/>
        </p:nvSpPr>
        <p:spPr>
          <a:xfrm>
            <a:off x="1240155" y="4579523"/>
            <a:ext cx="90011" cy="90011"/>
          </a:xfrm>
          <a:prstGeom prst="rect">
            <a:avLst/>
          </a:prstGeom>
          <a:solidFill>
            <a:srgbClr val="4F7D5C"/>
          </a:solidFill>
          <a:ln/>
        </p:spPr>
      </p:sp>
      <p:sp>
        <p:nvSpPr>
          <p:cNvPr id="12" name="Text 9"/>
          <p:cNvSpPr/>
          <p:nvPr/>
        </p:nvSpPr>
        <p:spPr>
          <a:xfrm>
            <a:off x="1430179" y="4442397"/>
            <a:ext cx="3304710" cy="239610"/>
          </a:xfrm>
          <a:prstGeom prst="rect">
            <a:avLst/>
          </a:prstGeom>
          <a:noFill/>
          <a:ln/>
        </p:spPr>
        <p:txBody>
          <a:bodyPr wrap="square" lIns="25400" tIns="25400" rIns="25400" bIns="25400" rtlCol="0" anchor="t">
            <a:normAutofit/>
          </a:bodyPr>
          <a:lstStyle/>
          <a:p>
            <a:pPr algn="l" indent="0" marL="0">
              <a:lnSpc>
                <a:spcPct val="130000"/>
              </a:lnSpc>
              <a:buNone/>
            </a:pPr>
            <a:r>
              <a:rPr lang="en-US" sz="1024" dirty="0">
                <a:solidFill>
                  <a:srgbClr val="1D1F20"/>
                </a:solidFill>
                <a:latin typeface="Barlow" pitchFamily="34" charset="0"/>
                <a:ea typeface="Barlow" pitchFamily="34" charset="-122"/>
                <a:cs typeface="Barlow" pitchFamily="34" charset="-120"/>
              </a:rPr>
              <a:t>Sternum · chest belt</a:t>
            </a:r>
            <a:endParaRPr lang="en-US" sz="1024" dirty="0"/>
          </a:p>
        </p:txBody>
      </p:sp>
      <p:sp>
        <p:nvSpPr>
          <p:cNvPr id="13" name="Text 10"/>
          <p:cNvSpPr/>
          <p:nvPr/>
        </p:nvSpPr>
        <p:spPr>
          <a:xfrm>
            <a:off x="1430179" y="4643906"/>
            <a:ext cx="3304710" cy="200855"/>
          </a:xfrm>
          <a:prstGeom prst="rect">
            <a:avLst/>
          </a:prstGeom>
          <a:noFill/>
          <a:ln/>
        </p:spPr>
        <p:txBody>
          <a:bodyPr wrap="square" lIns="25400" tIns="25400" rIns="25400" bIns="25400" rtlCol="0" anchor="t">
            <a:normAutofit/>
          </a:bodyPr>
          <a:lstStyle/>
          <a:p>
            <a:pPr algn="l" indent="0" marL="0">
              <a:lnSpc>
                <a:spcPct val="141522"/>
              </a:lnSpc>
              <a:buNone/>
            </a:pPr>
            <a:r>
              <a:rPr lang="en-US" sz="827" dirty="0">
                <a:solidFill>
                  <a:srgbClr val="7A7A7D"/>
                </a:solidFill>
                <a:latin typeface="Courier New" pitchFamily="34" charset="0"/>
                <a:ea typeface="Courier New" pitchFamily="34" charset="-122"/>
                <a:cs typeface="Courier New" pitchFamily="34" charset="-120"/>
              </a:rPr>
              <a:t>174823 · streaming 52 Hz</a:t>
            </a:r>
            <a:endParaRPr lang="en-US" sz="827" dirty="0"/>
          </a:p>
        </p:txBody>
      </p:sp>
      <p:sp>
        <p:nvSpPr>
          <p:cNvPr id="14" name="Text 11"/>
          <p:cNvSpPr/>
          <p:nvPr/>
        </p:nvSpPr>
        <p:spPr>
          <a:xfrm>
            <a:off x="4534473" y="4531549"/>
            <a:ext cx="302322" cy="224061"/>
          </a:xfrm>
          <a:prstGeom prst="rect">
            <a:avLst/>
          </a:prstGeom>
          <a:noFill/>
          <a:ln/>
        </p:spPr>
        <p:txBody>
          <a:bodyPr wrap="square" lIns="25400" tIns="25400" rIns="25400" bIns="25400" rtlCol="0" anchor="t">
            <a:normAutofit/>
          </a:bodyPr>
          <a:lstStyle/>
          <a:p>
            <a:pPr algn="l" indent="0" marL="0">
              <a:lnSpc>
                <a:spcPct val="128276"/>
              </a:lnSpc>
              <a:buNone/>
            </a:pPr>
            <a:r>
              <a:rPr lang="en-US" sz="945" dirty="0">
                <a:solidFill>
                  <a:srgbClr val="1D1F20"/>
                </a:solidFill>
                <a:latin typeface="Barlow" pitchFamily="34" charset="0"/>
                <a:ea typeface="Barlow" pitchFamily="34" charset="-122"/>
                <a:cs typeface="Barlow" pitchFamily="34" charset="-120"/>
              </a:rPr>
              <a:t>86%</a:t>
            </a:r>
            <a:endParaRPr lang="en-US" sz="945" dirty="0"/>
          </a:p>
        </p:txBody>
      </p:sp>
      <p:sp>
        <p:nvSpPr>
          <p:cNvPr id="15" name="Shape 12"/>
          <p:cNvSpPr/>
          <p:nvPr/>
        </p:nvSpPr>
        <p:spPr>
          <a:xfrm>
            <a:off x="1240155" y="5510968"/>
            <a:ext cx="3520440" cy="10001"/>
          </a:xfrm>
          <a:prstGeom prst="rect">
            <a:avLst/>
          </a:prstGeom>
          <a:solidFill>
            <a:srgbClr val="1D1F20">
              <a:alpha val="16000"/>
            </a:srgbClr>
          </a:solidFill>
          <a:ln/>
        </p:spPr>
      </p:sp>
      <p:sp>
        <p:nvSpPr>
          <p:cNvPr id="16" name="Shape 13"/>
          <p:cNvSpPr/>
          <p:nvPr/>
        </p:nvSpPr>
        <p:spPr>
          <a:xfrm>
            <a:off x="1240155" y="5173817"/>
            <a:ext cx="90011" cy="90011"/>
          </a:xfrm>
          <a:prstGeom prst="rect">
            <a:avLst/>
          </a:prstGeom>
          <a:solidFill>
            <a:srgbClr val="4F7D5C"/>
          </a:solidFill>
          <a:ln/>
        </p:spPr>
      </p:sp>
      <p:sp>
        <p:nvSpPr>
          <p:cNvPr id="17" name="Text 14"/>
          <p:cNvSpPr/>
          <p:nvPr/>
        </p:nvSpPr>
        <p:spPr>
          <a:xfrm>
            <a:off x="1430179" y="5036690"/>
            <a:ext cx="3308234" cy="239609"/>
          </a:xfrm>
          <a:prstGeom prst="rect">
            <a:avLst/>
          </a:prstGeom>
          <a:noFill/>
          <a:ln/>
        </p:spPr>
        <p:txBody>
          <a:bodyPr wrap="square" lIns="25400" tIns="25400" rIns="25400" bIns="25400" rtlCol="0" anchor="t">
            <a:normAutofit/>
          </a:bodyPr>
          <a:lstStyle/>
          <a:p>
            <a:pPr algn="l" indent="0" marL="0">
              <a:lnSpc>
                <a:spcPct val="130000"/>
              </a:lnSpc>
              <a:buNone/>
            </a:pPr>
            <a:r>
              <a:rPr lang="en-US" sz="1024" dirty="0">
                <a:solidFill>
                  <a:srgbClr val="1D1F20"/>
                </a:solidFill>
                <a:latin typeface="Barlow" pitchFamily="34" charset="0"/>
                <a:ea typeface="Barlow" pitchFamily="34" charset="-122"/>
                <a:cs typeface="Barlow" pitchFamily="34" charset="-120"/>
              </a:rPr>
              <a:t>Sacrum · waist belt, midline</a:t>
            </a:r>
            <a:endParaRPr lang="en-US" sz="1024" dirty="0"/>
          </a:p>
        </p:txBody>
      </p:sp>
      <p:sp>
        <p:nvSpPr>
          <p:cNvPr id="18" name="Text 15"/>
          <p:cNvSpPr/>
          <p:nvPr/>
        </p:nvSpPr>
        <p:spPr>
          <a:xfrm>
            <a:off x="1430179" y="5238199"/>
            <a:ext cx="3308234" cy="200855"/>
          </a:xfrm>
          <a:prstGeom prst="rect">
            <a:avLst/>
          </a:prstGeom>
          <a:noFill/>
          <a:ln/>
        </p:spPr>
        <p:txBody>
          <a:bodyPr wrap="square" lIns="25400" tIns="25400" rIns="25400" bIns="25400" rtlCol="0" anchor="t">
            <a:normAutofit/>
          </a:bodyPr>
          <a:lstStyle/>
          <a:p>
            <a:pPr algn="l" indent="0" marL="0">
              <a:lnSpc>
                <a:spcPct val="141522"/>
              </a:lnSpc>
              <a:buNone/>
            </a:pPr>
            <a:r>
              <a:rPr lang="en-US" sz="827" dirty="0">
                <a:solidFill>
                  <a:srgbClr val="7A7A7D"/>
                </a:solidFill>
                <a:latin typeface="Courier New" pitchFamily="34" charset="0"/>
                <a:ea typeface="Courier New" pitchFamily="34" charset="-122"/>
                <a:cs typeface="Courier New" pitchFamily="34" charset="-120"/>
              </a:rPr>
              <a:t>174911 · streaming 52 Hz</a:t>
            </a:r>
            <a:endParaRPr lang="en-US" sz="827" dirty="0"/>
          </a:p>
        </p:txBody>
      </p:sp>
      <p:sp>
        <p:nvSpPr>
          <p:cNvPr id="19" name="Text 16"/>
          <p:cNvSpPr/>
          <p:nvPr/>
        </p:nvSpPr>
        <p:spPr>
          <a:xfrm>
            <a:off x="4537677" y="5125842"/>
            <a:ext cx="299118" cy="224061"/>
          </a:xfrm>
          <a:prstGeom prst="rect">
            <a:avLst/>
          </a:prstGeom>
          <a:noFill/>
          <a:ln/>
        </p:spPr>
        <p:txBody>
          <a:bodyPr wrap="square" lIns="25400" tIns="25400" rIns="25400" bIns="25400" rtlCol="0" anchor="t">
            <a:normAutofit/>
          </a:bodyPr>
          <a:lstStyle/>
          <a:p>
            <a:pPr algn="l" indent="0" marL="0">
              <a:lnSpc>
                <a:spcPct val="128276"/>
              </a:lnSpc>
              <a:buNone/>
            </a:pPr>
            <a:r>
              <a:rPr lang="en-US" sz="945" dirty="0">
                <a:solidFill>
                  <a:srgbClr val="1D1F20"/>
                </a:solidFill>
                <a:latin typeface="Barlow" pitchFamily="34" charset="0"/>
                <a:ea typeface="Barlow" pitchFamily="34" charset="-122"/>
                <a:cs typeface="Barlow" pitchFamily="34" charset="-120"/>
              </a:rPr>
              <a:t>72%</a:t>
            </a:r>
            <a:endParaRPr lang="en-US" sz="945" dirty="0"/>
          </a:p>
        </p:txBody>
      </p:sp>
      <p:sp>
        <p:nvSpPr>
          <p:cNvPr id="20" name="Shape 17"/>
          <p:cNvSpPr/>
          <p:nvPr/>
        </p:nvSpPr>
        <p:spPr>
          <a:xfrm>
            <a:off x="1240155" y="6105261"/>
            <a:ext cx="3520440" cy="10001"/>
          </a:xfrm>
          <a:prstGeom prst="rect">
            <a:avLst/>
          </a:prstGeom>
          <a:solidFill>
            <a:srgbClr val="1D1F20">
              <a:alpha val="16000"/>
            </a:srgbClr>
          </a:solidFill>
          <a:ln/>
        </p:spPr>
      </p:sp>
      <p:sp>
        <p:nvSpPr>
          <p:cNvPr id="21" name="Shape 18"/>
          <p:cNvSpPr/>
          <p:nvPr/>
        </p:nvSpPr>
        <p:spPr>
          <a:xfrm>
            <a:off x="1240155" y="5768110"/>
            <a:ext cx="90011" cy="90011"/>
          </a:xfrm>
          <a:prstGeom prst="rect">
            <a:avLst/>
          </a:prstGeom>
          <a:solidFill>
            <a:srgbClr val="4F7D5C"/>
          </a:solidFill>
          <a:ln/>
        </p:spPr>
      </p:sp>
      <p:sp>
        <p:nvSpPr>
          <p:cNvPr id="22" name="Text 19"/>
          <p:cNvSpPr/>
          <p:nvPr/>
        </p:nvSpPr>
        <p:spPr>
          <a:xfrm>
            <a:off x="1430179" y="5630983"/>
            <a:ext cx="2946821" cy="239609"/>
          </a:xfrm>
          <a:prstGeom prst="rect">
            <a:avLst/>
          </a:prstGeom>
          <a:noFill/>
          <a:ln/>
        </p:spPr>
        <p:txBody>
          <a:bodyPr wrap="square" lIns="25400" tIns="25400" rIns="25400" bIns="25400" rtlCol="0" anchor="t">
            <a:normAutofit/>
          </a:bodyPr>
          <a:lstStyle/>
          <a:p>
            <a:pPr algn="l" indent="0" marL="0">
              <a:lnSpc>
                <a:spcPct val="130000"/>
              </a:lnSpc>
              <a:buNone/>
            </a:pPr>
            <a:r>
              <a:rPr lang="en-US" sz="1024" dirty="0">
                <a:solidFill>
                  <a:srgbClr val="1D1F20"/>
                </a:solidFill>
                <a:latin typeface="Barlow" pitchFamily="34" charset="0"/>
                <a:ea typeface="Barlow" pitchFamily="34" charset="-122"/>
                <a:cs typeface="Barlow" pitchFamily="34" charset="-120"/>
              </a:rPr>
              <a:t>Left forearm · strap, arrow up</a:t>
            </a:r>
            <a:endParaRPr lang="en-US" sz="1024" dirty="0"/>
          </a:p>
        </p:txBody>
      </p:sp>
      <p:sp>
        <p:nvSpPr>
          <p:cNvPr id="23" name="Text 20"/>
          <p:cNvSpPr/>
          <p:nvPr/>
        </p:nvSpPr>
        <p:spPr>
          <a:xfrm>
            <a:off x="1430179" y="5832492"/>
            <a:ext cx="2946821" cy="200855"/>
          </a:xfrm>
          <a:prstGeom prst="rect">
            <a:avLst/>
          </a:prstGeom>
          <a:noFill/>
          <a:ln/>
        </p:spPr>
        <p:txBody>
          <a:bodyPr wrap="square" lIns="25400" tIns="25400" rIns="25400" bIns="25400" rtlCol="0" anchor="t">
            <a:normAutofit/>
          </a:bodyPr>
          <a:lstStyle/>
          <a:p>
            <a:pPr algn="l" indent="0" marL="0">
              <a:lnSpc>
                <a:spcPct val="141522"/>
              </a:lnSpc>
              <a:buNone/>
            </a:pPr>
            <a:r>
              <a:rPr lang="en-US" sz="827" dirty="0">
                <a:solidFill>
                  <a:srgbClr val="7A7A7D"/>
                </a:solidFill>
                <a:latin typeface="Courier New" pitchFamily="34" charset="0"/>
                <a:ea typeface="Courier New" pitchFamily="34" charset="-122"/>
                <a:cs typeface="Courier New" pitchFamily="34" charset="-120"/>
              </a:rPr>
              <a:t>175002 · streaming 52 Hz</a:t>
            </a:r>
            <a:endParaRPr lang="en-US" sz="827" dirty="0"/>
          </a:p>
        </p:txBody>
      </p:sp>
      <p:sp>
        <p:nvSpPr>
          <p:cNvPr id="24" name="Shape 21"/>
          <p:cNvSpPr/>
          <p:nvPr/>
        </p:nvSpPr>
        <p:spPr>
          <a:xfrm>
            <a:off x="4209120" y="5683098"/>
            <a:ext cx="551475" cy="260033"/>
          </a:xfrm>
          <a:prstGeom prst="rect">
            <a:avLst/>
          </a:prstGeom>
          <a:ln w="10001">
            <a:solidFill>
              <a:srgbClr val="1F1F1F">
                <a:alpha val="16000"/>
              </a:srgbClr>
            </a:solidFill>
            <a:prstDash val="solid"/>
          </a:ln>
        </p:spPr>
      </p:sp>
      <p:sp>
        <p:nvSpPr>
          <p:cNvPr id="25" name="Text 22"/>
          <p:cNvSpPr/>
          <p:nvPr/>
        </p:nvSpPr>
        <p:spPr>
          <a:xfrm>
            <a:off x="4271032" y="5693100"/>
            <a:ext cx="427650" cy="278130"/>
          </a:xfrm>
          <a:prstGeom prst="rect">
            <a:avLst/>
          </a:prstGeom>
          <a:noFill/>
          <a:ln/>
        </p:spPr>
        <p:txBody>
          <a:bodyPr wrap="square" lIns="25400" tIns="25400" rIns="25400" bIns="25400" rtlCol="0" anchor="ctr">
            <a:normAutofit/>
          </a:bodyPr>
          <a:lstStyle/>
          <a:p>
            <a:pPr algn="ctr" indent="0" marL="0">
              <a:lnSpc>
                <a:spcPct val="100800"/>
              </a:lnSpc>
              <a:buNone/>
            </a:pPr>
            <a:r>
              <a:rPr lang="en-US" sz="827" b="1" dirty="0">
                <a:solidFill>
                  <a:srgbClr val="1D1F20"/>
                </a:solidFill>
                <a:latin typeface="Barlow Condensed" pitchFamily="34" charset="0"/>
                <a:ea typeface="Barlow Condensed" pitchFamily="34" charset="-122"/>
                <a:cs typeface="Barlow Condensed" pitchFamily="34" charset="-120"/>
              </a:rPr>
              <a:t>Swap L/R</a:t>
            </a:r>
            <a:endParaRPr lang="en-US" sz="827" dirty="0"/>
          </a:p>
        </p:txBody>
      </p:sp>
      <p:sp>
        <p:nvSpPr>
          <p:cNvPr id="26" name="Shape 23"/>
          <p:cNvSpPr/>
          <p:nvPr/>
        </p:nvSpPr>
        <p:spPr>
          <a:xfrm>
            <a:off x="1240155" y="6699554"/>
            <a:ext cx="3520440" cy="10001"/>
          </a:xfrm>
          <a:prstGeom prst="rect">
            <a:avLst/>
          </a:prstGeom>
          <a:solidFill>
            <a:srgbClr val="1D1F20">
              <a:alpha val="16000"/>
            </a:srgbClr>
          </a:solidFill>
          <a:ln/>
        </p:spPr>
      </p:sp>
      <p:sp>
        <p:nvSpPr>
          <p:cNvPr id="27" name="Shape 24"/>
          <p:cNvSpPr/>
          <p:nvPr/>
        </p:nvSpPr>
        <p:spPr>
          <a:xfrm>
            <a:off x="1240155" y="6362402"/>
            <a:ext cx="90011" cy="90011"/>
          </a:xfrm>
          <a:prstGeom prst="rect">
            <a:avLst/>
          </a:prstGeom>
          <a:solidFill>
            <a:srgbClr val="A8762C"/>
          </a:solidFill>
          <a:ln/>
        </p:spPr>
      </p:sp>
      <p:sp>
        <p:nvSpPr>
          <p:cNvPr id="28" name="Text 25"/>
          <p:cNvSpPr/>
          <p:nvPr/>
        </p:nvSpPr>
        <p:spPr>
          <a:xfrm>
            <a:off x="1430179" y="6225276"/>
            <a:ext cx="2946821" cy="239610"/>
          </a:xfrm>
          <a:prstGeom prst="rect">
            <a:avLst/>
          </a:prstGeom>
          <a:noFill/>
          <a:ln/>
        </p:spPr>
        <p:txBody>
          <a:bodyPr wrap="square" lIns="25400" tIns="25400" rIns="25400" bIns="25400" rtlCol="0" anchor="t">
            <a:normAutofit/>
          </a:bodyPr>
          <a:lstStyle/>
          <a:p>
            <a:pPr algn="l" indent="0" marL="0">
              <a:lnSpc>
                <a:spcPct val="130000"/>
              </a:lnSpc>
              <a:buNone/>
            </a:pPr>
            <a:r>
              <a:rPr lang="en-US" sz="1024" dirty="0">
                <a:solidFill>
                  <a:srgbClr val="1D1F20"/>
                </a:solidFill>
                <a:latin typeface="Barlow" pitchFamily="34" charset="0"/>
                <a:ea typeface="Barlow" pitchFamily="34" charset="-122"/>
                <a:cs typeface="Barlow" pitchFamily="34" charset="-120"/>
              </a:rPr>
              <a:t>Right forearm · strap, arrow up</a:t>
            </a:r>
            <a:endParaRPr lang="en-US" sz="1024" dirty="0"/>
          </a:p>
        </p:txBody>
      </p:sp>
      <p:sp>
        <p:nvSpPr>
          <p:cNvPr id="29" name="Text 26"/>
          <p:cNvSpPr/>
          <p:nvPr/>
        </p:nvSpPr>
        <p:spPr>
          <a:xfrm>
            <a:off x="1430179" y="6426786"/>
            <a:ext cx="2946821" cy="200855"/>
          </a:xfrm>
          <a:prstGeom prst="rect">
            <a:avLst/>
          </a:prstGeom>
          <a:noFill/>
          <a:ln/>
        </p:spPr>
        <p:txBody>
          <a:bodyPr wrap="square" lIns="25400" tIns="25400" rIns="25400" bIns="25400" rtlCol="0" anchor="t">
            <a:normAutofit/>
          </a:bodyPr>
          <a:lstStyle/>
          <a:p>
            <a:pPr algn="l" indent="0" marL="0">
              <a:lnSpc>
                <a:spcPct val="141522"/>
              </a:lnSpc>
              <a:buNone/>
            </a:pPr>
            <a:r>
              <a:rPr lang="en-US" sz="827" dirty="0">
                <a:solidFill>
                  <a:srgbClr val="A8762C"/>
                </a:solidFill>
                <a:latin typeface="Courier New" pitchFamily="34" charset="0"/>
                <a:ea typeface="Courier New" pitchFamily="34" charset="-122"/>
                <a:cs typeface="Courier New" pitchFamily="34" charset="-120"/>
              </a:rPr>
              <a:t>175118 · connecting…</a:t>
            </a:r>
            <a:endParaRPr lang="en-US" sz="827" dirty="0"/>
          </a:p>
        </p:txBody>
      </p:sp>
      <p:sp>
        <p:nvSpPr>
          <p:cNvPr id="30" name="Shape 27"/>
          <p:cNvSpPr/>
          <p:nvPr/>
        </p:nvSpPr>
        <p:spPr>
          <a:xfrm>
            <a:off x="4209120" y="6277392"/>
            <a:ext cx="551475" cy="260032"/>
          </a:xfrm>
          <a:prstGeom prst="rect">
            <a:avLst/>
          </a:prstGeom>
          <a:ln w="10001">
            <a:solidFill>
              <a:srgbClr val="1F1F1F">
                <a:alpha val="16000"/>
              </a:srgbClr>
            </a:solidFill>
            <a:prstDash val="solid"/>
          </a:ln>
        </p:spPr>
      </p:sp>
      <p:sp>
        <p:nvSpPr>
          <p:cNvPr id="31" name="Text 28"/>
          <p:cNvSpPr/>
          <p:nvPr/>
        </p:nvSpPr>
        <p:spPr>
          <a:xfrm>
            <a:off x="4271032" y="6287393"/>
            <a:ext cx="427650" cy="278130"/>
          </a:xfrm>
          <a:prstGeom prst="rect">
            <a:avLst/>
          </a:prstGeom>
          <a:noFill/>
          <a:ln/>
        </p:spPr>
        <p:txBody>
          <a:bodyPr wrap="square" lIns="25400" tIns="25400" rIns="25400" bIns="25400" rtlCol="0" anchor="ctr">
            <a:normAutofit/>
          </a:bodyPr>
          <a:lstStyle/>
          <a:p>
            <a:pPr algn="ctr" indent="0" marL="0">
              <a:lnSpc>
                <a:spcPct val="100800"/>
              </a:lnSpc>
              <a:buNone/>
            </a:pPr>
            <a:r>
              <a:rPr lang="en-US" sz="827" b="1" dirty="0">
                <a:solidFill>
                  <a:srgbClr val="1D1F20"/>
                </a:solidFill>
                <a:latin typeface="Barlow Condensed" pitchFamily="34" charset="0"/>
                <a:ea typeface="Barlow Condensed" pitchFamily="34" charset="-122"/>
                <a:cs typeface="Barlow Condensed" pitchFamily="34" charset="-120"/>
              </a:rPr>
              <a:t>Swap L/R</a:t>
            </a:r>
            <a:endParaRPr lang="en-US" sz="827" dirty="0"/>
          </a:p>
        </p:txBody>
      </p:sp>
      <p:sp>
        <p:nvSpPr>
          <p:cNvPr id="32" name="Shape 29"/>
          <p:cNvSpPr/>
          <p:nvPr/>
        </p:nvSpPr>
        <p:spPr>
          <a:xfrm>
            <a:off x="1240155" y="6869575"/>
            <a:ext cx="3520440" cy="866515"/>
          </a:xfrm>
          <a:prstGeom prst="rect">
            <a:avLst/>
          </a:prstGeom>
          <a:solidFill>
            <a:srgbClr val="EEF6FF"/>
          </a:solidFill>
          <a:ln w="10001">
            <a:solidFill>
              <a:srgbClr val="1F1F1F">
                <a:alpha val="16000"/>
              </a:srgbClr>
            </a:solidFill>
            <a:prstDash val="dash"/>
          </a:ln>
        </p:spPr>
      </p:sp>
      <p:sp>
        <p:nvSpPr>
          <p:cNvPr id="33" name="Text 30"/>
          <p:cNvSpPr/>
          <p:nvPr/>
        </p:nvSpPr>
        <p:spPr>
          <a:xfrm>
            <a:off x="1380173" y="7009592"/>
            <a:ext cx="3564445" cy="193120"/>
          </a:xfrm>
          <a:prstGeom prst="rect">
            <a:avLst/>
          </a:prstGeom>
          <a:noFill/>
          <a:ln/>
        </p:spPr>
        <p:txBody>
          <a:bodyPr wrap="square" lIns="25400" tIns="25400" rIns="25400" bIns="25400" rtlCol="0" anchor="t">
            <a:normAutofit/>
          </a:bodyPr>
          <a:lstStyle/>
          <a:p>
            <a:pPr algn="l" indent="0" marL="0">
              <a:lnSpc>
                <a:spcPct val="129167"/>
              </a:lnSpc>
              <a:buNone/>
            </a:pPr>
            <a:r>
              <a:rPr lang="en-US" sz="788" b="1" spc="110" kern="0" dirty="0">
                <a:solidFill>
                  <a:srgbClr val="416180"/>
                </a:solidFill>
                <a:latin typeface="Barlow" pitchFamily="34" charset="0"/>
                <a:ea typeface="Barlow" pitchFamily="34" charset="-122"/>
                <a:cs typeface="Barlow" pitchFamily="34" charset="-120"/>
              </a:rPr>
              <a:t>SYNC TAP · WHEN ALL FOUR ARE GREEN</a:t>
            </a:r>
            <a:endParaRPr lang="en-US" sz="788" dirty="0"/>
          </a:p>
        </p:txBody>
      </p:sp>
      <p:sp>
        <p:nvSpPr>
          <p:cNvPr id="34" name="Text 31"/>
          <p:cNvSpPr/>
          <p:nvPr/>
        </p:nvSpPr>
        <p:spPr>
          <a:xfrm>
            <a:off x="1380173" y="7204617"/>
            <a:ext cx="3337617" cy="429555"/>
          </a:xfrm>
          <a:prstGeom prst="rect">
            <a:avLst/>
          </a:prstGeom>
          <a:noFill/>
          <a:ln/>
        </p:spPr>
        <p:txBody>
          <a:bodyPr wrap="square" lIns="25400" tIns="25400" rIns="25400" bIns="25400" rtlCol="0" anchor="t">
            <a:normAutofit/>
          </a:bodyPr>
          <a:lstStyle/>
          <a:p>
            <a:pPr algn="l" indent="0" marL="0">
              <a:lnSpc>
                <a:spcPct val="122344"/>
              </a:lnSpc>
              <a:buNone/>
            </a:pPr>
            <a:r>
              <a:rPr lang="en-US" sz="1063" dirty="0">
                <a:solidFill>
                  <a:srgbClr val="1D1F20"/>
                </a:solidFill>
                <a:latin typeface="Barlow" pitchFamily="34" charset="0"/>
                <a:ea typeface="Barlow" pitchFamily="34" charset="-122"/>
                <a:cs typeface="Barlow" pitchFamily="34" charset="-120"/>
              </a:rPr>
              <a:t>Tap the ergometer frame firmly </a:t>
            </a:r>
            <a:pPr algn="l" indent="0" marL="0">
              <a:lnSpc>
                <a:spcPct val="122344"/>
              </a:lnSpc>
              <a:buNone/>
            </a:pPr>
            <a:r>
              <a:rPr lang="en-US" sz="1063" b="1" dirty="0">
                <a:solidFill>
                  <a:srgbClr val="1D1F20"/>
                </a:solidFill>
                <a:latin typeface="Barlow" pitchFamily="34" charset="0"/>
                <a:ea typeface="Barlow" pitchFamily="34" charset="-122"/>
                <a:cs typeface="Barlow" pitchFamily="34" charset="-120"/>
              </a:rPr>
              <a:t>3 times with both hands </a:t>
            </a:r>
            <a:pPr algn="l" indent="0" marL="0">
              <a:lnSpc>
                <a:spcPct val="122344"/>
              </a:lnSpc>
              <a:buNone/>
            </a:pPr>
            <a:r>
              <a:rPr lang="en-US" sz="1063" dirty="0">
                <a:solidFill>
                  <a:srgbClr val="1D1F20"/>
                </a:solidFill>
                <a:latin typeface="Barlow" pitchFamily="34" charset="0"/>
                <a:ea typeface="Barlow" pitchFamily="34" charset="-122"/>
                <a:cs typeface="Barlow" pitchFamily="34" charset="-120"/>
              </a:rPr>
              <a:t>to sync clocks.</a:t>
            </a:r>
            <a:endParaRPr lang="en-US" sz="1063" dirty="0"/>
          </a:p>
        </p:txBody>
      </p:sp>
      <p:sp>
        <p:nvSpPr>
          <p:cNvPr id="35" name="Shape 32"/>
          <p:cNvSpPr/>
          <p:nvPr/>
        </p:nvSpPr>
        <p:spPr>
          <a:xfrm>
            <a:off x="1240155" y="7896109"/>
            <a:ext cx="3520440" cy="480060"/>
          </a:xfrm>
          <a:prstGeom prst="rect">
            <a:avLst/>
          </a:prstGeom>
          <a:solidFill>
            <a:srgbClr val="5980A6"/>
          </a:solidFill>
          <a:ln w="10001">
            <a:solidFill>
              <a:srgbClr val="5980A6"/>
            </a:solidFill>
            <a:prstDash val="solid"/>
          </a:ln>
        </p:spPr>
      </p:sp>
      <p:sp>
        <p:nvSpPr>
          <p:cNvPr id="36" name="Text 33"/>
          <p:cNvSpPr/>
          <p:nvPr/>
        </p:nvSpPr>
        <p:spPr>
          <a:xfrm>
            <a:off x="2250203" y="8047144"/>
            <a:ext cx="1576543" cy="208121"/>
          </a:xfrm>
          <a:prstGeom prst="rect">
            <a:avLst/>
          </a:prstGeom>
          <a:noFill/>
          <a:ln/>
        </p:spPr>
        <p:txBody>
          <a:bodyPr wrap="square" lIns="0" tIns="0" rIns="0" bIns="0" rtlCol="0" anchor="t">
            <a:normAutofit/>
          </a:bodyPr>
          <a:lstStyle/>
          <a:p>
            <a:pPr algn="l" indent="0" marL="0">
              <a:lnSpc>
                <a:spcPct val="98824"/>
              </a:lnSpc>
              <a:buNone/>
            </a:pPr>
            <a:r>
              <a:rPr lang="en-US" sz="1103" b="1" spc="66" kern="0" dirty="0">
                <a:solidFill>
                  <a:srgbClr val="F2F2F3"/>
                </a:solidFill>
                <a:latin typeface="Barlow Condensed" pitchFamily="34" charset="0"/>
                <a:ea typeface="Barlow Condensed" pitchFamily="34" charset="-122"/>
                <a:cs typeface="Barlow Condensed" pitchFamily="34" charset="-120"/>
              </a:rPr>
              <a:t>CONTINUE TO CALIBRATION</a:t>
            </a:r>
            <a:endParaRPr lang="en-US" sz="1103" dirty="0"/>
          </a:p>
        </p:txBody>
      </p:sp>
      <p:sp>
        <p:nvSpPr>
          <p:cNvPr id="37" name="Text 34"/>
          <p:cNvSpPr/>
          <p:nvPr/>
        </p:nvSpPr>
        <p:spPr>
          <a:xfrm>
            <a:off x="5715000" y="1414090"/>
            <a:ext cx="12573000" cy="392385"/>
          </a:xfrm>
          <a:prstGeom prst="rect">
            <a:avLst/>
          </a:prstGeom>
          <a:noFill/>
          <a:ln/>
        </p:spPr>
        <p:txBody>
          <a:bodyPr wrap="square" lIns="25400" tIns="25400" rIns="25400" bIns="25400" rtlCol="0" anchor="t">
            <a:normAutofit/>
          </a:bodyPr>
          <a:lstStyle/>
          <a:p>
            <a:pPr algn="l" indent="0" marL="0">
              <a:lnSpc>
                <a:spcPct val="128276"/>
              </a:lnSpc>
              <a:buNone/>
            </a:pPr>
            <a:r>
              <a:rPr lang="en-US" sz="1800" b="1" spc="252" kern="0" dirty="0">
                <a:solidFill>
                  <a:srgbClr val="416180"/>
                </a:solidFill>
                <a:latin typeface="Barlow Condensed" pitchFamily="34" charset="0"/>
                <a:ea typeface="Barlow Condensed" pitchFamily="34" charset="-122"/>
                <a:cs typeface="Barlow Condensed" pitchFamily="34" charset="-120"/>
              </a:rPr>
              <a:t>03 · A2 SENSOR SETUP</a:t>
            </a:r>
            <a:endParaRPr lang="en-US" sz="1800" dirty="0"/>
          </a:p>
        </p:txBody>
      </p:sp>
      <p:sp>
        <p:nvSpPr>
          <p:cNvPr id="38" name="Text 35"/>
          <p:cNvSpPr/>
          <p:nvPr/>
        </p:nvSpPr>
        <p:spPr>
          <a:xfrm>
            <a:off x="5715000" y="1901726"/>
            <a:ext cx="11772900" cy="1504950"/>
          </a:xfrm>
          <a:prstGeom prst="rect">
            <a:avLst/>
          </a:prstGeom>
          <a:noFill/>
          <a:ln/>
        </p:spPr>
        <p:txBody>
          <a:bodyPr wrap="square" lIns="25400" tIns="25400" rIns="25400" bIns="25400" rtlCol="0" anchor="t">
            <a:normAutofit/>
          </a:bodyPr>
          <a:lstStyle/>
          <a:p>
            <a:pPr algn="l" indent="0" marL="0">
              <a:lnSpc>
                <a:spcPct val="91667"/>
              </a:lnSpc>
              <a:buNone/>
            </a:pPr>
            <a:r>
              <a:rPr lang="en-US" sz="5250" b="1" dirty="0">
                <a:solidFill>
                  <a:srgbClr val="1D1F20"/>
                </a:solidFill>
                <a:latin typeface="Barlow Condensed" pitchFamily="34" charset="0"/>
                <a:ea typeface="Barlow Condensed" pitchFamily="34" charset="-122"/>
                <a:cs typeface="Barlow Condensed" pitchFamily="34" charset="-120"/>
              </a:rPr>
              <a:t>Straps and batteries kill wearables, not algorithms</a:t>
            </a:r>
            <a:endParaRPr lang="en-US" sz="5250" dirty="0"/>
          </a:p>
        </p:txBody>
      </p:sp>
      <p:sp>
        <p:nvSpPr>
          <p:cNvPr id="39" name="Text 36"/>
          <p:cNvSpPr/>
          <p:nvPr/>
        </p:nvSpPr>
        <p:spPr>
          <a:xfrm>
            <a:off x="5715000" y="3768626"/>
            <a:ext cx="328538" cy="1660624"/>
          </a:xfrm>
          <a:prstGeom prst="rect">
            <a:avLst/>
          </a:prstGeom>
          <a:noFill/>
          <a:ln/>
        </p:spPr>
        <p:txBody>
          <a:bodyPr wrap="square" lIns="25400" tIns="25400" rIns="25400" bIns="25400" rtlCol="0" anchor="t">
            <a:normAutofit/>
          </a:bodyPr>
          <a:lstStyle/>
          <a:p>
            <a:pPr algn="l" indent="0" marL="0">
              <a:lnSpc>
                <a:spcPct val="136400"/>
              </a:lnSpc>
              <a:buNone/>
            </a:pPr>
            <a:r>
              <a:rPr lang="en-US" sz="1650" dirty="0">
                <a:solidFill>
                  <a:srgbClr val="416180"/>
                </a:solidFill>
                <a:latin typeface="Courier New" pitchFamily="34" charset="0"/>
                <a:ea typeface="Courier New" pitchFamily="34" charset="-122"/>
                <a:cs typeface="Courier New" pitchFamily="34" charset="-120"/>
              </a:rPr>
              <a:t>01</a:t>
            </a:r>
            <a:endParaRPr lang="en-US" sz="1650" dirty="0"/>
          </a:p>
        </p:txBody>
      </p:sp>
      <p:sp>
        <p:nvSpPr>
          <p:cNvPr id="40" name="Text 37"/>
          <p:cNvSpPr/>
          <p:nvPr/>
        </p:nvSpPr>
        <p:spPr>
          <a:xfrm>
            <a:off x="6138788" y="3711476"/>
            <a:ext cx="8125383" cy="599108"/>
          </a:xfrm>
          <a:prstGeom prst="rect">
            <a:avLst/>
          </a:prstGeom>
          <a:noFill/>
          <a:ln/>
        </p:spPr>
        <p:txBody>
          <a:bodyPr wrap="square" lIns="25400" tIns="25400" rIns="25400" bIns="25400" rtlCol="0" anchor="t">
            <a:normAutofit/>
          </a:bodyPr>
          <a:lstStyle/>
          <a:p>
            <a:pPr algn="l" indent="0" marL="0">
              <a:lnSpc>
                <a:spcPct val="129451"/>
              </a:lnSpc>
              <a:buNone/>
            </a:pPr>
            <a:r>
              <a:rPr lang="en-US" sz="2850" b="1" dirty="0">
                <a:solidFill>
                  <a:srgbClr val="1D1F20"/>
                </a:solidFill>
                <a:latin typeface="Barlow Condensed" pitchFamily="34" charset="0"/>
                <a:ea typeface="Barlow Condensed" pitchFamily="34" charset="-122"/>
                <a:cs typeface="Barlow Condensed" pitchFamily="34" charset="-120"/>
              </a:rPr>
              <a:t>One-tap L/R swap</a:t>
            </a:r>
            <a:endParaRPr lang="en-US" sz="2850" dirty="0"/>
          </a:p>
        </p:txBody>
      </p:sp>
      <p:sp>
        <p:nvSpPr>
          <p:cNvPr id="41" name="Text 38"/>
          <p:cNvSpPr/>
          <p:nvPr/>
        </p:nvSpPr>
        <p:spPr>
          <a:xfrm>
            <a:off x="6138788" y="4272483"/>
            <a:ext cx="7608313" cy="1156767"/>
          </a:xfrm>
          <a:prstGeom prst="rect">
            <a:avLst/>
          </a:prstGeom>
          <a:noFill/>
          <a:ln/>
        </p:spPr>
        <p:txBody>
          <a:bodyPr wrap="square" lIns="25400" tIns="25400" rIns="25400" bIns="25400" rtlCol="0" anchor="t">
            <a:normAutofit/>
          </a:bodyPr>
          <a:lstStyle/>
          <a:p>
            <a:pPr algn="l" indent="0" marL="0">
              <a:lnSpc>
                <a:spcPct val="120462"/>
              </a:lnSpc>
              <a:buNone/>
            </a:pPr>
            <a:r>
              <a:rPr lang="en-US" sz="2025" dirty="0">
                <a:solidFill>
                  <a:srgbClr val="424244"/>
                </a:solidFill>
                <a:latin typeface="Barlow" pitchFamily="34" charset="0"/>
                <a:ea typeface="Barlow" pitchFamily="34" charset="-122"/>
                <a:cs typeface="Barlow" pitchFamily="34" charset="-120"/>
              </a:rPr>
              <a:t>Wrong-limb mounting is the second most common placement fault. Fixing it in software costs one control; fixing it by re-strapping costs users.</a:t>
            </a:r>
            <a:endParaRPr lang="en-US" sz="2025" dirty="0"/>
          </a:p>
        </p:txBody>
      </p:sp>
      <p:sp>
        <p:nvSpPr>
          <p:cNvPr id="42" name="Text 39"/>
          <p:cNvSpPr/>
          <p:nvPr/>
        </p:nvSpPr>
        <p:spPr>
          <a:xfrm>
            <a:off x="5715000" y="5695950"/>
            <a:ext cx="328538" cy="1660624"/>
          </a:xfrm>
          <a:prstGeom prst="rect">
            <a:avLst/>
          </a:prstGeom>
          <a:noFill/>
          <a:ln/>
        </p:spPr>
        <p:txBody>
          <a:bodyPr wrap="square" lIns="25400" tIns="25400" rIns="25400" bIns="25400" rtlCol="0" anchor="t">
            <a:normAutofit/>
          </a:bodyPr>
          <a:lstStyle/>
          <a:p>
            <a:pPr algn="l" indent="0" marL="0">
              <a:lnSpc>
                <a:spcPct val="136400"/>
              </a:lnSpc>
              <a:buNone/>
            </a:pPr>
            <a:r>
              <a:rPr lang="en-US" sz="1650" dirty="0">
                <a:solidFill>
                  <a:srgbClr val="416180"/>
                </a:solidFill>
                <a:latin typeface="Courier New" pitchFamily="34" charset="0"/>
                <a:ea typeface="Courier New" pitchFamily="34" charset="-122"/>
                <a:cs typeface="Courier New" pitchFamily="34" charset="-120"/>
              </a:rPr>
              <a:t>02</a:t>
            </a:r>
            <a:endParaRPr lang="en-US" sz="1650" dirty="0"/>
          </a:p>
        </p:txBody>
      </p:sp>
      <p:sp>
        <p:nvSpPr>
          <p:cNvPr id="43" name="Text 40"/>
          <p:cNvSpPr/>
          <p:nvPr/>
        </p:nvSpPr>
        <p:spPr>
          <a:xfrm>
            <a:off x="6138788" y="5638800"/>
            <a:ext cx="8125383" cy="599108"/>
          </a:xfrm>
          <a:prstGeom prst="rect">
            <a:avLst/>
          </a:prstGeom>
          <a:noFill/>
          <a:ln/>
        </p:spPr>
        <p:txBody>
          <a:bodyPr wrap="square" lIns="25400" tIns="25400" rIns="25400" bIns="25400" rtlCol="0" anchor="t">
            <a:normAutofit/>
          </a:bodyPr>
          <a:lstStyle/>
          <a:p>
            <a:pPr algn="l" indent="0" marL="0">
              <a:lnSpc>
                <a:spcPct val="129451"/>
              </a:lnSpc>
              <a:buNone/>
            </a:pPr>
            <a:r>
              <a:rPr lang="en-US" sz="2850" b="1" dirty="0">
                <a:solidFill>
                  <a:srgbClr val="1D1F20"/>
                </a:solidFill>
                <a:latin typeface="Barlow Condensed" pitchFamily="34" charset="0"/>
                <a:ea typeface="Barlow Condensed" pitchFamily="34" charset="-122"/>
                <a:cs typeface="Barlow Condensed" pitchFamily="34" charset="-120"/>
              </a:rPr>
              <a:t>Sync tap as UI, not tooltip</a:t>
            </a:r>
            <a:endParaRPr lang="en-US" sz="2850" dirty="0"/>
          </a:p>
        </p:txBody>
      </p:sp>
      <p:sp>
        <p:nvSpPr>
          <p:cNvPr id="44" name="Text 41"/>
          <p:cNvSpPr/>
          <p:nvPr/>
        </p:nvSpPr>
        <p:spPr>
          <a:xfrm>
            <a:off x="6138788" y="6199808"/>
            <a:ext cx="7608313" cy="1156767"/>
          </a:xfrm>
          <a:prstGeom prst="rect">
            <a:avLst/>
          </a:prstGeom>
          <a:noFill/>
          <a:ln/>
        </p:spPr>
        <p:txBody>
          <a:bodyPr wrap="square" lIns="25400" tIns="25400" rIns="25400" bIns="25400" rtlCol="0" anchor="t">
            <a:normAutofit/>
          </a:bodyPr>
          <a:lstStyle/>
          <a:p>
            <a:pPr algn="l" indent="0" marL="0">
              <a:lnSpc>
                <a:spcPct val="120462"/>
              </a:lnSpc>
              <a:buNone/>
            </a:pPr>
            <a:r>
              <a:rPr lang="en-US" sz="2025" dirty="0">
                <a:solidFill>
                  <a:srgbClr val="424244"/>
                </a:solidFill>
                <a:latin typeface="Barlow" pitchFamily="34" charset="0"/>
                <a:ea typeface="Barlow" pitchFamily="34" charset="-122"/>
                <a:cs typeface="Barlow" pitchFamily="34" charset="-120"/>
              </a:rPr>
              <a:t>Left–right timing lives in the 20–50 ms range — the same order as BLE jitter. The tap is what turns sync from an assumption into a measurement.</a:t>
            </a:r>
            <a:endParaRPr lang="en-US" sz="2025" dirty="0"/>
          </a:p>
        </p:txBody>
      </p:sp>
      <p:sp>
        <p:nvSpPr>
          <p:cNvPr id="45" name="Text 42"/>
          <p:cNvSpPr/>
          <p:nvPr/>
        </p:nvSpPr>
        <p:spPr>
          <a:xfrm>
            <a:off x="5715000" y="7623274"/>
            <a:ext cx="328538" cy="1287735"/>
          </a:xfrm>
          <a:prstGeom prst="rect">
            <a:avLst/>
          </a:prstGeom>
          <a:noFill/>
          <a:ln/>
        </p:spPr>
        <p:txBody>
          <a:bodyPr wrap="square" lIns="25400" tIns="25400" rIns="25400" bIns="25400" rtlCol="0" anchor="t">
            <a:normAutofit/>
          </a:bodyPr>
          <a:lstStyle/>
          <a:p>
            <a:pPr algn="l" indent="0" marL="0">
              <a:lnSpc>
                <a:spcPct val="136400"/>
              </a:lnSpc>
              <a:buNone/>
            </a:pPr>
            <a:r>
              <a:rPr lang="en-US" sz="1650" dirty="0">
                <a:solidFill>
                  <a:srgbClr val="416180"/>
                </a:solidFill>
                <a:latin typeface="Courier New" pitchFamily="34" charset="0"/>
                <a:ea typeface="Courier New" pitchFamily="34" charset="-122"/>
                <a:cs typeface="Courier New" pitchFamily="34" charset="-120"/>
              </a:rPr>
              <a:t>03</a:t>
            </a:r>
            <a:endParaRPr lang="en-US" sz="1650" dirty="0"/>
          </a:p>
        </p:txBody>
      </p:sp>
      <p:sp>
        <p:nvSpPr>
          <p:cNvPr id="46" name="Text 43"/>
          <p:cNvSpPr/>
          <p:nvPr/>
        </p:nvSpPr>
        <p:spPr>
          <a:xfrm>
            <a:off x="6138788" y="7566124"/>
            <a:ext cx="8125383" cy="599108"/>
          </a:xfrm>
          <a:prstGeom prst="rect">
            <a:avLst/>
          </a:prstGeom>
          <a:noFill/>
          <a:ln/>
        </p:spPr>
        <p:txBody>
          <a:bodyPr wrap="square" lIns="25400" tIns="25400" rIns="25400" bIns="25400" rtlCol="0" anchor="t">
            <a:normAutofit/>
          </a:bodyPr>
          <a:lstStyle/>
          <a:p>
            <a:pPr algn="l" indent="0" marL="0">
              <a:lnSpc>
                <a:spcPct val="129451"/>
              </a:lnSpc>
              <a:buNone/>
            </a:pPr>
            <a:r>
              <a:rPr lang="en-US" sz="2850" b="1" dirty="0">
                <a:solidFill>
                  <a:srgbClr val="1D1F20"/>
                </a:solidFill>
                <a:latin typeface="Barlow Condensed" pitchFamily="34" charset="0"/>
                <a:ea typeface="Barlow Condensed" pitchFamily="34" charset="-122"/>
                <a:cs typeface="Barlow Condensed" pitchFamily="34" charset="-120"/>
              </a:rPr>
              <a:t>State never rides on colour alone</a:t>
            </a:r>
            <a:endParaRPr lang="en-US" sz="2850" dirty="0"/>
          </a:p>
        </p:txBody>
      </p:sp>
      <p:sp>
        <p:nvSpPr>
          <p:cNvPr id="47" name="Text 44"/>
          <p:cNvSpPr/>
          <p:nvPr/>
        </p:nvSpPr>
        <p:spPr>
          <a:xfrm>
            <a:off x="6138788" y="8127132"/>
            <a:ext cx="7608313" cy="783878"/>
          </a:xfrm>
          <a:prstGeom prst="rect">
            <a:avLst/>
          </a:prstGeom>
          <a:noFill/>
          <a:ln/>
        </p:spPr>
        <p:txBody>
          <a:bodyPr wrap="square" lIns="25400" tIns="25400" rIns="25400" bIns="25400" rtlCol="0" anchor="t">
            <a:normAutofit/>
          </a:bodyPr>
          <a:lstStyle/>
          <a:p>
            <a:pPr algn="l" indent="0" marL="0">
              <a:lnSpc>
                <a:spcPct val="120462"/>
              </a:lnSpc>
              <a:buNone/>
            </a:pPr>
            <a:r>
              <a:rPr lang="en-US" sz="2025" dirty="0">
                <a:solidFill>
                  <a:srgbClr val="424244"/>
                </a:solidFill>
                <a:latin typeface="Barlow" pitchFamily="34" charset="0"/>
                <a:ea typeface="Barlow" pitchFamily="34" charset="-122"/>
                <a:cs typeface="Barlow" pitchFamily="34" charset="-120"/>
              </a:rPr>
              <a:t>Every status dot has a text partner: “streaming 52 Hz”, “connecting…”.</a:t>
            </a:r>
            <a:endParaRPr lang="en-US" sz="20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143000" y="2041699"/>
            <a:ext cx="12782550" cy="392385"/>
          </a:xfrm>
          <a:prstGeom prst="rect">
            <a:avLst/>
          </a:prstGeom>
          <a:noFill/>
          <a:ln/>
        </p:spPr>
        <p:txBody>
          <a:bodyPr wrap="square" lIns="25400" tIns="25400" rIns="25400" bIns="25400" rtlCol="0" anchor="t">
            <a:normAutofit/>
          </a:bodyPr>
          <a:lstStyle/>
          <a:p>
            <a:pPr algn="l" indent="0" marL="0">
              <a:lnSpc>
                <a:spcPct val="128276"/>
              </a:lnSpc>
              <a:buNone/>
            </a:pPr>
            <a:r>
              <a:rPr lang="en-US" sz="1800" b="1" spc="252" kern="0" dirty="0">
                <a:solidFill>
                  <a:srgbClr val="416180"/>
                </a:solidFill>
                <a:latin typeface="Barlow Condensed" pitchFamily="34" charset="0"/>
                <a:ea typeface="Barlow Condensed" pitchFamily="34" charset="-122"/>
                <a:cs typeface="Barlow Condensed" pitchFamily="34" charset="-120"/>
              </a:rPr>
              <a:t>04 · A3 CALIBRATION</a:t>
            </a:r>
            <a:endParaRPr lang="en-US" sz="1800" dirty="0"/>
          </a:p>
        </p:txBody>
      </p:sp>
      <p:sp>
        <p:nvSpPr>
          <p:cNvPr id="3" name="Text 1"/>
          <p:cNvSpPr/>
          <p:nvPr/>
        </p:nvSpPr>
        <p:spPr>
          <a:xfrm>
            <a:off x="1143000" y="2529334"/>
            <a:ext cx="12782550" cy="771525"/>
          </a:xfrm>
          <a:prstGeom prst="rect">
            <a:avLst/>
          </a:prstGeom>
          <a:noFill/>
          <a:ln/>
        </p:spPr>
        <p:txBody>
          <a:bodyPr wrap="square" lIns="25400" tIns="25400" rIns="25400" bIns="25400" rtlCol="0" anchor="t">
            <a:normAutofit/>
          </a:bodyPr>
          <a:lstStyle/>
          <a:p>
            <a:pPr algn="l" indent="0" marL="0">
              <a:lnSpc>
                <a:spcPct val="91667"/>
              </a:lnSpc>
              <a:buNone/>
            </a:pPr>
            <a:r>
              <a:rPr lang="en-US" sz="5250" b="1" dirty="0">
                <a:solidFill>
                  <a:srgbClr val="1D1F20"/>
                </a:solidFill>
                <a:latin typeface="Barlow Condensed" pitchFamily="34" charset="0"/>
                <a:ea typeface="Barlow Condensed" pitchFamily="34" charset="-122"/>
                <a:cs typeface="Barlow Condensed" pitchFamily="34" charset="-120"/>
              </a:rPr>
              <a:t>A near-miss, not a rejection</a:t>
            </a:r>
            <a:endParaRPr lang="en-US" sz="5250" dirty="0"/>
          </a:p>
        </p:txBody>
      </p:sp>
      <p:sp>
        <p:nvSpPr>
          <p:cNvPr id="4" name="Text 2"/>
          <p:cNvSpPr/>
          <p:nvPr/>
        </p:nvSpPr>
        <p:spPr>
          <a:xfrm>
            <a:off x="1143000" y="3548509"/>
            <a:ext cx="7456170" cy="2181225"/>
          </a:xfrm>
          <a:prstGeom prst="rect">
            <a:avLst/>
          </a:prstGeom>
          <a:noFill/>
          <a:ln/>
        </p:spPr>
        <p:txBody>
          <a:bodyPr wrap="square" lIns="25400" tIns="25400" rIns="25400" bIns="25400" rtlCol="0" anchor="t">
            <a:normAutofit/>
          </a:bodyPr>
          <a:lstStyle/>
          <a:p>
            <a:pPr algn="l" indent="0" marL="0">
              <a:lnSpc>
                <a:spcPct val="125000"/>
              </a:lnSpc>
              <a:buNone/>
            </a:pPr>
            <a:r>
              <a:rPr lang="en-US" sz="2250" dirty="0">
                <a:solidFill>
                  <a:srgbClr val="424244"/>
                </a:solidFill>
                <a:latin typeface="Barlow" pitchFamily="34" charset="0"/>
                <a:ea typeface="Barlow" pitchFamily="34" charset="-122"/>
                <a:cs typeface="Barlow" pitchFamily="34" charset="-120"/>
              </a:rPr>
              <a:t>Calibration failure is the highest-frequency friction point in the product, so its screen shows the gate it is measuring against — 74% against a gate of 80% — names the sensor rather than the abstraction, and offers the placement clip for that exact site.</a:t>
            </a:r>
            <a:endParaRPr lang="en-US" sz="2250" dirty="0"/>
          </a:p>
        </p:txBody>
      </p:sp>
      <p:sp>
        <p:nvSpPr>
          <p:cNvPr id="5" name="Shape 3"/>
          <p:cNvSpPr/>
          <p:nvPr/>
        </p:nvSpPr>
        <p:spPr>
          <a:xfrm>
            <a:off x="1143000" y="6072634"/>
            <a:ext cx="7239000" cy="2172593"/>
          </a:xfrm>
          <a:prstGeom prst="rect">
            <a:avLst/>
          </a:prstGeom>
          <a:ln w="9525">
            <a:solidFill>
              <a:srgbClr val="1F1F1F">
                <a:alpha val="16000"/>
              </a:srgbClr>
            </a:solidFill>
            <a:prstDash val="solid"/>
          </a:ln>
        </p:spPr>
      </p:sp>
      <p:sp>
        <p:nvSpPr>
          <p:cNvPr id="6" name="Text 4"/>
          <p:cNvSpPr/>
          <p:nvPr/>
        </p:nvSpPr>
        <p:spPr>
          <a:xfrm>
            <a:off x="1419225" y="6348859"/>
            <a:ext cx="7355205" cy="362843"/>
          </a:xfrm>
          <a:prstGeom prst="rect">
            <a:avLst/>
          </a:prstGeom>
          <a:noFill/>
          <a:ln/>
        </p:spPr>
        <p:txBody>
          <a:bodyPr wrap="square" lIns="25400" tIns="25400" rIns="25400" bIns="25400" rtlCol="0" anchor="t">
            <a:normAutofit/>
          </a:bodyPr>
          <a:lstStyle/>
          <a:p>
            <a:pPr algn="l" indent="0" marL="0">
              <a:lnSpc>
                <a:spcPct val="128679"/>
              </a:lnSpc>
              <a:buNone/>
            </a:pPr>
            <a:r>
              <a:rPr lang="en-US" sz="1650" b="1" spc="231" kern="0" dirty="0">
                <a:solidFill>
                  <a:srgbClr val="5D5D60"/>
                </a:solidFill>
                <a:latin typeface="Barlow" pitchFamily="34" charset="0"/>
                <a:ea typeface="Barlow" pitchFamily="34" charset="-122"/>
                <a:cs typeface="Barlow" pitchFamily="34" charset="-120"/>
              </a:rPr>
              <a:t>STEP 3 PASS CRITERIA</a:t>
            </a:r>
            <a:endParaRPr lang="en-US" sz="1650" dirty="0"/>
          </a:p>
        </p:txBody>
      </p:sp>
      <p:sp>
        <p:nvSpPr>
          <p:cNvPr id="7" name="Text 5"/>
          <p:cNvSpPr/>
          <p:nvPr/>
        </p:nvSpPr>
        <p:spPr>
          <a:xfrm>
            <a:off x="1419225" y="6768852"/>
            <a:ext cx="6887147" cy="1238250"/>
          </a:xfrm>
          <a:prstGeom prst="rect">
            <a:avLst/>
          </a:prstGeom>
          <a:noFill/>
          <a:ln/>
        </p:spPr>
        <p:txBody>
          <a:bodyPr wrap="square" lIns="25400" tIns="25400" rIns="25400" bIns="25400" rtlCol="0" anchor="t">
            <a:normAutofit/>
          </a:bodyPr>
          <a:lstStyle/>
          <a:p>
            <a:pPr algn="l" indent="0" marL="0">
              <a:lnSpc>
                <a:spcPct val="125373"/>
              </a:lnSpc>
              <a:buNone/>
            </a:pPr>
            <a:r>
              <a:rPr lang="en-US" sz="2100" dirty="0">
                <a:solidFill>
                  <a:srgbClr val="1D1F20"/>
                </a:solidFill>
                <a:latin typeface="Barlow" pitchFamily="34" charset="0"/>
                <a:ea typeface="Barlow" pitchFamily="34" charset="-122"/>
                <a:cs typeface="Barlow" pitchFamily="34" charset="-120"/>
              </a:rPr>
              <a:t>PC1 explains &gt; 80% of angular-velocity variance </a:t>
            </a:r>
            <a:pPr algn="l" indent="0" marL="0">
              <a:lnSpc>
                <a:spcPct val="125373"/>
              </a:lnSpc>
              <a:buNone/>
            </a:pPr>
            <a:r>
              <a:rPr lang="en-US" sz="2100" b="1" dirty="0">
                <a:solidFill>
                  <a:srgbClr val="1D1F20"/>
                </a:solidFill>
                <a:latin typeface="Barlow" pitchFamily="34" charset="0"/>
                <a:ea typeface="Barlow" pitchFamily="34" charset="-122"/>
                <a:cs typeface="Barlow" pitchFamily="34" charset="-120"/>
              </a:rPr>
              <a:t>and </a:t>
            </a:r>
            <a:pPr algn="l" indent="0" marL="0">
              <a:lnSpc>
                <a:spcPct val="125373"/>
              </a:lnSpc>
              <a:buNone/>
            </a:pPr>
            <a:r>
              <a:rPr lang="en-US" sz="2100" dirty="0">
                <a:solidFill>
                  <a:srgbClr val="1D1F20"/>
                </a:solidFill>
                <a:latin typeface="Barlow" pitchFamily="34" charset="0"/>
                <a:ea typeface="Barlow" pitchFamily="34" charset="-122"/>
                <a:cs typeface="Barlow" pitchFamily="34" charset="-120"/>
              </a:rPr>
              <a:t>the medio-lateral axis lies within 30° of perpendicular to the segment's long axis.</a:t>
            </a:r>
            <a:endParaRPr lang="en-US" sz="2100" dirty="0"/>
          </a:p>
        </p:txBody>
      </p:sp>
      <p:sp>
        <p:nvSpPr>
          <p:cNvPr id="8" name="Shape 6"/>
          <p:cNvSpPr/>
          <p:nvPr/>
        </p:nvSpPr>
        <p:spPr>
          <a:xfrm>
            <a:off x="13337381" y="922973"/>
            <a:ext cx="3900488" cy="8441055"/>
          </a:xfrm>
          <a:prstGeom prst="rect">
            <a:avLst/>
          </a:prstGeom>
          <a:solidFill>
            <a:srgbClr val="FFFFFF"/>
          </a:solidFill>
          <a:ln w="10001">
            <a:solidFill>
              <a:srgbClr val="1F1F1F">
                <a:alpha val="16000"/>
              </a:srgbClr>
            </a:solidFill>
            <a:prstDash val="solid"/>
          </a:ln>
        </p:spPr>
      </p:sp>
      <p:sp>
        <p:nvSpPr>
          <p:cNvPr id="9" name="Shape 7"/>
          <p:cNvSpPr/>
          <p:nvPr/>
        </p:nvSpPr>
        <p:spPr>
          <a:xfrm>
            <a:off x="13347383" y="1492028"/>
            <a:ext cx="3880484" cy="10001"/>
          </a:xfrm>
          <a:prstGeom prst="rect">
            <a:avLst/>
          </a:prstGeom>
          <a:solidFill>
            <a:srgbClr val="1D1F20">
              <a:alpha val="16000"/>
            </a:srgbClr>
          </a:solidFill>
          <a:ln/>
        </p:spPr>
      </p:sp>
      <p:sp>
        <p:nvSpPr>
          <p:cNvPr id="10" name="Text 8"/>
          <p:cNvSpPr/>
          <p:nvPr/>
        </p:nvSpPr>
        <p:spPr>
          <a:xfrm>
            <a:off x="13527405" y="1092994"/>
            <a:ext cx="141599" cy="317119"/>
          </a:xfrm>
          <a:prstGeom prst="rect">
            <a:avLst/>
          </a:prstGeom>
          <a:noFill/>
          <a:ln/>
        </p:spPr>
        <p:txBody>
          <a:bodyPr wrap="square" lIns="25400" tIns="25400" rIns="25400" bIns="25400" rtlCol="0" anchor="t">
            <a:normAutofit/>
          </a:bodyPr>
          <a:lstStyle/>
          <a:p>
            <a:pPr algn="l" indent="0" marL="0">
              <a:lnSpc>
                <a:spcPct val="129767"/>
              </a:lnSpc>
              <a:buNone/>
            </a:pPr>
            <a:r>
              <a:rPr lang="en-US" sz="1418" dirty="0">
                <a:solidFill>
                  <a:srgbClr val="1D1F20"/>
                </a:solidFill>
                <a:latin typeface="Barlow" pitchFamily="34" charset="0"/>
                <a:ea typeface="Barlow" pitchFamily="34" charset="-122"/>
                <a:cs typeface="Barlow" pitchFamily="34" charset="-120"/>
              </a:rPr>
              <a:t>‹</a:t>
            </a:r>
            <a:endParaRPr lang="en-US" sz="1418" dirty="0"/>
          </a:p>
        </p:txBody>
      </p:sp>
      <p:sp>
        <p:nvSpPr>
          <p:cNvPr id="11" name="Text 9"/>
          <p:cNvSpPr/>
          <p:nvPr/>
        </p:nvSpPr>
        <p:spPr>
          <a:xfrm>
            <a:off x="13692817" y="1092994"/>
            <a:ext cx="890286" cy="317119"/>
          </a:xfrm>
          <a:prstGeom prst="rect">
            <a:avLst/>
          </a:prstGeom>
          <a:noFill/>
          <a:ln/>
        </p:spPr>
        <p:txBody>
          <a:bodyPr wrap="square" lIns="25400" tIns="25400" rIns="25400" bIns="25400" rtlCol="0" anchor="t">
            <a:normAutofit/>
          </a:bodyPr>
          <a:lstStyle/>
          <a:p>
            <a:pPr algn="l" indent="0" marL="0">
              <a:lnSpc>
                <a:spcPct val="129767"/>
              </a:lnSpc>
              <a:buNone/>
            </a:pPr>
            <a:r>
              <a:rPr lang="en-US" sz="1418" b="1" dirty="0">
                <a:solidFill>
                  <a:srgbClr val="1D1F20"/>
                </a:solidFill>
                <a:latin typeface="Barlow Condensed" pitchFamily="34" charset="0"/>
                <a:ea typeface="Barlow Condensed" pitchFamily="34" charset="-122"/>
                <a:cs typeface="Barlow Condensed" pitchFamily="34" charset="-120"/>
              </a:rPr>
              <a:t>CALIBRATION</a:t>
            </a:r>
            <a:endParaRPr lang="en-US" sz="1418" dirty="0"/>
          </a:p>
        </p:txBody>
      </p:sp>
      <p:sp>
        <p:nvSpPr>
          <p:cNvPr id="12" name="Text 10"/>
          <p:cNvSpPr/>
          <p:nvPr/>
        </p:nvSpPr>
        <p:spPr>
          <a:xfrm>
            <a:off x="16353305" y="1147220"/>
            <a:ext cx="770740" cy="208590"/>
          </a:xfrm>
          <a:prstGeom prst="rect">
            <a:avLst/>
          </a:prstGeom>
          <a:noFill/>
          <a:ln/>
        </p:spPr>
        <p:txBody>
          <a:bodyPr wrap="square" lIns="25400" tIns="25400" rIns="25400" bIns="25400" rtlCol="0" anchor="t">
            <a:normAutofit/>
          </a:bodyPr>
          <a:lstStyle/>
          <a:p>
            <a:pPr algn="l" indent="0" marL="0">
              <a:lnSpc>
                <a:spcPct val="131154"/>
              </a:lnSpc>
              <a:buNone/>
            </a:pPr>
            <a:r>
              <a:rPr lang="en-US" sz="866" b="1" spc="87" kern="0" dirty="0">
                <a:solidFill>
                  <a:srgbClr val="7A7A7D"/>
                </a:solidFill>
                <a:latin typeface="Barlow" pitchFamily="34" charset="0"/>
                <a:ea typeface="Barlow" pitchFamily="34" charset="-122"/>
                <a:cs typeface="Barlow" pitchFamily="34" charset="-120"/>
              </a:rPr>
              <a:t>STEP 3 OF 5</a:t>
            </a:r>
            <a:endParaRPr lang="en-US" sz="866" dirty="0"/>
          </a:p>
        </p:txBody>
      </p:sp>
      <p:sp>
        <p:nvSpPr>
          <p:cNvPr id="13" name="Shape 11"/>
          <p:cNvSpPr/>
          <p:nvPr/>
        </p:nvSpPr>
        <p:spPr>
          <a:xfrm>
            <a:off x="13527405" y="1662049"/>
            <a:ext cx="664068" cy="70009"/>
          </a:xfrm>
          <a:prstGeom prst="rect">
            <a:avLst/>
          </a:prstGeom>
          <a:solidFill>
            <a:srgbClr val="4F7D5C"/>
          </a:solidFill>
          <a:ln/>
        </p:spPr>
      </p:sp>
      <p:sp>
        <p:nvSpPr>
          <p:cNvPr id="14" name="Shape 12"/>
          <p:cNvSpPr/>
          <p:nvPr/>
        </p:nvSpPr>
        <p:spPr>
          <a:xfrm>
            <a:off x="14241478" y="1662049"/>
            <a:ext cx="664068" cy="70009"/>
          </a:xfrm>
          <a:prstGeom prst="rect">
            <a:avLst/>
          </a:prstGeom>
          <a:solidFill>
            <a:srgbClr val="4F7D5C"/>
          </a:solidFill>
          <a:ln/>
        </p:spPr>
      </p:sp>
      <p:sp>
        <p:nvSpPr>
          <p:cNvPr id="15" name="Shape 13"/>
          <p:cNvSpPr/>
          <p:nvPr/>
        </p:nvSpPr>
        <p:spPr>
          <a:xfrm>
            <a:off x="14955552" y="1662049"/>
            <a:ext cx="664068" cy="70009"/>
          </a:xfrm>
          <a:prstGeom prst="rect">
            <a:avLst/>
          </a:prstGeom>
          <a:solidFill>
            <a:srgbClr val="C0564B"/>
          </a:solidFill>
          <a:ln/>
        </p:spPr>
      </p:sp>
      <p:sp>
        <p:nvSpPr>
          <p:cNvPr id="16" name="Shape 14"/>
          <p:cNvSpPr/>
          <p:nvPr/>
        </p:nvSpPr>
        <p:spPr>
          <a:xfrm>
            <a:off x="15669626" y="1662049"/>
            <a:ext cx="664068" cy="70009"/>
          </a:xfrm>
          <a:prstGeom prst="rect">
            <a:avLst/>
          </a:prstGeom>
          <a:solidFill>
            <a:srgbClr val="D4D4D7"/>
          </a:solidFill>
          <a:ln/>
        </p:spPr>
      </p:sp>
      <p:sp>
        <p:nvSpPr>
          <p:cNvPr id="17" name="Shape 15"/>
          <p:cNvSpPr/>
          <p:nvPr/>
        </p:nvSpPr>
        <p:spPr>
          <a:xfrm>
            <a:off x="16383700" y="1662049"/>
            <a:ext cx="664146" cy="70009"/>
          </a:xfrm>
          <a:prstGeom prst="rect">
            <a:avLst/>
          </a:prstGeom>
          <a:solidFill>
            <a:srgbClr val="D4D4D7"/>
          </a:solidFill>
          <a:ln/>
        </p:spPr>
      </p:sp>
      <p:sp>
        <p:nvSpPr>
          <p:cNvPr id="18" name="Text 16"/>
          <p:cNvSpPr/>
          <p:nvPr/>
        </p:nvSpPr>
        <p:spPr>
          <a:xfrm>
            <a:off x="13527405" y="1792066"/>
            <a:ext cx="292946" cy="185306"/>
          </a:xfrm>
          <a:prstGeom prst="rect">
            <a:avLst/>
          </a:prstGeom>
          <a:noFill/>
          <a:ln/>
        </p:spPr>
        <p:txBody>
          <a:bodyPr wrap="square" lIns="25400" tIns="25400" rIns="25400" bIns="25400" rtlCol="0" anchor="t">
            <a:normAutofit/>
          </a:bodyPr>
          <a:lstStyle/>
          <a:p>
            <a:pPr algn="l" indent="0" marL="0">
              <a:lnSpc>
                <a:spcPct val="128043"/>
              </a:lnSpc>
              <a:buNone/>
            </a:pPr>
            <a:r>
              <a:rPr lang="en-US" sz="748" spc="45" kern="0" dirty="0">
                <a:solidFill>
                  <a:srgbClr val="7A7A7D"/>
                </a:solidFill>
                <a:latin typeface="Barlow" pitchFamily="34" charset="0"/>
                <a:ea typeface="Barlow" pitchFamily="34" charset="-122"/>
                <a:cs typeface="Barlow" pitchFamily="34" charset="-120"/>
              </a:rPr>
              <a:t>BIAS</a:t>
            </a:r>
            <a:endParaRPr lang="en-US" sz="748" dirty="0"/>
          </a:p>
        </p:txBody>
      </p:sp>
      <p:sp>
        <p:nvSpPr>
          <p:cNvPr id="19" name="Text 17"/>
          <p:cNvSpPr/>
          <p:nvPr/>
        </p:nvSpPr>
        <p:spPr>
          <a:xfrm>
            <a:off x="14241713" y="1792066"/>
            <a:ext cx="491174" cy="185306"/>
          </a:xfrm>
          <a:prstGeom prst="rect">
            <a:avLst/>
          </a:prstGeom>
          <a:noFill/>
          <a:ln/>
        </p:spPr>
        <p:txBody>
          <a:bodyPr wrap="square" lIns="25400" tIns="25400" rIns="25400" bIns="25400" rtlCol="0" anchor="t">
            <a:normAutofit/>
          </a:bodyPr>
          <a:lstStyle/>
          <a:p>
            <a:pPr algn="l" indent="0" marL="0">
              <a:lnSpc>
                <a:spcPct val="128043"/>
              </a:lnSpc>
              <a:buNone/>
            </a:pPr>
            <a:r>
              <a:rPr lang="en-US" sz="748" spc="45" kern="0" dirty="0">
                <a:solidFill>
                  <a:srgbClr val="7A7A7D"/>
                </a:solidFill>
                <a:latin typeface="Barlow" pitchFamily="34" charset="0"/>
                <a:ea typeface="Barlow" pitchFamily="34" charset="-122"/>
                <a:cs typeface="Barlow" pitchFamily="34" charset="-120"/>
              </a:rPr>
              <a:t>UPRIGHT</a:t>
            </a:r>
            <a:endParaRPr lang="en-US" sz="748" dirty="0"/>
          </a:p>
        </p:txBody>
      </p:sp>
      <p:sp>
        <p:nvSpPr>
          <p:cNvPr id="20" name="Text 18"/>
          <p:cNvSpPr/>
          <p:nvPr/>
        </p:nvSpPr>
        <p:spPr>
          <a:xfrm>
            <a:off x="15154249" y="1792066"/>
            <a:ext cx="324980" cy="185306"/>
          </a:xfrm>
          <a:prstGeom prst="rect">
            <a:avLst/>
          </a:prstGeom>
          <a:noFill/>
          <a:ln/>
        </p:spPr>
        <p:txBody>
          <a:bodyPr wrap="square" lIns="25400" tIns="25400" rIns="25400" bIns="25400" rtlCol="0" anchor="t">
            <a:normAutofit/>
          </a:bodyPr>
          <a:lstStyle/>
          <a:p>
            <a:pPr algn="l" indent="0" marL="0">
              <a:lnSpc>
                <a:spcPct val="128043"/>
              </a:lnSpc>
              <a:buNone/>
            </a:pPr>
            <a:r>
              <a:rPr lang="en-US" sz="748" spc="45" kern="0" dirty="0">
                <a:solidFill>
                  <a:srgbClr val="7A7A7D"/>
                </a:solidFill>
                <a:latin typeface="Barlow" pitchFamily="34" charset="0"/>
                <a:ea typeface="Barlow" pitchFamily="34" charset="-122"/>
                <a:cs typeface="Barlow" pitchFamily="34" charset="-120"/>
              </a:rPr>
              <a:t>AXES</a:t>
            </a:r>
            <a:endParaRPr lang="en-US" sz="748" dirty="0"/>
          </a:p>
        </p:txBody>
      </p:sp>
      <p:sp>
        <p:nvSpPr>
          <p:cNvPr id="21" name="Text 19"/>
          <p:cNvSpPr/>
          <p:nvPr/>
        </p:nvSpPr>
        <p:spPr>
          <a:xfrm>
            <a:off x="15900514" y="1792066"/>
            <a:ext cx="389052" cy="185306"/>
          </a:xfrm>
          <a:prstGeom prst="rect">
            <a:avLst/>
          </a:prstGeom>
          <a:noFill/>
          <a:ln/>
        </p:spPr>
        <p:txBody>
          <a:bodyPr wrap="square" lIns="25400" tIns="25400" rIns="25400" bIns="25400" rtlCol="0" anchor="t">
            <a:normAutofit/>
          </a:bodyPr>
          <a:lstStyle/>
          <a:p>
            <a:pPr algn="l" indent="0" marL="0">
              <a:lnSpc>
                <a:spcPct val="128043"/>
              </a:lnSpc>
              <a:buNone/>
            </a:pPr>
            <a:r>
              <a:rPr lang="en-US" sz="748" spc="45" kern="0" dirty="0">
                <a:solidFill>
                  <a:srgbClr val="7A7A7D"/>
                </a:solidFill>
                <a:latin typeface="Barlow" pitchFamily="34" charset="0"/>
                <a:ea typeface="Barlow" pitchFamily="34" charset="-122"/>
                <a:cs typeface="Barlow" pitchFamily="34" charset="-120"/>
              </a:rPr>
              <a:t>READY</a:t>
            </a:r>
            <a:endParaRPr lang="en-US" sz="748" dirty="0"/>
          </a:p>
        </p:txBody>
      </p:sp>
      <p:sp>
        <p:nvSpPr>
          <p:cNvPr id="22" name="Text 20"/>
          <p:cNvSpPr/>
          <p:nvPr/>
        </p:nvSpPr>
        <p:spPr>
          <a:xfrm>
            <a:off x="16710928" y="1792066"/>
            <a:ext cx="413118" cy="185306"/>
          </a:xfrm>
          <a:prstGeom prst="rect">
            <a:avLst/>
          </a:prstGeom>
          <a:noFill/>
          <a:ln/>
        </p:spPr>
        <p:txBody>
          <a:bodyPr wrap="square" lIns="25400" tIns="25400" rIns="25400" bIns="25400" rtlCol="0" anchor="t">
            <a:normAutofit/>
          </a:bodyPr>
          <a:lstStyle/>
          <a:p>
            <a:pPr algn="l" indent="0" marL="0">
              <a:lnSpc>
                <a:spcPct val="128043"/>
              </a:lnSpc>
              <a:buNone/>
            </a:pPr>
            <a:r>
              <a:rPr lang="en-US" sz="748" spc="45" kern="0" dirty="0">
                <a:solidFill>
                  <a:srgbClr val="7A7A7D"/>
                </a:solidFill>
                <a:latin typeface="Barlow" pitchFamily="34" charset="0"/>
                <a:ea typeface="Barlow" pitchFamily="34" charset="-122"/>
                <a:cs typeface="Barlow" pitchFamily="34" charset="-120"/>
              </a:rPr>
              <a:t>VERIFY</a:t>
            </a:r>
            <a:endParaRPr lang="en-US" sz="748" dirty="0"/>
          </a:p>
        </p:txBody>
      </p:sp>
      <p:sp>
        <p:nvSpPr>
          <p:cNvPr id="23" name="Text 21"/>
          <p:cNvSpPr/>
          <p:nvPr/>
        </p:nvSpPr>
        <p:spPr>
          <a:xfrm>
            <a:off x="13527405" y="2159299"/>
            <a:ext cx="3872485" cy="193119"/>
          </a:xfrm>
          <a:prstGeom prst="rect">
            <a:avLst/>
          </a:prstGeom>
          <a:noFill/>
          <a:ln/>
        </p:spPr>
        <p:txBody>
          <a:bodyPr wrap="square" lIns="25400" tIns="25400" rIns="25400" bIns="25400" rtlCol="0" anchor="t">
            <a:normAutofit/>
          </a:bodyPr>
          <a:lstStyle/>
          <a:p>
            <a:pPr algn="l" indent="0" marL="0">
              <a:lnSpc>
                <a:spcPct val="129167"/>
              </a:lnSpc>
              <a:buNone/>
            </a:pPr>
            <a:r>
              <a:rPr lang="en-US" sz="788" b="1" spc="126" kern="0" dirty="0">
                <a:solidFill>
                  <a:srgbClr val="9D443B"/>
                </a:solidFill>
                <a:latin typeface="Barlow" pitchFamily="34" charset="0"/>
                <a:ea typeface="Barlow" pitchFamily="34" charset="-122"/>
                <a:cs typeface="Barlow" pitchFamily="34" charset="-120"/>
              </a:rPr>
              <a:t>STEP 3 FAILED · FUNCTIONAL AXES</a:t>
            </a:r>
            <a:endParaRPr lang="en-US" sz="788" dirty="0"/>
          </a:p>
        </p:txBody>
      </p:sp>
      <p:sp>
        <p:nvSpPr>
          <p:cNvPr id="24" name="Text 22"/>
          <p:cNvSpPr/>
          <p:nvPr/>
        </p:nvSpPr>
        <p:spPr>
          <a:xfrm>
            <a:off x="13527405" y="2374326"/>
            <a:ext cx="3872485" cy="456590"/>
          </a:xfrm>
          <a:prstGeom prst="rect">
            <a:avLst/>
          </a:prstGeom>
          <a:noFill/>
          <a:ln/>
        </p:spPr>
        <p:txBody>
          <a:bodyPr wrap="square" lIns="25400" tIns="25400" rIns="25400" bIns="25400" rtlCol="0" anchor="t">
            <a:normAutofit/>
          </a:bodyPr>
          <a:lstStyle/>
          <a:p>
            <a:pPr algn="l" indent="0" marL="0">
              <a:lnSpc>
                <a:spcPct val="128769"/>
              </a:lnSpc>
              <a:buNone/>
            </a:pPr>
            <a:r>
              <a:rPr lang="en-US" sz="2126" b="1" dirty="0">
                <a:solidFill>
                  <a:srgbClr val="1D1F20"/>
                </a:solidFill>
                <a:latin typeface="Barlow Condensed" pitchFamily="34" charset="0"/>
                <a:ea typeface="Barlow Condensed" pitchFamily="34" charset="-122"/>
                <a:cs typeface="Barlow Condensed" pitchFamily="34" charset="-120"/>
              </a:rPr>
              <a:t>Right forearm — try again</a:t>
            </a:r>
            <a:endParaRPr lang="en-US" sz="2126" dirty="0"/>
          </a:p>
        </p:txBody>
      </p:sp>
      <p:sp>
        <p:nvSpPr>
          <p:cNvPr id="25" name="Text 23"/>
          <p:cNvSpPr/>
          <p:nvPr/>
        </p:nvSpPr>
        <p:spPr>
          <a:xfrm>
            <a:off x="13527405" y="2872826"/>
            <a:ext cx="3626054" cy="690681"/>
          </a:xfrm>
          <a:prstGeom prst="rect">
            <a:avLst/>
          </a:prstGeom>
          <a:noFill/>
          <a:ln/>
        </p:spPr>
        <p:txBody>
          <a:bodyPr wrap="square" lIns="25400" tIns="25400" rIns="25400" bIns="25400" rtlCol="0" anchor="t">
            <a:normAutofit/>
          </a:bodyPr>
          <a:lstStyle/>
          <a:p>
            <a:pPr algn="l" indent="0" marL="0">
              <a:lnSpc>
                <a:spcPct val="124286"/>
              </a:lnSpc>
              <a:buNone/>
            </a:pPr>
            <a:r>
              <a:rPr lang="en-US" sz="1142" dirty="0">
                <a:solidFill>
                  <a:srgbClr val="424244"/>
                </a:solidFill>
                <a:latin typeface="Barlow" pitchFamily="34" charset="0"/>
                <a:ea typeface="Barlow" pitchFamily="34" charset="-122"/>
                <a:cs typeface="Barlow" pitchFamily="34" charset="-120"/>
              </a:rPr>
              <a:t>The movement wasn't quite planar, or the strap may have rotated. Check the arrow points up the arm, then repeat with slower, fuller cycles.</a:t>
            </a:r>
            <a:endParaRPr lang="en-US" sz="1142" dirty="0"/>
          </a:p>
        </p:txBody>
      </p:sp>
      <p:sp>
        <p:nvSpPr>
          <p:cNvPr id="26" name="Shape 24"/>
          <p:cNvSpPr/>
          <p:nvPr/>
        </p:nvSpPr>
        <p:spPr>
          <a:xfrm>
            <a:off x="13527405" y="3725432"/>
            <a:ext cx="3520441" cy="1081073"/>
          </a:xfrm>
          <a:prstGeom prst="rect">
            <a:avLst/>
          </a:prstGeom>
          <a:ln w="10001">
            <a:solidFill>
              <a:srgbClr val="1F1F1F">
                <a:alpha val="16000"/>
              </a:srgbClr>
            </a:solidFill>
            <a:prstDash val="solid"/>
          </a:ln>
        </p:spPr>
      </p:sp>
      <p:sp>
        <p:nvSpPr>
          <p:cNvPr id="27" name="Text 25"/>
          <p:cNvSpPr/>
          <p:nvPr/>
        </p:nvSpPr>
        <p:spPr>
          <a:xfrm>
            <a:off x="13560409" y="3915456"/>
            <a:ext cx="3454431" cy="193119"/>
          </a:xfrm>
          <a:prstGeom prst="rect">
            <a:avLst/>
          </a:prstGeom>
          <a:noFill/>
          <a:ln/>
        </p:spPr>
        <p:txBody>
          <a:bodyPr wrap="square" lIns="25400" tIns="25400" rIns="25400" bIns="25400" rtlCol="0" anchor="t">
            <a:normAutofit/>
          </a:bodyPr>
          <a:lstStyle/>
          <a:p>
            <a:pPr algn="ctr" indent="0" marL="0">
              <a:lnSpc>
                <a:spcPct val="129167"/>
              </a:lnSpc>
              <a:buNone/>
            </a:pPr>
            <a:r>
              <a:rPr lang="en-US" sz="788" b="1" spc="110" kern="0" dirty="0">
                <a:solidFill>
                  <a:srgbClr val="7A7A7D"/>
                </a:solidFill>
                <a:latin typeface="Barlow" pitchFamily="34" charset="0"/>
                <a:ea typeface="Barlow" pitchFamily="34" charset="-122"/>
                <a:cs typeface="Barlow" pitchFamily="34" charset="-120"/>
              </a:rPr>
              <a:t>SLOW CYCLES RECORDED</a:t>
            </a:r>
            <a:endParaRPr lang="en-US" sz="788" dirty="0"/>
          </a:p>
        </p:txBody>
      </p:sp>
      <p:sp>
        <p:nvSpPr>
          <p:cNvPr id="28" name="Text 26"/>
          <p:cNvSpPr/>
          <p:nvPr/>
        </p:nvSpPr>
        <p:spPr>
          <a:xfrm>
            <a:off x="13560409" y="4070475"/>
            <a:ext cx="3454431" cy="584106"/>
          </a:xfrm>
          <a:prstGeom prst="rect">
            <a:avLst/>
          </a:prstGeom>
          <a:noFill/>
          <a:ln/>
        </p:spPr>
        <p:txBody>
          <a:bodyPr wrap="square" lIns="25400" tIns="25400" rIns="25400" bIns="25400" rtlCol="0" anchor="t">
            <a:normAutofit/>
          </a:bodyPr>
          <a:lstStyle/>
          <a:p>
            <a:pPr algn="ctr" indent="0" marL="0">
              <a:lnSpc>
                <a:spcPct val="87360"/>
              </a:lnSpc>
              <a:buNone/>
            </a:pPr>
            <a:r>
              <a:rPr lang="en-US" sz="4095" b="1" dirty="0">
                <a:solidFill>
                  <a:srgbClr val="1D1F20"/>
                </a:solidFill>
                <a:latin typeface="Barlow Condensed" pitchFamily="34" charset="0"/>
                <a:ea typeface="Barlow Condensed" pitchFamily="34" charset="-122"/>
                <a:cs typeface="Barlow Condensed" pitchFamily="34" charset="-120"/>
              </a:rPr>
              <a:t>6</a:t>
            </a:r>
            <a:pPr algn="ctr" indent="0" marL="0">
              <a:lnSpc>
                <a:spcPct val="87360"/>
              </a:lnSpc>
              <a:buNone/>
            </a:pPr>
            <a:r>
              <a:rPr lang="en-US" sz="1890" b="1" dirty="0">
                <a:solidFill>
                  <a:srgbClr val="98989B"/>
                </a:solidFill>
                <a:latin typeface="Barlow Condensed" pitchFamily="34" charset="0"/>
                <a:ea typeface="Barlow Condensed" pitchFamily="34" charset="-122"/>
                <a:cs typeface="Barlow Condensed" pitchFamily="34" charset="-120"/>
              </a:rPr>
              <a:t>/ 6</a:t>
            </a:r>
            <a:endParaRPr lang="en-US" sz="4095" dirty="0"/>
          </a:p>
        </p:txBody>
      </p:sp>
      <p:sp>
        <p:nvSpPr>
          <p:cNvPr id="29" name="Shape 27"/>
          <p:cNvSpPr/>
          <p:nvPr/>
        </p:nvSpPr>
        <p:spPr>
          <a:xfrm>
            <a:off x="13527405" y="5368059"/>
            <a:ext cx="3520441" cy="10001"/>
          </a:xfrm>
          <a:prstGeom prst="rect">
            <a:avLst/>
          </a:prstGeom>
          <a:solidFill>
            <a:srgbClr val="1D1F20">
              <a:alpha val="16000"/>
            </a:srgbClr>
          </a:solidFill>
          <a:ln/>
        </p:spPr>
      </p:sp>
      <p:sp>
        <p:nvSpPr>
          <p:cNvPr id="30" name="Shape 28"/>
          <p:cNvSpPr/>
          <p:nvPr/>
        </p:nvSpPr>
        <p:spPr>
          <a:xfrm>
            <a:off x="13527405" y="5132248"/>
            <a:ext cx="90012" cy="90012"/>
          </a:xfrm>
          <a:prstGeom prst="rect">
            <a:avLst/>
          </a:prstGeom>
          <a:solidFill>
            <a:srgbClr val="4F7D5C"/>
          </a:solidFill>
          <a:ln/>
        </p:spPr>
      </p:sp>
      <p:sp>
        <p:nvSpPr>
          <p:cNvPr id="31" name="Text 29"/>
          <p:cNvSpPr/>
          <p:nvPr/>
        </p:nvSpPr>
        <p:spPr>
          <a:xfrm>
            <a:off x="13707427" y="5076539"/>
            <a:ext cx="2759541" cy="239609"/>
          </a:xfrm>
          <a:prstGeom prst="rect">
            <a:avLst/>
          </a:prstGeom>
          <a:noFill/>
          <a:ln/>
        </p:spPr>
        <p:txBody>
          <a:bodyPr wrap="square" lIns="25400" tIns="25400" rIns="25400" bIns="25400" rtlCol="0" anchor="t">
            <a:normAutofit/>
          </a:bodyPr>
          <a:lstStyle/>
          <a:p>
            <a:pPr algn="l" indent="0" marL="0">
              <a:lnSpc>
                <a:spcPct val="130000"/>
              </a:lnSpc>
              <a:buNone/>
            </a:pPr>
            <a:r>
              <a:rPr lang="en-US" sz="1024" dirty="0">
                <a:solidFill>
                  <a:srgbClr val="1D1F20"/>
                </a:solidFill>
                <a:latin typeface="Barlow" pitchFamily="34" charset="0"/>
                <a:ea typeface="Barlow" pitchFamily="34" charset="-122"/>
                <a:cs typeface="Barlow" pitchFamily="34" charset="-120"/>
              </a:rPr>
              <a:t>Gyro bias</a:t>
            </a:r>
            <a:endParaRPr lang="en-US" sz="1024" dirty="0"/>
          </a:p>
        </p:txBody>
      </p:sp>
      <p:sp>
        <p:nvSpPr>
          <p:cNvPr id="32" name="Text 30"/>
          <p:cNvSpPr/>
          <p:nvPr/>
        </p:nvSpPr>
        <p:spPr>
          <a:xfrm>
            <a:off x="16306112" y="5084274"/>
            <a:ext cx="457029" cy="224061"/>
          </a:xfrm>
          <a:prstGeom prst="rect">
            <a:avLst/>
          </a:prstGeom>
          <a:noFill/>
          <a:ln/>
        </p:spPr>
        <p:txBody>
          <a:bodyPr wrap="square" lIns="25400" tIns="25400" rIns="25400" bIns="25400" rtlCol="0" anchor="t">
            <a:normAutofit/>
          </a:bodyPr>
          <a:lstStyle/>
          <a:p>
            <a:pPr algn="l" indent="0" marL="0">
              <a:lnSpc>
                <a:spcPct val="128276"/>
              </a:lnSpc>
              <a:buNone/>
            </a:pPr>
            <a:r>
              <a:rPr lang="en-US" sz="945" dirty="0">
                <a:solidFill>
                  <a:srgbClr val="5D5D60"/>
                </a:solidFill>
                <a:latin typeface="Barlow" pitchFamily="34" charset="0"/>
                <a:ea typeface="Barlow" pitchFamily="34" charset="-122"/>
                <a:cs typeface="Barlow" pitchFamily="34" charset="-120"/>
              </a:rPr>
              <a:t>0.4 dps</a:t>
            </a:r>
            <a:endParaRPr lang="en-US" sz="945" dirty="0"/>
          </a:p>
        </p:txBody>
      </p:sp>
      <p:sp>
        <p:nvSpPr>
          <p:cNvPr id="33" name="Text 31"/>
          <p:cNvSpPr/>
          <p:nvPr/>
        </p:nvSpPr>
        <p:spPr>
          <a:xfrm>
            <a:off x="16776952" y="5099745"/>
            <a:ext cx="347094" cy="193120"/>
          </a:xfrm>
          <a:prstGeom prst="rect">
            <a:avLst/>
          </a:prstGeom>
          <a:noFill/>
          <a:ln/>
        </p:spPr>
        <p:txBody>
          <a:bodyPr wrap="square" lIns="25400" tIns="25400" rIns="25400" bIns="25400" rtlCol="0" anchor="t">
            <a:normAutofit/>
          </a:bodyPr>
          <a:lstStyle/>
          <a:p>
            <a:pPr algn="l" indent="0" marL="0">
              <a:lnSpc>
                <a:spcPct val="129167"/>
              </a:lnSpc>
              <a:buNone/>
            </a:pPr>
            <a:r>
              <a:rPr lang="en-US" sz="788" spc="79" kern="0" dirty="0">
                <a:solidFill>
                  <a:srgbClr val="3D6B4C"/>
                </a:solidFill>
                <a:latin typeface="Barlow" pitchFamily="34" charset="0"/>
                <a:ea typeface="Barlow" pitchFamily="34" charset="-122"/>
                <a:cs typeface="Barlow" pitchFamily="34" charset="-120"/>
              </a:rPr>
              <a:t>PASS</a:t>
            </a:r>
            <a:endParaRPr lang="en-US" sz="788" dirty="0"/>
          </a:p>
        </p:txBody>
      </p:sp>
      <p:sp>
        <p:nvSpPr>
          <p:cNvPr id="34" name="Shape 32"/>
          <p:cNvSpPr/>
          <p:nvPr/>
        </p:nvSpPr>
        <p:spPr>
          <a:xfrm>
            <a:off x="13527405" y="5759593"/>
            <a:ext cx="3520441" cy="10001"/>
          </a:xfrm>
          <a:prstGeom prst="rect">
            <a:avLst/>
          </a:prstGeom>
          <a:solidFill>
            <a:srgbClr val="1D1F20">
              <a:alpha val="16000"/>
            </a:srgbClr>
          </a:solidFill>
          <a:ln/>
        </p:spPr>
      </p:sp>
      <p:sp>
        <p:nvSpPr>
          <p:cNvPr id="35" name="Shape 33"/>
          <p:cNvSpPr/>
          <p:nvPr/>
        </p:nvSpPr>
        <p:spPr>
          <a:xfrm>
            <a:off x="13527405" y="5523782"/>
            <a:ext cx="90012" cy="90011"/>
          </a:xfrm>
          <a:prstGeom prst="rect">
            <a:avLst/>
          </a:prstGeom>
          <a:solidFill>
            <a:srgbClr val="4F7D5C"/>
          </a:solidFill>
          <a:ln/>
        </p:spPr>
      </p:sp>
      <p:sp>
        <p:nvSpPr>
          <p:cNvPr id="36" name="Text 34"/>
          <p:cNvSpPr/>
          <p:nvPr/>
        </p:nvSpPr>
        <p:spPr>
          <a:xfrm>
            <a:off x="13707427" y="5468072"/>
            <a:ext cx="2952666" cy="239609"/>
          </a:xfrm>
          <a:prstGeom prst="rect">
            <a:avLst/>
          </a:prstGeom>
          <a:noFill/>
          <a:ln/>
        </p:spPr>
        <p:txBody>
          <a:bodyPr wrap="square" lIns="25400" tIns="25400" rIns="25400" bIns="25400" rtlCol="0" anchor="t">
            <a:normAutofit/>
          </a:bodyPr>
          <a:lstStyle/>
          <a:p>
            <a:pPr algn="l" indent="0" marL="0">
              <a:lnSpc>
                <a:spcPct val="130000"/>
              </a:lnSpc>
              <a:buNone/>
            </a:pPr>
            <a:r>
              <a:rPr lang="en-US" sz="1024" dirty="0">
                <a:solidFill>
                  <a:srgbClr val="1D1F20"/>
                </a:solidFill>
                <a:latin typeface="Barlow" pitchFamily="34" charset="0"/>
                <a:ea typeface="Barlow" pitchFamily="34" charset="-122"/>
                <a:cs typeface="Barlow" pitchFamily="34" charset="-120"/>
              </a:rPr>
              <a:t>Upright pose</a:t>
            </a:r>
            <a:endParaRPr lang="en-US" sz="1024" dirty="0"/>
          </a:p>
        </p:txBody>
      </p:sp>
      <p:sp>
        <p:nvSpPr>
          <p:cNvPr id="37" name="Text 35"/>
          <p:cNvSpPr/>
          <p:nvPr/>
        </p:nvSpPr>
        <p:spPr>
          <a:xfrm>
            <a:off x="16481680" y="5475807"/>
            <a:ext cx="281461" cy="224061"/>
          </a:xfrm>
          <a:prstGeom prst="rect">
            <a:avLst/>
          </a:prstGeom>
          <a:noFill/>
          <a:ln/>
        </p:spPr>
        <p:txBody>
          <a:bodyPr wrap="square" lIns="25400" tIns="25400" rIns="25400" bIns="25400" rtlCol="0" anchor="t">
            <a:normAutofit/>
          </a:bodyPr>
          <a:lstStyle/>
          <a:p>
            <a:pPr algn="l" indent="0" marL="0">
              <a:lnSpc>
                <a:spcPct val="128276"/>
              </a:lnSpc>
              <a:buNone/>
            </a:pPr>
            <a:r>
              <a:rPr lang="en-US" sz="945" dirty="0">
                <a:solidFill>
                  <a:srgbClr val="5D5D60"/>
                </a:solidFill>
                <a:latin typeface="Barlow" pitchFamily="34" charset="0"/>
                <a:ea typeface="Barlow" pitchFamily="34" charset="-122"/>
                <a:cs typeface="Barlow" pitchFamily="34" charset="-120"/>
              </a:rPr>
              <a:t>6.2°</a:t>
            </a:r>
            <a:endParaRPr lang="en-US" sz="945" dirty="0"/>
          </a:p>
        </p:txBody>
      </p:sp>
      <p:sp>
        <p:nvSpPr>
          <p:cNvPr id="38" name="Text 36"/>
          <p:cNvSpPr/>
          <p:nvPr/>
        </p:nvSpPr>
        <p:spPr>
          <a:xfrm>
            <a:off x="16776952" y="5491278"/>
            <a:ext cx="347094" cy="193120"/>
          </a:xfrm>
          <a:prstGeom prst="rect">
            <a:avLst/>
          </a:prstGeom>
          <a:noFill/>
          <a:ln/>
        </p:spPr>
        <p:txBody>
          <a:bodyPr wrap="square" lIns="25400" tIns="25400" rIns="25400" bIns="25400" rtlCol="0" anchor="t">
            <a:normAutofit/>
          </a:bodyPr>
          <a:lstStyle/>
          <a:p>
            <a:pPr algn="l" indent="0" marL="0">
              <a:lnSpc>
                <a:spcPct val="129167"/>
              </a:lnSpc>
              <a:buNone/>
            </a:pPr>
            <a:r>
              <a:rPr lang="en-US" sz="788" spc="79" kern="0" dirty="0">
                <a:solidFill>
                  <a:srgbClr val="3D6B4C"/>
                </a:solidFill>
                <a:latin typeface="Barlow" pitchFamily="34" charset="0"/>
                <a:ea typeface="Barlow" pitchFamily="34" charset="-122"/>
                <a:cs typeface="Barlow" pitchFamily="34" charset="-120"/>
              </a:rPr>
              <a:t>PASS</a:t>
            </a:r>
            <a:endParaRPr lang="en-US" sz="788" dirty="0"/>
          </a:p>
        </p:txBody>
      </p:sp>
      <p:sp>
        <p:nvSpPr>
          <p:cNvPr id="39" name="Shape 37"/>
          <p:cNvSpPr/>
          <p:nvPr/>
        </p:nvSpPr>
        <p:spPr>
          <a:xfrm>
            <a:off x="13527405" y="6151126"/>
            <a:ext cx="3520441" cy="10001"/>
          </a:xfrm>
          <a:prstGeom prst="rect">
            <a:avLst/>
          </a:prstGeom>
          <a:solidFill>
            <a:srgbClr val="1D1F20">
              <a:alpha val="16000"/>
            </a:srgbClr>
          </a:solidFill>
          <a:ln/>
        </p:spPr>
      </p:sp>
      <p:sp>
        <p:nvSpPr>
          <p:cNvPr id="40" name="Shape 38"/>
          <p:cNvSpPr/>
          <p:nvPr/>
        </p:nvSpPr>
        <p:spPr>
          <a:xfrm>
            <a:off x="13527405" y="5915315"/>
            <a:ext cx="90012" cy="90011"/>
          </a:xfrm>
          <a:prstGeom prst="rect">
            <a:avLst/>
          </a:prstGeom>
          <a:solidFill>
            <a:srgbClr val="9D443B"/>
          </a:solidFill>
          <a:ln/>
        </p:spPr>
      </p:sp>
      <p:sp>
        <p:nvSpPr>
          <p:cNvPr id="41" name="Text 39"/>
          <p:cNvSpPr/>
          <p:nvPr/>
        </p:nvSpPr>
        <p:spPr>
          <a:xfrm>
            <a:off x="13707427" y="5859605"/>
            <a:ext cx="2354208" cy="239610"/>
          </a:xfrm>
          <a:prstGeom prst="rect">
            <a:avLst/>
          </a:prstGeom>
          <a:noFill/>
          <a:ln/>
        </p:spPr>
        <p:txBody>
          <a:bodyPr wrap="square" lIns="25400" tIns="25400" rIns="25400" bIns="25400" rtlCol="0" anchor="t">
            <a:normAutofit/>
          </a:bodyPr>
          <a:lstStyle/>
          <a:p>
            <a:pPr algn="l" indent="0" marL="0">
              <a:lnSpc>
                <a:spcPct val="130000"/>
              </a:lnSpc>
              <a:buNone/>
            </a:pPr>
            <a:r>
              <a:rPr lang="en-US" sz="1024" dirty="0">
                <a:solidFill>
                  <a:srgbClr val="1D1F20"/>
                </a:solidFill>
                <a:latin typeface="Barlow" pitchFamily="34" charset="0"/>
                <a:ea typeface="Barlow" pitchFamily="34" charset="-122"/>
                <a:cs typeface="Barlow" pitchFamily="34" charset="-120"/>
              </a:rPr>
              <a:t>Axis variance (PC1)</a:t>
            </a:r>
            <a:endParaRPr lang="en-US" sz="1024" dirty="0"/>
          </a:p>
        </p:txBody>
      </p:sp>
      <p:sp>
        <p:nvSpPr>
          <p:cNvPr id="42" name="Text 40"/>
          <p:cNvSpPr/>
          <p:nvPr/>
        </p:nvSpPr>
        <p:spPr>
          <a:xfrm>
            <a:off x="15937628" y="5867341"/>
            <a:ext cx="861142" cy="224061"/>
          </a:xfrm>
          <a:prstGeom prst="rect">
            <a:avLst/>
          </a:prstGeom>
          <a:noFill/>
          <a:ln/>
        </p:spPr>
        <p:txBody>
          <a:bodyPr wrap="square" lIns="25400" tIns="25400" rIns="25400" bIns="25400" rtlCol="0" anchor="t">
            <a:normAutofit/>
          </a:bodyPr>
          <a:lstStyle/>
          <a:p>
            <a:pPr algn="l" indent="0" marL="0">
              <a:lnSpc>
                <a:spcPct val="128276"/>
              </a:lnSpc>
              <a:buNone/>
            </a:pPr>
            <a:r>
              <a:rPr lang="en-US" sz="945" dirty="0">
                <a:solidFill>
                  <a:srgbClr val="5D5D60"/>
                </a:solidFill>
                <a:latin typeface="Barlow" pitchFamily="34" charset="0"/>
                <a:ea typeface="Barlow" pitchFamily="34" charset="-122"/>
                <a:cs typeface="Barlow" pitchFamily="34" charset="-120"/>
              </a:rPr>
              <a:t>74% · gate 80%</a:t>
            </a:r>
            <a:endParaRPr lang="en-US" sz="945" dirty="0"/>
          </a:p>
        </p:txBody>
      </p:sp>
      <p:sp>
        <p:nvSpPr>
          <p:cNvPr id="43" name="Text 41"/>
          <p:cNvSpPr/>
          <p:nvPr/>
        </p:nvSpPr>
        <p:spPr>
          <a:xfrm>
            <a:off x="16812581" y="5882811"/>
            <a:ext cx="311465" cy="193119"/>
          </a:xfrm>
          <a:prstGeom prst="rect">
            <a:avLst/>
          </a:prstGeom>
          <a:noFill/>
          <a:ln/>
        </p:spPr>
        <p:txBody>
          <a:bodyPr wrap="square" lIns="25400" tIns="25400" rIns="25400" bIns="25400" rtlCol="0" anchor="t">
            <a:normAutofit/>
          </a:bodyPr>
          <a:lstStyle/>
          <a:p>
            <a:pPr algn="l" indent="0" marL="0">
              <a:lnSpc>
                <a:spcPct val="129167"/>
              </a:lnSpc>
              <a:buNone/>
            </a:pPr>
            <a:r>
              <a:rPr lang="en-US" sz="788" spc="79" kern="0" dirty="0">
                <a:solidFill>
                  <a:srgbClr val="9D443B"/>
                </a:solidFill>
                <a:latin typeface="Barlow" pitchFamily="34" charset="0"/>
                <a:ea typeface="Barlow" pitchFamily="34" charset="-122"/>
                <a:cs typeface="Barlow" pitchFamily="34" charset="-120"/>
              </a:rPr>
              <a:t>FAIL</a:t>
            </a:r>
            <a:endParaRPr lang="en-US" sz="788" dirty="0"/>
          </a:p>
        </p:txBody>
      </p:sp>
      <p:sp>
        <p:nvSpPr>
          <p:cNvPr id="44" name="Shape 42"/>
          <p:cNvSpPr/>
          <p:nvPr/>
        </p:nvSpPr>
        <p:spPr>
          <a:xfrm>
            <a:off x="13527405" y="6542659"/>
            <a:ext cx="3520441" cy="10001"/>
          </a:xfrm>
          <a:prstGeom prst="rect">
            <a:avLst/>
          </a:prstGeom>
          <a:solidFill>
            <a:srgbClr val="1D1F20">
              <a:alpha val="16000"/>
            </a:srgbClr>
          </a:solidFill>
          <a:ln/>
        </p:spPr>
      </p:sp>
      <p:sp>
        <p:nvSpPr>
          <p:cNvPr id="45" name="Shape 43"/>
          <p:cNvSpPr/>
          <p:nvPr/>
        </p:nvSpPr>
        <p:spPr>
          <a:xfrm>
            <a:off x="13527405" y="6306849"/>
            <a:ext cx="90012" cy="90011"/>
          </a:xfrm>
          <a:prstGeom prst="rect">
            <a:avLst/>
          </a:prstGeom>
          <a:solidFill>
            <a:srgbClr val="9D443B"/>
          </a:solidFill>
          <a:ln/>
        </p:spPr>
      </p:sp>
      <p:sp>
        <p:nvSpPr>
          <p:cNvPr id="46" name="Text 44"/>
          <p:cNvSpPr/>
          <p:nvPr/>
        </p:nvSpPr>
        <p:spPr>
          <a:xfrm>
            <a:off x="13707427" y="6251138"/>
            <a:ext cx="2472731" cy="239610"/>
          </a:xfrm>
          <a:prstGeom prst="rect">
            <a:avLst/>
          </a:prstGeom>
          <a:noFill/>
          <a:ln/>
        </p:spPr>
        <p:txBody>
          <a:bodyPr wrap="square" lIns="25400" tIns="25400" rIns="25400" bIns="25400" rtlCol="0" anchor="t">
            <a:normAutofit/>
          </a:bodyPr>
          <a:lstStyle/>
          <a:p>
            <a:pPr algn="l" indent="0" marL="0">
              <a:lnSpc>
                <a:spcPct val="130000"/>
              </a:lnSpc>
              <a:buNone/>
            </a:pPr>
            <a:r>
              <a:rPr lang="en-US" sz="1024" dirty="0">
                <a:solidFill>
                  <a:srgbClr val="1D1F20"/>
                </a:solidFill>
                <a:latin typeface="Barlow" pitchFamily="34" charset="0"/>
                <a:ea typeface="Barlow" pitchFamily="34" charset="-122"/>
                <a:cs typeface="Barlow" pitchFamily="34" charset="-120"/>
              </a:rPr>
              <a:t>Perpendicularity</a:t>
            </a:r>
            <a:endParaRPr lang="en-US" sz="1024" dirty="0"/>
          </a:p>
        </p:txBody>
      </p:sp>
      <p:sp>
        <p:nvSpPr>
          <p:cNvPr id="47" name="Text 45"/>
          <p:cNvSpPr/>
          <p:nvPr/>
        </p:nvSpPr>
        <p:spPr>
          <a:xfrm>
            <a:off x="16045376" y="6258874"/>
            <a:ext cx="753394" cy="224061"/>
          </a:xfrm>
          <a:prstGeom prst="rect">
            <a:avLst/>
          </a:prstGeom>
          <a:noFill/>
          <a:ln/>
        </p:spPr>
        <p:txBody>
          <a:bodyPr wrap="square" lIns="25400" tIns="25400" rIns="25400" bIns="25400" rtlCol="0" anchor="t">
            <a:normAutofit/>
          </a:bodyPr>
          <a:lstStyle/>
          <a:p>
            <a:pPr algn="l" indent="0" marL="0">
              <a:lnSpc>
                <a:spcPct val="128276"/>
              </a:lnSpc>
              <a:buNone/>
            </a:pPr>
            <a:r>
              <a:rPr lang="en-US" sz="945" dirty="0">
                <a:solidFill>
                  <a:srgbClr val="5D5D60"/>
                </a:solidFill>
                <a:latin typeface="Barlow" pitchFamily="34" charset="0"/>
                <a:ea typeface="Barlow" pitchFamily="34" charset="-122"/>
                <a:cs typeface="Barlow" pitchFamily="34" charset="-120"/>
              </a:rPr>
              <a:t>34° · gate 30°</a:t>
            </a:r>
            <a:endParaRPr lang="en-US" sz="945" dirty="0"/>
          </a:p>
        </p:txBody>
      </p:sp>
      <p:sp>
        <p:nvSpPr>
          <p:cNvPr id="48" name="Text 46"/>
          <p:cNvSpPr/>
          <p:nvPr/>
        </p:nvSpPr>
        <p:spPr>
          <a:xfrm>
            <a:off x="16812581" y="6274344"/>
            <a:ext cx="311465" cy="193120"/>
          </a:xfrm>
          <a:prstGeom prst="rect">
            <a:avLst/>
          </a:prstGeom>
          <a:noFill/>
          <a:ln/>
        </p:spPr>
        <p:txBody>
          <a:bodyPr wrap="square" lIns="25400" tIns="25400" rIns="25400" bIns="25400" rtlCol="0" anchor="t">
            <a:normAutofit/>
          </a:bodyPr>
          <a:lstStyle/>
          <a:p>
            <a:pPr algn="l" indent="0" marL="0">
              <a:lnSpc>
                <a:spcPct val="129167"/>
              </a:lnSpc>
              <a:buNone/>
            </a:pPr>
            <a:r>
              <a:rPr lang="en-US" sz="788" spc="79" kern="0" dirty="0">
                <a:solidFill>
                  <a:srgbClr val="9D443B"/>
                </a:solidFill>
                <a:latin typeface="Barlow" pitchFamily="34" charset="0"/>
                <a:ea typeface="Barlow" pitchFamily="34" charset="-122"/>
                <a:cs typeface="Barlow" pitchFamily="34" charset="-120"/>
              </a:rPr>
              <a:t>FAIL</a:t>
            </a:r>
            <a:endParaRPr lang="en-US" sz="788" dirty="0"/>
          </a:p>
        </p:txBody>
      </p:sp>
      <p:sp>
        <p:nvSpPr>
          <p:cNvPr id="49" name="Shape 47"/>
          <p:cNvSpPr/>
          <p:nvPr/>
        </p:nvSpPr>
        <p:spPr>
          <a:xfrm>
            <a:off x="13527405" y="6780658"/>
            <a:ext cx="3520441" cy="480060"/>
          </a:xfrm>
          <a:prstGeom prst="rect">
            <a:avLst/>
          </a:prstGeom>
          <a:solidFill>
            <a:srgbClr val="5980A6"/>
          </a:solidFill>
          <a:ln w="10001">
            <a:solidFill>
              <a:srgbClr val="5980A6"/>
            </a:solidFill>
            <a:prstDash val="solid"/>
          </a:ln>
        </p:spPr>
      </p:sp>
      <p:sp>
        <p:nvSpPr>
          <p:cNvPr id="50" name="Text 48"/>
          <p:cNvSpPr/>
          <p:nvPr/>
        </p:nvSpPr>
        <p:spPr>
          <a:xfrm>
            <a:off x="14865384" y="6931692"/>
            <a:ext cx="920681" cy="208122"/>
          </a:xfrm>
          <a:prstGeom prst="rect">
            <a:avLst/>
          </a:prstGeom>
          <a:noFill/>
          <a:ln/>
        </p:spPr>
        <p:txBody>
          <a:bodyPr wrap="square" lIns="0" tIns="0" rIns="0" bIns="0" rtlCol="0" anchor="t">
            <a:normAutofit/>
          </a:bodyPr>
          <a:lstStyle/>
          <a:p>
            <a:pPr algn="l" indent="0" marL="0">
              <a:lnSpc>
                <a:spcPct val="98824"/>
              </a:lnSpc>
              <a:buNone/>
            </a:pPr>
            <a:r>
              <a:rPr lang="en-US" sz="1103" b="1" spc="66" kern="0" dirty="0">
                <a:solidFill>
                  <a:srgbClr val="F2F2F3"/>
                </a:solidFill>
                <a:latin typeface="Barlow Condensed" pitchFamily="34" charset="0"/>
                <a:ea typeface="Barlow Condensed" pitchFamily="34" charset="-122"/>
                <a:cs typeface="Barlow Condensed" pitchFamily="34" charset="-120"/>
              </a:rPr>
              <a:t>REPEAT STEP 3</a:t>
            </a:r>
            <a:endParaRPr lang="en-US" sz="1103" dirty="0"/>
          </a:p>
        </p:txBody>
      </p:sp>
      <p:sp>
        <p:nvSpPr>
          <p:cNvPr id="51" name="Shape 49"/>
          <p:cNvSpPr/>
          <p:nvPr/>
        </p:nvSpPr>
        <p:spPr>
          <a:xfrm>
            <a:off x="13527405" y="7408705"/>
            <a:ext cx="3520441" cy="420053"/>
          </a:xfrm>
          <a:prstGeom prst="rect">
            <a:avLst/>
          </a:prstGeom>
          <a:ln w="10001">
            <a:solidFill>
              <a:srgbClr val="1F1F1F">
                <a:alpha val="16000"/>
              </a:srgbClr>
            </a:solidFill>
            <a:prstDash val="solid"/>
          </a:ln>
        </p:spPr>
      </p:sp>
      <p:sp>
        <p:nvSpPr>
          <p:cNvPr id="52" name="Text 50"/>
          <p:cNvSpPr/>
          <p:nvPr/>
        </p:nvSpPr>
        <p:spPr>
          <a:xfrm>
            <a:off x="13607014" y="7486715"/>
            <a:ext cx="3361221" cy="302133"/>
          </a:xfrm>
          <a:prstGeom prst="rect">
            <a:avLst/>
          </a:prstGeom>
          <a:noFill/>
          <a:ln/>
        </p:spPr>
        <p:txBody>
          <a:bodyPr wrap="square" lIns="25400" tIns="25400" rIns="25400" bIns="25400" rtlCol="0" anchor="ctr">
            <a:normAutofit/>
          </a:bodyPr>
          <a:lstStyle/>
          <a:p>
            <a:pPr algn="ctr" indent="0" marL="0">
              <a:lnSpc>
                <a:spcPct val="98824"/>
              </a:lnSpc>
              <a:buNone/>
            </a:pPr>
            <a:r>
              <a:rPr lang="en-US" sz="1103" b="1" dirty="0">
                <a:solidFill>
                  <a:srgbClr val="1D1F20"/>
                </a:solidFill>
                <a:latin typeface="Barlow Condensed" pitchFamily="34" charset="0"/>
                <a:ea typeface="Barlow Condensed" pitchFamily="34" charset="-122"/>
                <a:cs typeface="Barlow Condensed" pitchFamily="34" charset="-120"/>
              </a:rPr>
              <a:t>Watch placement video · right forearm</a:t>
            </a:r>
            <a:endParaRPr lang="en-US" sz="1103"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5181B"/>
        </a:solidFill>
      </p:bgPr>
    </p:bg>
    <p:spTree>
      <p:nvGrpSpPr>
        <p:cNvPr id="1" name=""/>
        <p:cNvGrpSpPr/>
        <p:nvPr/>
      </p:nvGrpSpPr>
      <p:grpSpPr>
        <a:xfrm>
          <a:off x="0" y="0"/>
          <a:ext cx="0" cy="0"/>
          <a:chOff x="0" y="0"/>
          <a:chExt cx="0" cy="0"/>
        </a:xfrm>
      </p:grpSpPr>
      <p:sp>
        <p:nvSpPr>
          <p:cNvPr id="2" name="Text 0"/>
          <p:cNvSpPr/>
          <p:nvPr/>
        </p:nvSpPr>
        <p:spPr>
          <a:xfrm>
            <a:off x="857250" y="838200"/>
            <a:ext cx="10267950" cy="392385"/>
          </a:xfrm>
          <a:prstGeom prst="rect">
            <a:avLst/>
          </a:prstGeom>
          <a:noFill/>
          <a:ln/>
        </p:spPr>
        <p:txBody>
          <a:bodyPr wrap="square" lIns="25400" tIns="25400" rIns="25400" bIns="25400" rtlCol="0" anchor="t">
            <a:normAutofit/>
          </a:bodyPr>
          <a:lstStyle/>
          <a:p>
            <a:pPr algn="l" indent="0" marL="0">
              <a:lnSpc>
                <a:spcPct val="128276"/>
              </a:lnSpc>
              <a:buNone/>
            </a:pPr>
            <a:r>
              <a:rPr lang="en-US" sz="1800" b="1" spc="252" kern="0" dirty="0">
                <a:solidFill>
                  <a:srgbClr val="94BCE3"/>
                </a:solidFill>
                <a:latin typeface="Barlow Condensed" pitchFamily="34" charset="0"/>
                <a:ea typeface="Barlow Condensed" pitchFamily="34" charset="-122"/>
                <a:cs typeface="Barlow Condensed" pitchFamily="34" charset="-120"/>
              </a:rPr>
              <a:t>05 · A4 LIVE SESSION</a:t>
            </a:r>
            <a:endParaRPr lang="en-US" sz="1800" dirty="0"/>
          </a:p>
        </p:txBody>
      </p:sp>
      <p:sp>
        <p:nvSpPr>
          <p:cNvPr id="3" name="Text 1"/>
          <p:cNvSpPr/>
          <p:nvPr/>
        </p:nvSpPr>
        <p:spPr>
          <a:xfrm>
            <a:off x="857250" y="1344885"/>
            <a:ext cx="9614535" cy="1693813"/>
          </a:xfrm>
          <a:prstGeom prst="rect">
            <a:avLst/>
          </a:prstGeom>
          <a:noFill/>
          <a:ln/>
        </p:spPr>
        <p:txBody>
          <a:bodyPr wrap="square" lIns="25400" tIns="25400" rIns="25400" bIns="25400" rtlCol="0" anchor="t">
            <a:normAutofit/>
          </a:bodyPr>
          <a:lstStyle/>
          <a:p>
            <a:pPr algn="l" indent="0" marL="0">
              <a:lnSpc>
                <a:spcPct val="88244"/>
              </a:lnSpc>
              <a:buNone/>
            </a:pPr>
            <a:r>
              <a:rPr lang="en-US" sz="6150" b="1" dirty="0">
                <a:solidFill>
                  <a:srgbClr val="ECEFF1"/>
                </a:solidFill>
                <a:latin typeface="Barlow Condensed" pitchFamily="34" charset="0"/>
                <a:ea typeface="Barlow Condensed" pitchFamily="34" charset="-122"/>
                <a:cs typeface="Barlow Condensed" pitchFamily="34" charset="-120"/>
              </a:rPr>
              <a:t>Three signals. Nothing else.</a:t>
            </a:r>
            <a:endParaRPr lang="en-US" sz="6150" dirty="0"/>
          </a:p>
        </p:txBody>
      </p:sp>
      <p:sp>
        <p:nvSpPr>
          <p:cNvPr id="4" name="Shape 2"/>
          <p:cNvSpPr/>
          <p:nvPr/>
        </p:nvSpPr>
        <p:spPr>
          <a:xfrm>
            <a:off x="857250" y="3533998"/>
            <a:ext cx="152400" cy="152400"/>
          </a:xfrm>
          <a:prstGeom prst="rect">
            <a:avLst/>
          </a:prstGeom>
          <a:solidFill>
            <a:srgbClr val="5AA06F"/>
          </a:solidFill>
          <a:ln/>
        </p:spPr>
      </p:sp>
      <p:sp>
        <p:nvSpPr>
          <p:cNvPr id="5" name="Text 3"/>
          <p:cNvSpPr/>
          <p:nvPr/>
        </p:nvSpPr>
        <p:spPr>
          <a:xfrm>
            <a:off x="1200150" y="3419698"/>
            <a:ext cx="7585710" cy="628650"/>
          </a:xfrm>
          <a:prstGeom prst="rect">
            <a:avLst/>
          </a:prstGeom>
          <a:noFill/>
          <a:ln/>
        </p:spPr>
        <p:txBody>
          <a:bodyPr wrap="square" lIns="25400" tIns="25400" rIns="25400" bIns="25400" rtlCol="0" anchor="t">
            <a:normAutofit/>
          </a:bodyPr>
          <a:lstStyle/>
          <a:p>
            <a:pPr algn="l" indent="0" marL="0">
              <a:lnSpc>
                <a:spcPct val="129167"/>
              </a:lnSpc>
              <a:buNone/>
            </a:pPr>
            <a:r>
              <a:rPr lang="en-US" sz="3000" b="1" dirty="0">
                <a:solidFill>
                  <a:srgbClr val="ECEFF1"/>
                </a:solidFill>
                <a:latin typeface="Barlow Condensed" pitchFamily="34" charset="0"/>
                <a:ea typeface="Barlow Condensed" pitchFamily="34" charset="-122"/>
                <a:cs typeface="Barlow Condensed" pitchFamily="34" charset="-120"/>
              </a:rPr>
              <a:t>Posture ring · primary</a:t>
            </a:r>
            <a:endParaRPr lang="en-US" sz="3000" dirty="0"/>
          </a:p>
        </p:txBody>
      </p:sp>
      <p:sp>
        <p:nvSpPr>
          <p:cNvPr id="6" name="Text 4"/>
          <p:cNvSpPr/>
          <p:nvPr/>
        </p:nvSpPr>
        <p:spPr>
          <a:xfrm>
            <a:off x="1200150" y="4010248"/>
            <a:ext cx="7102983" cy="1115244"/>
          </a:xfrm>
          <a:prstGeom prst="rect">
            <a:avLst/>
          </a:prstGeom>
          <a:noFill/>
          <a:ln/>
        </p:spPr>
        <p:txBody>
          <a:bodyPr wrap="square" lIns="25400" tIns="25400" rIns="25400" bIns="25400" rtlCol="0" anchor="t">
            <a:normAutofit/>
          </a:bodyPr>
          <a:lstStyle/>
          <a:p>
            <a:pPr algn="l" indent="0" marL="0">
              <a:lnSpc>
                <a:spcPct val="121613"/>
              </a:lnSpc>
              <a:buNone/>
            </a:pPr>
            <a:r>
              <a:rPr lang="en-US" sz="1950" dirty="0">
                <a:solidFill>
                  <a:srgbClr val="B7B7BA"/>
                </a:solidFill>
                <a:latin typeface="Barlow" pitchFamily="34" charset="0"/>
                <a:ea typeface="Barlow" pitchFamily="34" charset="-122"/>
                <a:cs typeface="Barlow" pitchFamily="34" charset="-120"/>
              </a:rPr>
              <a:t>Trunk-to-vertical against the personalised band. Turns red on over-flexion </a:t>
            </a:r>
            <a:pPr algn="l" indent="0" marL="0">
              <a:lnSpc>
                <a:spcPct val="121613"/>
              </a:lnSpc>
              <a:buNone/>
            </a:pPr>
            <a:r>
              <a:rPr lang="en-US" sz="1950" i="1" dirty="0">
                <a:solidFill>
                  <a:srgbClr val="B7B7BA"/>
                </a:solidFill>
                <a:latin typeface="Barlow" pitchFamily="34" charset="0"/>
                <a:ea typeface="Barlow" pitchFamily="34" charset="-122"/>
                <a:cs typeface="Barlow" pitchFamily="34" charset="-120"/>
              </a:rPr>
              <a:t>or any lumbar extension episode </a:t>
            </a:r>
            <a:pPr algn="l" indent="0" marL="0">
              <a:lnSpc>
                <a:spcPct val="121613"/>
              </a:lnSpc>
              <a:buNone/>
            </a:pPr>
            <a:r>
              <a:rPr lang="en-US" sz="1950" dirty="0">
                <a:solidFill>
                  <a:srgbClr val="B7B7BA"/>
                </a:solidFill>
                <a:latin typeface="Barlow" pitchFamily="34" charset="0"/>
                <a:ea typeface="Barlow" pitchFamily="34" charset="-122"/>
                <a:cs typeface="Barlow" pitchFamily="34" charset="-120"/>
              </a:rPr>
              <a:t>— the safety signal overrides everything.</a:t>
            </a:r>
            <a:endParaRPr lang="en-US" sz="1950" dirty="0"/>
          </a:p>
        </p:txBody>
      </p:sp>
      <p:sp>
        <p:nvSpPr>
          <p:cNvPr id="7" name="Shape 5"/>
          <p:cNvSpPr/>
          <p:nvPr/>
        </p:nvSpPr>
        <p:spPr>
          <a:xfrm>
            <a:off x="857250" y="5487442"/>
            <a:ext cx="152400" cy="152400"/>
          </a:xfrm>
          <a:prstGeom prst="rect">
            <a:avLst/>
          </a:prstGeom>
          <a:solidFill>
            <a:srgbClr val="8FB6D8"/>
          </a:solidFill>
          <a:ln/>
        </p:spPr>
      </p:sp>
      <p:sp>
        <p:nvSpPr>
          <p:cNvPr id="8" name="Text 6"/>
          <p:cNvSpPr/>
          <p:nvPr/>
        </p:nvSpPr>
        <p:spPr>
          <a:xfrm>
            <a:off x="1200150" y="5373142"/>
            <a:ext cx="7585710" cy="628650"/>
          </a:xfrm>
          <a:prstGeom prst="rect">
            <a:avLst/>
          </a:prstGeom>
          <a:noFill/>
          <a:ln/>
        </p:spPr>
        <p:txBody>
          <a:bodyPr wrap="square" lIns="25400" tIns="25400" rIns="25400" bIns="25400" rtlCol="0" anchor="t">
            <a:normAutofit/>
          </a:bodyPr>
          <a:lstStyle/>
          <a:p>
            <a:pPr algn="l" indent="0" marL="0">
              <a:lnSpc>
                <a:spcPct val="129167"/>
              </a:lnSpc>
              <a:buNone/>
            </a:pPr>
            <a:r>
              <a:rPr lang="en-US" sz="3000" b="1" dirty="0">
                <a:solidFill>
                  <a:srgbClr val="ECEFF1"/>
                </a:solidFill>
                <a:latin typeface="Barlow Condensed" pitchFamily="34" charset="0"/>
                <a:ea typeface="Barlow Condensed" pitchFamily="34" charset="-122"/>
                <a:cs typeface="Barlow Condensed" pitchFamily="34" charset="-120"/>
              </a:rPr>
              <a:t>Symmetry bar · secondary</a:t>
            </a:r>
            <a:endParaRPr lang="en-US" sz="3000" dirty="0"/>
          </a:p>
        </p:txBody>
      </p:sp>
      <p:sp>
        <p:nvSpPr>
          <p:cNvPr id="9" name="Text 7"/>
          <p:cNvSpPr/>
          <p:nvPr/>
        </p:nvSpPr>
        <p:spPr>
          <a:xfrm>
            <a:off x="1200150" y="5963692"/>
            <a:ext cx="7102983" cy="1115244"/>
          </a:xfrm>
          <a:prstGeom prst="rect">
            <a:avLst/>
          </a:prstGeom>
          <a:noFill/>
          <a:ln/>
        </p:spPr>
        <p:txBody>
          <a:bodyPr wrap="square" lIns="25400" tIns="25400" rIns="25400" bIns="25400" rtlCol="0" anchor="t">
            <a:normAutofit/>
          </a:bodyPr>
          <a:lstStyle/>
          <a:p>
            <a:pPr algn="l" indent="0" marL="0">
              <a:lnSpc>
                <a:spcPct val="121613"/>
              </a:lnSpc>
              <a:buNone/>
            </a:pPr>
            <a:r>
              <a:rPr lang="en-US" sz="1950" dirty="0">
                <a:solidFill>
                  <a:srgbClr val="B7B7BA"/>
                </a:solidFill>
                <a:latin typeface="Barlow" pitchFamily="34" charset="0"/>
                <a:ea typeface="Barlow" pitchFamily="34" charset="-122"/>
                <a:cs typeface="Barlow" pitchFamily="34" charset="-120"/>
              </a:rPr>
              <a:t>Dead-band set to the measurement uncertainty of the current sampling mode. A bar that twitches on noise gets ignored, and an ignored signal is worse than an absent one.</a:t>
            </a:r>
            <a:endParaRPr lang="en-US" sz="1950" dirty="0"/>
          </a:p>
        </p:txBody>
      </p:sp>
      <p:sp>
        <p:nvSpPr>
          <p:cNvPr id="10" name="Shape 8"/>
          <p:cNvSpPr/>
          <p:nvPr/>
        </p:nvSpPr>
        <p:spPr>
          <a:xfrm>
            <a:off x="857250" y="7440885"/>
            <a:ext cx="152400" cy="152400"/>
          </a:xfrm>
          <a:prstGeom prst="rect">
            <a:avLst/>
          </a:prstGeom>
          <a:solidFill>
            <a:srgbClr val="D5A253"/>
          </a:solidFill>
          <a:ln/>
        </p:spPr>
      </p:sp>
      <p:sp>
        <p:nvSpPr>
          <p:cNvPr id="11" name="Text 9"/>
          <p:cNvSpPr/>
          <p:nvPr/>
        </p:nvSpPr>
        <p:spPr>
          <a:xfrm>
            <a:off x="1200150" y="7326585"/>
            <a:ext cx="7585710" cy="628650"/>
          </a:xfrm>
          <a:prstGeom prst="rect">
            <a:avLst/>
          </a:prstGeom>
          <a:noFill/>
          <a:ln/>
        </p:spPr>
        <p:txBody>
          <a:bodyPr wrap="square" lIns="25400" tIns="25400" rIns="25400" bIns="25400" rtlCol="0" anchor="t">
            <a:normAutofit/>
          </a:bodyPr>
          <a:lstStyle/>
          <a:p>
            <a:pPr algn="l" indent="0" marL="0">
              <a:lnSpc>
                <a:spcPct val="129167"/>
              </a:lnSpc>
              <a:buNone/>
            </a:pPr>
            <a:r>
              <a:rPr lang="en-US" sz="3000" b="1" dirty="0">
                <a:solidFill>
                  <a:srgbClr val="ECEFF1"/>
                </a:solidFill>
                <a:latin typeface="Barlow Condensed" pitchFamily="34" charset="0"/>
                <a:ea typeface="Barlow Condensed" pitchFamily="34" charset="-122"/>
                <a:cs typeface="Barlow Condensed" pitchFamily="34" charset="-120"/>
              </a:rPr>
              <a:t>Cycle rate · tertiary</a:t>
            </a:r>
            <a:endParaRPr lang="en-US" sz="3000" dirty="0"/>
          </a:p>
        </p:txBody>
      </p:sp>
      <p:sp>
        <p:nvSpPr>
          <p:cNvPr id="12" name="Text 10"/>
          <p:cNvSpPr/>
          <p:nvPr/>
        </p:nvSpPr>
        <p:spPr>
          <a:xfrm>
            <a:off x="1200150" y="7917135"/>
            <a:ext cx="7102983" cy="756196"/>
          </a:xfrm>
          <a:prstGeom prst="rect">
            <a:avLst/>
          </a:prstGeom>
          <a:noFill/>
          <a:ln/>
        </p:spPr>
        <p:txBody>
          <a:bodyPr wrap="square" lIns="25400" tIns="25400" rIns="25400" bIns="25400" rtlCol="0" anchor="t">
            <a:normAutofit/>
          </a:bodyPr>
          <a:lstStyle/>
          <a:p>
            <a:pPr algn="l" indent="0" marL="0">
              <a:lnSpc>
                <a:spcPct val="121613"/>
              </a:lnSpc>
              <a:buNone/>
            </a:pPr>
            <a:r>
              <a:rPr lang="en-US" sz="1950" dirty="0">
                <a:solidFill>
                  <a:srgbClr val="B7B7BA"/>
                </a:solidFill>
                <a:latin typeface="Barlow" pitchFamily="34" charset="0"/>
                <a:ea typeface="Barlow" pitchFamily="34" charset="-122"/>
                <a:cs typeface="Barlow" pitchFamily="34" charset="-120"/>
              </a:rPr>
              <a:t>Only when a cadence is prescribed. Amber when rate rises as arm ROM falls — degradation masquerading as effort.</a:t>
            </a:r>
            <a:endParaRPr lang="en-US" sz="1950" dirty="0"/>
          </a:p>
        </p:txBody>
      </p:sp>
      <p:sp>
        <p:nvSpPr>
          <p:cNvPr id="13" name="Shape 11"/>
          <p:cNvSpPr/>
          <p:nvPr/>
        </p:nvSpPr>
        <p:spPr>
          <a:xfrm>
            <a:off x="857250" y="8856390"/>
            <a:ext cx="9334500" cy="9525"/>
          </a:xfrm>
          <a:prstGeom prst="rect">
            <a:avLst/>
          </a:prstGeom>
          <a:solidFill>
            <a:srgbClr val="2F373D"/>
          </a:solidFill>
          <a:ln/>
        </p:spPr>
      </p:sp>
      <p:sp>
        <p:nvSpPr>
          <p:cNvPr id="14" name="Text 12"/>
          <p:cNvSpPr/>
          <p:nvPr/>
        </p:nvSpPr>
        <p:spPr>
          <a:xfrm>
            <a:off x="857250" y="9094515"/>
            <a:ext cx="9614535" cy="392385"/>
          </a:xfrm>
          <a:prstGeom prst="rect">
            <a:avLst/>
          </a:prstGeom>
          <a:noFill/>
          <a:ln/>
        </p:spPr>
        <p:txBody>
          <a:bodyPr wrap="square" lIns="25400" tIns="25400" rIns="25400" bIns="25400" rtlCol="0" anchor="t">
            <a:normAutofit/>
          </a:bodyPr>
          <a:lstStyle/>
          <a:p>
            <a:pPr algn="l" indent="0" marL="0">
              <a:lnSpc>
                <a:spcPct val="128276"/>
              </a:lnSpc>
              <a:buNone/>
            </a:pPr>
            <a:r>
              <a:rPr lang="en-US" sz="1800" dirty="0">
                <a:solidFill>
                  <a:srgbClr val="8A949B"/>
                </a:solidFill>
                <a:latin typeface="Barlow" pitchFamily="34" charset="0"/>
                <a:ea typeface="Barlow" pitchFamily="34" charset="-122"/>
                <a:cs typeface="Barlow" pitchFamily="34" charset="-120"/>
              </a:rPr>
              <a:t>Glass-to-glass budget for the ring: ≤ 100 ms · svank tone within 150 ms of episode onset</a:t>
            </a:r>
            <a:endParaRPr lang="en-US" sz="1800" dirty="0"/>
          </a:p>
        </p:txBody>
      </p:sp>
      <p:sp>
        <p:nvSpPr>
          <p:cNvPr id="15" name="Shape 13"/>
          <p:cNvSpPr/>
          <p:nvPr/>
        </p:nvSpPr>
        <p:spPr>
          <a:xfrm>
            <a:off x="11049000" y="0"/>
            <a:ext cx="7239000" cy="10287000"/>
          </a:xfrm>
          <a:prstGeom prst="rect">
            <a:avLst/>
          </a:prstGeom>
          <a:solidFill>
            <a:srgbClr val="101315"/>
          </a:solidFill>
          <a:ln/>
        </p:spPr>
      </p:sp>
      <p:sp>
        <p:nvSpPr>
          <p:cNvPr id="16" name="Shape 14"/>
          <p:cNvSpPr/>
          <p:nvPr/>
        </p:nvSpPr>
        <p:spPr>
          <a:xfrm>
            <a:off x="11049000" y="0"/>
            <a:ext cx="9525" cy="10287000"/>
          </a:xfrm>
          <a:prstGeom prst="rect">
            <a:avLst/>
          </a:prstGeom>
          <a:solidFill>
            <a:srgbClr val="2F373D"/>
          </a:solidFill>
          <a:ln/>
        </p:spPr>
      </p:sp>
      <p:sp>
        <p:nvSpPr>
          <p:cNvPr id="17" name="Shape 15"/>
          <p:cNvSpPr/>
          <p:nvPr/>
        </p:nvSpPr>
        <p:spPr>
          <a:xfrm>
            <a:off x="12537281" y="521018"/>
            <a:ext cx="4271963" cy="9244965"/>
          </a:xfrm>
          <a:prstGeom prst="rect">
            <a:avLst/>
          </a:prstGeom>
          <a:solidFill>
            <a:srgbClr val="15181B"/>
          </a:solidFill>
          <a:ln w="10954">
            <a:solidFill>
              <a:srgbClr val="2F373D"/>
            </a:solidFill>
            <a:prstDash val="solid"/>
          </a:ln>
        </p:spPr>
      </p:sp>
      <p:sp>
        <p:nvSpPr>
          <p:cNvPr id="18" name="Shape 16"/>
          <p:cNvSpPr/>
          <p:nvPr/>
        </p:nvSpPr>
        <p:spPr>
          <a:xfrm>
            <a:off x="12548235" y="531971"/>
            <a:ext cx="4250055" cy="54769"/>
          </a:xfrm>
          <a:prstGeom prst="rect">
            <a:avLst/>
          </a:prstGeom>
          <a:solidFill>
            <a:srgbClr val="A8762C"/>
          </a:solidFill>
          <a:ln/>
        </p:spPr>
      </p:sp>
      <p:sp>
        <p:nvSpPr>
          <p:cNvPr id="19" name="Text 17"/>
          <p:cNvSpPr/>
          <p:nvPr/>
        </p:nvSpPr>
        <p:spPr>
          <a:xfrm>
            <a:off x="12789217" y="762000"/>
            <a:ext cx="501686" cy="360637"/>
          </a:xfrm>
          <a:prstGeom prst="rect">
            <a:avLst/>
          </a:prstGeom>
          <a:noFill/>
          <a:ln/>
        </p:spPr>
        <p:txBody>
          <a:bodyPr wrap="square" lIns="25400" tIns="25400" rIns="25400" bIns="25400" rtlCol="0" anchor="t">
            <a:normAutofit/>
          </a:bodyPr>
          <a:lstStyle/>
          <a:p>
            <a:pPr algn="l" indent="0" marL="0">
              <a:lnSpc>
                <a:spcPct val="128043"/>
              </a:lnSpc>
              <a:buNone/>
            </a:pPr>
            <a:r>
              <a:rPr lang="en-US" sz="1639" b="1" spc="66" kern="0" dirty="0">
                <a:solidFill>
                  <a:srgbClr val="ECEFF1"/>
                </a:solidFill>
                <a:latin typeface="Barlow Condensed" pitchFamily="34" charset="0"/>
                <a:ea typeface="Barlow Condensed" pitchFamily="34" charset="-122"/>
                <a:cs typeface="Barlow Condensed" pitchFamily="34" charset="-120"/>
              </a:rPr>
              <a:t>18:24</a:t>
            </a:r>
            <a:endParaRPr lang="en-US" sz="1639" dirty="0"/>
          </a:p>
        </p:txBody>
      </p:sp>
      <p:sp>
        <p:nvSpPr>
          <p:cNvPr id="20" name="Text 18"/>
          <p:cNvSpPr/>
          <p:nvPr/>
        </p:nvSpPr>
        <p:spPr>
          <a:xfrm>
            <a:off x="15999265" y="762000"/>
            <a:ext cx="634243" cy="360637"/>
          </a:xfrm>
          <a:prstGeom prst="rect">
            <a:avLst/>
          </a:prstGeom>
          <a:noFill/>
          <a:ln/>
        </p:spPr>
        <p:txBody>
          <a:bodyPr wrap="square" lIns="25400" tIns="25400" rIns="25400" bIns="25400" rtlCol="0" anchor="t">
            <a:normAutofit/>
          </a:bodyPr>
          <a:lstStyle/>
          <a:p>
            <a:pPr algn="l" indent="0" marL="0">
              <a:lnSpc>
                <a:spcPct val="128043"/>
              </a:lnSpc>
              <a:buNone/>
            </a:pPr>
            <a:r>
              <a:rPr lang="en-US" sz="1639" b="1" spc="66" kern="0" dirty="0">
                <a:solidFill>
                  <a:srgbClr val="A8762C"/>
                </a:solidFill>
                <a:latin typeface="Barlow Condensed" pitchFamily="34" charset="0"/>
                <a:ea typeface="Barlow Condensed" pitchFamily="34" charset="-122"/>
                <a:cs typeface="Barlow Condensed" pitchFamily="34" charset="-120"/>
              </a:rPr>
              <a:t>ZONE 3</a:t>
            </a:r>
            <a:endParaRPr lang="en-US" sz="1639" dirty="0"/>
          </a:p>
        </p:txBody>
      </p:sp>
      <p:pic>
        <p:nvPicPr>
          <p:cNvPr id="2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3084969" y="1237889"/>
            <a:ext cx="3176588" cy="3176588"/>
          </a:xfrm>
          <a:prstGeom prst="rect">
            <a:avLst/>
          </a:prstGeom>
        </p:spPr>
      </p:pic>
      <p:sp>
        <p:nvSpPr>
          <p:cNvPr id="22" name="Text 19"/>
          <p:cNvSpPr/>
          <p:nvPr/>
        </p:nvSpPr>
        <p:spPr>
          <a:xfrm>
            <a:off x="12789217" y="4611644"/>
            <a:ext cx="422014" cy="224827"/>
          </a:xfrm>
          <a:prstGeom prst="rect">
            <a:avLst/>
          </a:prstGeom>
          <a:noFill/>
          <a:ln/>
        </p:spPr>
        <p:txBody>
          <a:bodyPr wrap="square" lIns="25400" tIns="25400" rIns="25400" bIns="25400" rtlCol="0" anchor="t">
            <a:normAutofit/>
          </a:bodyPr>
          <a:lstStyle/>
          <a:p>
            <a:pPr algn="l" indent="0" marL="0">
              <a:lnSpc>
                <a:spcPct val="131154"/>
              </a:lnSpc>
              <a:buNone/>
            </a:pPr>
            <a:r>
              <a:rPr lang="en-US" sz="949" spc="133" kern="0" dirty="0">
                <a:solidFill>
                  <a:srgbClr val="8A949B"/>
                </a:solidFill>
                <a:latin typeface="Barlow" pitchFamily="34" charset="0"/>
                <a:ea typeface="Barlow" pitchFamily="34" charset="-122"/>
                <a:cs typeface="Barlow" pitchFamily="34" charset="-120"/>
              </a:rPr>
              <a:t>LEFT</a:t>
            </a:r>
            <a:endParaRPr lang="en-US" sz="949" dirty="0"/>
          </a:p>
        </p:txBody>
      </p:sp>
      <p:sp>
        <p:nvSpPr>
          <p:cNvPr id="23" name="Text 20"/>
          <p:cNvSpPr/>
          <p:nvPr/>
        </p:nvSpPr>
        <p:spPr>
          <a:xfrm>
            <a:off x="13924557" y="4611644"/>
            <a:ext cx="1575988" cy="224827"/>
          </a:xfrm>
          <a:prstGeom prst="rect">
            <a:avLst/>
          </a:prstGeom>
          <a:noFill/>
          <a:ln/>
        </p:spPr>
        <p:txBody>
          <a:bodyPr wrap="square" lIns="25400" tIns="25400" rIns="25400" bIns="25400" rtlCol="0" anchor="t">
            <a:normAutofit/>
          </a:bodyPr>
          <a:lstStyle/>
          <a:p>
            <a:pPr algn="l" indent="0" marL="0">
              <a:lnSpc>
                <a:spcPct val="131154"/>
              </a:lnSpc>
              <a:buNone/>
            </a:pPr>
            <a:r>
              <a:rPr lang="en-US" sz="949" spc="133" kern="0" dirty="0">
                <a:solidFill>
                  <a:srgbClr val="8A949B"/>
                </a:solidFill>
                <a:latin typeface="Barlow" pitchFamily="34" charset="0"/>
                <a:ea typeface="Barlow" pitchFamily="34" charset="-122"/>
                <a:cs typeface="Barlow" pitchFamily="34" charset="-120"/>
              </a:rPr>
              <a:t>PLANT OFFSET 14 MS</a:t>
            </a:r>
            <a:endParaRPr lang="en-US" sz="949" dirty="0"/>
          </a:p>
        </p:txBody>
      </p:sp>
      <p:sp>
        <p:nvSpPr>
          <p:cNvPr id="24" name="Text 21"/>
          <p:cNvSpPr/>
          <p:nvPr/>
        </p:nvSpPr>
        <p:spPr>
          <a:xfrm>
            <a:off x="16146713" y="4611644"/>
            <a:ext cx="486795" cy="224827"/>
          </a:xfrm>
          <a:prstGeom prst="rect">
            <a:avLst/>
          </a:prstGeom>
          <a:noFill/>
          <a:ln/>
        </p:spPr>
        <p:txBody>
          <a:bodyPr wrap="square" lIns="25400" tIns="25400" rIns="25400" bIns="25400" rtlCol="0" anchor="t">
            <a:normAutofit/>
          </a:bodyPr>
          <a:lstStyle/>
          <a:p>
            <a:pPr algn="l" indent="0" marL="0">
              <a:lnSpc>
                <a:spcPct val="131154"/>
              </a:lnSpc>
              <a:buNone/>
            </a:pPr>
            <a:r>
              <a:rPr lang="en-US" sz="949" spc="133" kern="0" dirty="0">
                <a:solidFill>
                  <a:srgbClr val="8A949B"/>
                </a:solidFill>
                <a:latin typeface="Barlow" pitchFamily="34" charset="0"/>
                <a:ea typeface="Barlow" pitchFamily="34" charset="-122"/>
                <a:cs typeface="Barlow" pitchFamily="34" charset="-120"/>
              </a:rPr>
              <a:t>RIGHT</a:t>
            </a:r>
            <a:endParaRPr lang="en-US" sz="949" dirty="0"/>
          </a:p>
        </p:txBody>
      </p:sp>
      <p:sp>
        <p:nvSpPr>
          <p:cNvPr id="25" name="Shape 22"/>
          <p:cNvSpPr/>
          <p:nvPr/>
        </p:nvSpPr>
        <p:spPr>
          <a:xfrm>
            <a:off x="12789217" y="4886001"/>
            <a:ext cx="3768091" cy="372428"/>
          </a:xfrm>
          <a:prstGeom prst="rect">
            <a:avLst/>
          </a:prstGeom>
          <a:solidFill>
            <a:srgbClr val="20262B"/>
          </a:solidFill>
          <a:ln w="10954">
            <a:solidFill>
              <a:srgbClr val="2F373D"/>
            </a:solidFill>
            <a:prstDash val="solid"/>
          </a:ln>
        </p:spPr>
      </p:sp>
      <p:sp>
        <p:nvSpPr>
          <p:cNvPr id="26" name="Shape 23"/>
          <p:cNvSpPr/>
          <p:nvPr/>
        </p:nvSpPr>
        <p:spPr>
          <a:xfrm>
            <a:off x="14673263" y="4896955"/>
            <a:ext cx="10954" cy="350520"/>
          </a:xfrm>
          <a:prstGeom prst="rect">
            <a:avLst/>
          </a:prstGeom>
          <a:solidFill>
            <a:srgbClr val="5C686F"/>
          </a:solidFill>
          <a:ln/>
        </p:spPr>
      </p:sp>
      <p:sp>
        <p:nvSpPr>
          <p:cNvPr id="27" name="Shape 24"/>
          <p:cNvSpPr/>
          <p:nvPr/>
        </p:nvSpPr>
        <p:spPr>
          <a:xfrm>
            <a:off x="14410972" y="4896955"/>
            <a:ext cx="524411" cy="350520"/>
          </a:xfrm>
          <a:prstGeom prst="rect">
            <a:avLst/>
          </a:prstGeom>
          <a:solidFill>
            <a:srgbClr val="262F35"/>
          </a:solidFill>
          <a:ln/>
        </p:spPr>
      </p:sp>
      <p:sp>
        <p:nvSpPr>
          <p:cNvPr id="28" name="Shape 25"/>
          <p:cNvSpPr/>
          <p:nvPr/>
        </p:nvSpPr>
        <p:spPr>
          <a:xfrm>
            <a:off x="14972950" y="4940770"/>
            <a:ext cx="65723" cy="262890"/>
          </a:xfrm>
          <a:prstGeom prst="rect">
            <a:avLst/>
          </a:prstGeom>
          <a:solidFill>
            <a:srgbClr val="8FB6D8"/>
          </a:solidFill>
          <a:ln/>
        </p:spPr>
      </p:sp>
      <p:sp>
        <p:nvSpPr>
          <p:cNvPr id="29" name="Text 26"/>
          <p:cNvSpPr/>
          <p:nvPr/>
        </p:nvSpPr>
        <p:spPr>
          <a:xfrm>
            <a:off x="12789217" y="5521319"/>
            <a:ext cx="905433" cy="224827"/>
          </a:xfrm>
          <a:prstGeom prst="rect">
            <a:avLst/>
          </a:prstGeom>
          <a:noFill/>
          <a:ln/>
        </p:spPr>
        <p:txBody>
          <a:bodyPr wrap="square" lIns="25400" tIns="25400" rIns="25400" bIns="25400" rtlCol="0" anchor="t">
            <a:normAutofit/>
          </a:bodyPr>
          <a:lstStyle/>
          <a:p>
            <a:pPr algn="l" indent="0" marL="0">
              <a:lnSpc>
                <a:spcPct val="131154"/>
              </a:lnSpc>
              <a:buNone/>
            </a:pPr>
            <a:r>
              <a:rPr lang="en-US" sz="949" spc="133" kern="0" dirty="0">
                <a:solidFill>
                  <a:srgbClr val="8A949B"/>
                </a:solidFill>
                <a:latin typeface="Barlow" pitchFamily="34" charset="0"/>
                <a:ea typeface="Barlow" pitchFamily="34" charset="-122"/>
                <a:cs typeface="Barlow" pitchFamily="34" charset="-120"/>
              </a:rPr>
              <a:t>CYCLE RATE</a:t>
            </a:r>
            <a:endParaRPr lang="en-US" sz="949" dirty="0"/>
          </a:p>
        </p:txBody>
      </p:sp>
      <p:sp>
        <p:nvSpPr>
          <p:cNvPr id="30" name="Text 27"/>
          <p:cNvSpPr/>
          <p:nvPr/>
        </p:nvSpPr>
        <p:spPr>
          <a:xfrm>
            <a:off x="12789217" y="5708046"/>
            <a:ext cx="905433" cy="739140"/>
          </a:xfrm>
          <a:prstGeom prst="rect">
            <a:avLst/>
          </a:prstGeom>
          <a:noFill/>
          <a:ln/>
        </p:spPr>
        <p:txBody>
          <a:bodyPr wrap="square" lIns="25400" tIns="25400" rIns="25400" bIns="25400" rtlCol="0" anchor="t">
            <a:normAutofit/>
          </a:bodyPr>
          <a:lstStyle/>
          <a:p>
            <a:pPr algn="l" indent="0" marL="0">
              <a:lnSpc>
                <a:spcPct val="83117"/>
              </a:lnSpc>
              <a:buNone/>
            </a:pPr>
            <a:r>
              <a:rPr lang="en-US" sz="5520" b="1" dirty="0">
                <a:solidFill>
                  <a:srgbClr val="ECEFF1"/>
                </a:solidFill>
                <a:latin typeface="Barlow Condensed" pitchFamily="34" charset="0"/>
                <a:ea typeface="Barlow Condensed" pitchFamily="34" charset="-122"/>
                <a:cs typeface="Barlow Condensed" pitchFamily="34" charset="-120"/>
              </a:rPr>
              <a:t>55</a:t>
            </a:r>
            <a:endParaRPr lang="en-US" sz="5520" dirty="0"/>
          </a:p>
        </p:txBody>
      </p:sp>
      <p:sp>
        <p:nvSpPr>
          <p:cNvPr id="31" name="Text 28"/>
          <p:cNvSpPr/>
          <p:nvPr/>
        </p:nvSpPr>
        <p:spPr>
          <a:xfrm>
            <a:off x="13793710" y="6106831"/>
            <a:ext cx="1145132" cy="241772"/>
          </a:xfrm>
          <a:prstGeom prst="rect">
            <a:avLst/>
          </a:prstGeom>
          <a:noFill/>
          <a:ln/>
        </p:spPr>
        <p:txBody>
          <a:bodyPr wrap="square" lIns="25400" tIns="25400" rIns="25400" bIns="25400" rtlCol="0" anchor="t">
            <a:normAutofit/>
          </a:bodyPr>
          <a:lstStyle/>
          <a:p>
            <a:pPr algn="l" indent="0" marL="0">
              <a:lnSpc>
                <a:spcPct val="128276"/>
              </a:lnSpc>
              <a:buNone/>
            </a:pPr>
            <a:r>
              <a:rPr lang="en-US" sz="1035" dirty="0">
                <a:solidFill>
                  <a:srgbClr val="8A949B"/>
                </a:solidFill>
                <a:latin typeface="Barlow" pitchFamily="34" charset="0"/>
                <a:ea typeface="Barlow" pitchFamily="34" charset="-122"/>
                <a:cs typeface="Barlow" pitchFamily="34" charset="-120"/>
              </a:rPr>
              <a:t>target 52–56 · min⁻¹</a:t>
            </a:r>
            <a:endParaRPr lang="en-US" sz="1035" dirty="0"/>
          </a:p>
        </p:txBody>
      </p:sp>
      <p:sp>
        <p:nvSpPr>
          <p:cNvPr id="32" name="Shape 29"/>
          <p:cNvSpPr/>
          <p:nvPr/>
        </p:nvSpPr>
        <p:spPr>
          <a:xfrm>
            <a:off x="12789217" y="8414392"/>
            <a:ext cx="3768091" cy="10954"/>
          </a:xfrm>
          <a:prstGeom prst="rect">
            <a:avLst/>
          </a:prstGeom>
          <a:solidFill>
            <a:srgbClr val="2F373D"/>
          </a:solidFill>
          <a:ln/>
        </p:spPr>
      </p:sp>
      <p:sp>
        <p:nvSpPr>
          <p:cNvPr id="33" name="Text 30"/>
          <p:cNvSpPr/>
          <p:nvPr/>
        </p:nvSpPr>
        <p:spPr>
          <a:xfrm>
            <a:off x="12789217" y="8578698"/>
            <a:ext cx="3881134" cy="241772"/>
          </a:xfrm>
          <a:prstGeom prst="rect">
            <a:avLst/>
          </a:prstGeom>
          <a:noFill/>
          <a:ln/>
        </p:spPr>
        <p:txBody>
          <a:bodyPr wrap="square" lIns="25400" tIns="25400" rIns="25400" bIns="25400" rtlCol="0" anchor="t">
            <a:normAutofit/>
          </a:bodyPr>
          <a:lstStyle/>
          <a:p>
            <a:pPr algn="l" indent="0" marL="0">
              <a:lnSpc>
                <a:spcPct val="128276"/>
              </a:lnSpc>
              <a:buNone/>
            </a:pPr>
            <a:r>
              <a:rPr lang="en-US" sz="1035" dirty="0">
                <a:solidFill>
                  <a:srgbClr val="8A949B"/>
                </a:solidFill>
                <a:latin typeface="Barlow" pitchFamily="34" charset="0"/>
                <a:ea typeface="Barlow" pitchFamily="34" charset="-122"/>
                <a:cs typeface="Barlow" pitchFamily="34" charset="-120"/>
              </a:rPr>
              <a:t>audio cues on · fading 60% · svank tone armed</a:t>
            </a:r>
            <a:endParaRPr lang="en-US" sz="1035" dirty="0"/>
          </a:p>
        </p:txBody>
      </p:sp>
      <p:sp>
        <p:nvSpPr>
          <p:cNvPr id="34" name="Shape 31"/>
          <p:cNvSpPr/>
          <p:nvPr/>
        </p:nvSpPr>
        <p:spPr>
          <a:xfrm>
            <a:off x="12789217" y="9010174"/>
            <a:ext cx="3768091" cy="503872"/>
          </a:xfrm>
          <a:prstGeom prst="rect">
            <a:avLst/>
          </a:prstGeom>
          <a:ln w="10954">
            <a:solidFill>
              <a:srgbClr val="5C686F"/>
            </a:solidFill>
            <a:prstDash val="solid"/>
          </a:ln>
        </p:spPr>
      </p:sp>
      <p:sp>
        <p:nvSpPr>
          <p:cNvPr id="35" name="Text 32"/>
          <p:cNvSpPr/>
          <p:nvPr/>
        </p:nvSpPr>
        <p:spPr>
          <a:xfrm>
            <a:off x="12877723" y="9095613"/>
            <a:ext cx="3591078" cy="371094"/>
          </a:xfrm>
          <a:prstGeom prst="rect">
            <a:avLst/>
          </a:prstGeom>
          <a:noFill/>
          <a:ln/>
        </p:spPr>
        <p:txBody>
          <a:bodyPr wrap="square" lIns="25400" tIns="25400" rIns="25400" bIns="25400" rtlCol="0" anchor="ctr">
            <a:normAutofit/>
          </a:bodyPr>
          <a:lstStyle/>
          <a:p>
            <a:pPr algn="ctr" indent="0" marL="0">
              <a:lnSpc>
                <a:spcPct val="98824"/>
              </a:lnSpc>
              <a:buNone/>
            </a:pPr>
            <a:r>
              <a:rPr lang="en-US" sz="1208" b="1" spc="72" kern="0" dirty="0">
                <a:solidFill>
                  <a:srgbClr val="ECEFF1"/>
                </a:solidFill>
                <a:latin typeface="Barlow Condensed" pitchFamily="34" charset="0"/>
                <a:ea typeface="Barlow Condensed" pitchFamily="34" charset="-122"/>
                <a:cs typeface="Barlow Condensed" pitchFamily="34" charset="-120"/>
              </a:rPr>
              <a:t>END SESSION</a:t>
            </a:r>
            <a:endParaRPr lang="en-US" sz="1208"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050131" y="922973"/>
            <a:ext cx="3900488" cy="8441055"/>
          </a:xfrm>
          <a:prstGeom prst="rect">
            <a:avLst/>
          </a:prstGeom>
          <a:solidFill>
            <a:srgbClr val="FFFFFF"/>
          </a:solidFill>
          <a:ln w="10001">
            <a:solidFill>
              <a:srgbClr val="1F1F1F">
                <a:alpha val="16000"/>
              </a:srgbClr>
            </a:solidFill>
            <a:prstDash val="solid"/>
          </a:ln>
        </p:spPr>
      </p:sp>
      <p:sp>
        <p:nvSpPr>
          <p:cNvPr id="3" name="Shape 1"/>
          <p:cNvSpPr/>
          <p:nvPr/>
        </p:nvSpPr>
        <p:spPr>
          <a:xfrm>
            <a:off x="1060133" y="1492028"/>
            <a:ext cx="3880485" cy="10001"/>
          </a:xfrm>
          <a:prstGeom prst="rect">
            <a:avLst/>
          </a:prstGeom>
          <a:solidFill>
            <a:srgbClr val="1D1F20">
              <a:alpha val="16000"/>
            </a:srgbClr>
          </a:solidFill>
          <a:ln/>
        </p:spPr>
      </p:sp>
      <p:sp>
        <p:nvSpPr>
          <p:cNvPr id="4" name="Text 2"/>
          <p:cNvSpPr/>
          <p:nvPr/>
        </p:nvSpPr>
        <p:spPr>
          <a:xfrm>
            <a:off x="1240155" y="1092994"/>
            <a:ext cx="141599" cy="317119"/>
          </a:xfrm>
          <a:prstGeom prst="rect">
            <a:avLst/>
          </a:prstGeom>
          <a:noFill/>
          <a:ln/>
        </p:spPr>
        <p:txBody>
          <a:bodyPr wrap="square" lIns="25400" tIns="25400" rIns="25400" bIns="25400" rtlCol="0" anchor="t">
            <a:normAutofit/>
          </a:bodyPr>
          <a:lstStyle/>
          <a:p>
            <a:pPr algn="l" indent="0" marL="0">
              <a:lnSpc>
                <a:spcPct val="129767"/>
              </a:lnSpc>
              <a:buNone/>
            </a:pPr>
            <a:r>
              <a:rPr lang="en-US" sz="1418" dirty="0">
                <a:solidFill>
                  <a:srgbClr val="1D1F20"/>
                </a:solidFill>
                <a:latin typeface="Barlow" pitchFamily="34" charset="0"/>
                <a:ea typeface="Barlow" pitchFamily="34" charset="-122"/>
                <a:cs typeface="Barlow" pitchFamily="34" charset="-120"/>
              </a:rPr>
              <a:t>‹</a:t>
            </a:r>
            <a:endParaRPr lang="en-US" sz="1418" dirty="0"/>
          </a:p>
        </p:txBody>
      </p:sp>
      <p:sp>
        <p:nvSpPr>
          <p:cNvPr id="5" name="Text 3"/>
          <p:cNvSpPr/>
          <p:nvPr/>
        </p:nvSpPr>
        <p:spPr>
          <a:xfrm>
            <a:off x="1405566" y="1092994"/>
            <a:ext cx="1131879" cy="317119"/>
          </a:xfrm>
          <a:prstGeom prst="rect">
            <a:avLst/>
          </a:prstGeom>
          <a:noFill/>
          <a:ln/>
        </p:spPr>
        <p:txBody>
          <a:bodyPr wrap="square" lIns="25400" tIns="25400" rIns="25400" bIns="25400" rtlCol="0" anchor="t">
            <a:normAutofit/>
          </a:bodyPr>
          <a:lstStyle/>
          <a:p>
            <a:pPr algn="l" indent="0" marL="0">
              <a:lnSpc>
                <a:spcPct val="129767"/>
              </a:lnSpc>
              <a:buNone/>
            </a:pPr>
            <a:r>
              <a:rPr lang="en-US" sz="1418" b="1" dirty="0">
                <a:solidFill>
                  <a:srgbClr val="1D1F20"/>
                </a:solidFill>
                <a:latin typeface="Barlow Condensed" pitchFamily="34" charset="0"/>
                <a:ea typeface="Barlow Condensed" pitchFamily="34" charset="-122"/>
                <a:cs typeface="Barlow Condensed" pitchFamily="34" charset="-120"/>
              </a:rPr>
              <a:t>SESSION REPORT</a:t>
            </a:r>
            <a:endParaRPr lang="en-US" sz="1418" dirty="0"/>
          </a:p>
        </p:txBody>
      </p:sp>
      <p:sp>
        <p:nvSpPr>
          <p:cNvPr id="6" name="Text 4"/>
          <p:cNvSpPr/>
          <p:nvPr/>
        </p:nvSpPr>
        <p:spPr>
          <a:xfrm>
            <a:off x="3987451" y="1147220"/>
            <a:ext cx="849344" cy="208590"/>
          </a:xfrm>
          <a:prstGeom prst="rect">
            <a:avLst/>
          </a:prstGeom>
          <a:noFill/>
          <a:ln/>
        </p:spPr>
        <p:txBody>
          <a:bodyPr wrap="square" lIns="25400" tIns="25400" rIns="25400" bIns="25400" rtlCol="0" anchor="t">
            <a:normAutofit/>
          </a:bodyPr>
          <a:lstStyle/>
          <a:p>
            <a:pPr algn="l" indent="0" marL="0">
              <a:lnSpc>
                <a:spcPct val="131154"/>
              </a:lnSpc>
              <a:buNone/>
            </a:pPr>
            <a:r>
              <a:rPr lang="en-US" sz="866" dirty="0">
                <a:solidFill>
                  <a:srgbClr val="7A7A7D"/>
                </a:solidFill>
                <a:latin typeface="Barlow" pitchFamily="34" charset="0"/>
                <a:ea typeface="Barlow" pitchFamily="34" charset="-122"/>
                <a:cs typeface="Barlow" pitchFamily="34" charset="-120"/>
              </a:rPr>
              <a:t>Fri 17 Aug · 40:12</a:t>
            </a:r>
            <a:endParaRPr lang="en-US" sz="866" dirty="0"/>
          </a:p>
        </p:txBody>
      </p:sp>
      <p:sp>
        <p:nvSpPr>
          <p:cNvPr id="7" name="Shape 5"/>
          <p:cNvSpPr/>
          <p:nvPr/>
        </p:nvSpPr>
        <p:spPr>
          <a:xfrm>
            <a:off x="1240155" y="2877436"/>
            <a:ext cx="3520440" cy="10001"/>
          </a:xfrm>
          <a:prstGeom prst="rect">
            <a:avLst/>
          </a:prstGeom>
          <a:solidFill>
            <a:srgbClr val="1F1F1F">
              <a:alpha val="16000"/>
            </a:srgbClr>
          </a:solidFill>
          <a:ln/>
        </p:spPr>
      </p:sp>
      <p:sp>
        <p:nvSpPr>
          <p:cNvPr id="8" name="Shape 6"/>
          <p:cNvSpPr/>
          <p:nvPr/>
        </p:nvSpPr>
        <p:spPr>
          <a:xfrm>
            <a:off x="1240155" y="1682052"/>
            <a:ext cx="3520440" cy="10001"/>
          </a:xfrm>
          <a:prstGeom prst="rect">
            <a:avLst/>
          </a:prstGeom>
          <a:solidFill>
            <a:srgbClr val="1F1F1F">
              <a:alpha val="16000"/>
            </a:srgbClr>
          </a:solidFill>
          <a:ln/>
        </p:spPr>
      </p:sp>
      <p:sp>
        <p:nvSpPr>
          <p:cNvPr id="9" name="Shape 7"/>
          <p:cNvSpPr/>
          <p:nvPr/>
        </p:nvSpPr>
        <p:spPr>
          <a:xfrm>
            <a:off x="1240155" y="1682052"/>
            <a:ext cx="40005" cy="1205385"/>
          </a:xfrm>
          <a:prstGeom prst="rect">
            <a:avLst/>
          </a:prstGeom>
          <a:solidFill>
            <a:srgbClr val="4F7D5C"/>
          </a:solidFill>
          <a:ln/>
        </p:spPr>
      </p:sp>
      <p:sp>
        <p:nvSpPr>
          <p:cNvPr id="10" name="Shape 8"/>
          <p:cNvSpPr/>
          <p:nvPr/>
        </p:nvSpPr>
        <p:spPr>
          <a:xfrm>
            <a:off x="4750594" y="1682052"/>
            <a:ext cx="10001" cy="1205385"/>
          </a:xfrm>
          <a:prstGeom prst="rect">
            <a:avLst/>
          </a:prstGeom>
          <a:solidFill>
            <a:srgbClr val="1F1F1F">
              <a:alpha val="16000"/>
            </a:srgbClr>
          </a:solidFill>
          <a:ln/>
        </p:spPr>
      </p:sp>
      <p:sp>
        <p:nvSpPr>
          <p:cNvPr id="11" name="Text 9"/>
          <p:cNvSpPr/>
          <p:nvPr/>
        </p:nvSpPr>
        <p:spPr>
          <a:xfrm>
            <a:off x="1430179" y="1842072"/>
            <a:ext cx="3487436" cy="200855"/>
          </a:xfrm>
          <a:prstGeom prst="rect">
            <a:avLst/>
          </a:prstGeom>
          <a:noFill/>
          <a:ln/>
        </p:spPr>
        <p:txBody>
          <a:bodyPr wrap="square" lIns="25400" tIns="25400" rIns="25400" bIns="25400" rtlCol="0" anchor="t">
            <a:normAutofit/>
          </a:bodyPr>
          <a:lstStyle/>
          <a:p>
            <a:pPr algn="l" indent="0" marL="0">
              <a:lnSpc>
                <a:spcPct val="130200"/>
              </a:lnSpc>
              <a:buNone/>
            </a:pPr>
            <a:r>
              <a:rPr lang="en-US" sz="827" b="1" spc="132" kern="0" dirty="0">
                <a:solidFill>
                  <a:srgbClr val="3D6B4C"/>
                </a:solidFill>
                <a:latin typeface="Barlow" pitchFamily="34" charset="0"/>
                <a:ea typeface="Barlow" pitchFamily="34" charset="-122"/>
                <a:cs typeface="Barlow" pitchFamily="34" charset="-120"/>
              </a:rPr>
              <a:t>✓ WENT WELL</a:t>
            </a:r>
            <a:endParaRPr lang="en-US" sz="827" dirty="0"/>
          </a:p>
        </p:txBody>
      </p:sp>
      <p:sp>
        <p:nvSpPr>
          <p:cNvPr id="12" name="Text 10"/>
          <p:cNvSpPr/>
          <p:nvPr/>
        </p:nvSpPr>
        <p:spPr>
          <a:xfrm>
            <a:off x="1430179" y="2074835"/>
            <a:ext cx="3265508" cy="690682"/>
          </a:xfrm>
          <a:prstGeom prst="rect">
            <a:avLst/>
          </a:prstGeom>
          <a:noFill/>
          <a:ln/>
        </p:spPr>
        <p:txBody>
          <a:bodyPr wrap="square" lIns="25400" tIns="25400" rIns="25400" bIns="25400" rtlCol="0" anchor="t">
            <a:normAutofit/>
          </a:bodyPr>
          <a:lstStyle/>
          <a:p>
            <a:pPr algn="l" indent="0" marL="0">
              <a:lnSpc>
                <a:spcPct val="124286"/>
              </a:lnSpc>
              <a:buNone/>
            </a:pPr>
            <a:r>
              <a:rPr lang="en-US" sz="1142" dirty="0">
                <a:solidFill>
                  <a:srgbClr val="1D1F20"/>
                </a:solidFill>
                <a:latin typeface="Barlow" pitchFamily="34" charset="0"/>
                <a:ea typeface="Barlow" pitchFamily="34" charset="-122"/>
                <a:cs typeface="Barlow" pitchFamily="34" charset="-120"/>
              </a:rPr>
              <a:t>Poling time held at 53.1% of the cycle for the whole session — inside the ergometer band, and steadier than your last four sessions.</a:t>
            </a:r>
            <a:endParaRPr lang="en-US" sz="1142" dirty="0"/>
          </a:p>
        </p:txBody>
      </p:sp>
      <p:sp>
        <p:nvSpPr>
          <p:cNvPr id="13" name="Shape 11"/>
          <p:cNvSpPr/>
          <p:nvPr/>
        </p:nvSpPr>
        <p:spPr>
          <a:xfrm>
            <a:off x="1240155" y="5105917"/>
            <a:ext cx="3520440" cy="10001"/>
          </a:xfrm>
          <a:prstGeom prst="rect">
            <a:avLst/>
          </a:prstGeom>
          <a:solidFill>
            <a:srgbClr val="1F1F1F">
              <a:alpha val="16000"/>
            </a:srgbClr>
          </a:solidFill>
          <a:ln/>
        </p:spPr>
      </p:sp>
      <p:sp>
        <p:nvSpPr>
          <p:cNvPr id="14" name="Shape 12"/>
          <p:cNvSpPr/>
          <p:nvPr/>
        </p:nvSpPr>
        <p:spPr>
          <a:xfrm>
            <a:off x="1240155" y="3027454"/>
            <a:ext cx="3520440" cy="10001"/>
          </a:xfrm>
          <a:prstGeom prst="rect">
            <a:avLst/>
          </a:prstGeom>
          <a:solidFill>
            <a:srgbClr val="1F1F1F">
              <a:alpha val="16000"/>
            </a:srgbClr>
          </a:solidFill>
          <a:ln/>
        </p:spPr>
      </p:sp>
      <p:sp>
        <p:nvSpPr>
          <p:cNvPr id="15" name="Shape 13"/>
          <p:cNvSpPr/>
          <p:nvPr/>
        </p:nvSpPr>
        <p:spPr>
          <a:xfrm>
            <a:off x="1240155" y="3027454"/>
            <a:ext cx="40005" cy="2088464"/>
          </a:xfrm>
          <a:prstGeom prst="rect">
            <a:avLst/>
          </a:prstGeom>
          <a:solidFill>
            <a:srgbClr val="A8762C"/>
          </a:solidFill>
          <a:ln/>
        </p:spPr>
      </p:sp>
      <p:sp>
        <p:nvSpPr>
          <p:cNvPr id="16" name="Shape 14"/>
          <p:cNvSpPr/>
          <p:nvPr/>
        </p:nvSpPr>
        <p:spPr>
          <a:xfrm>
            <a:off x="4750594" y="3027454"/>
            <a:ext cx="10001" cy="2088464"/>
          </a:xfrm>
          <a:prstGeom prst="rect">
            <a:avLst/>
          </a:prstGeom>
          <a:solidFill>
            <a:srgbClr val="1F1F1F">
              <a:alpha val="16000"/>
            </a:srgbClr>
          </a:solidFill>
          <a:ln/>
        </p:spPr>
      </p:sp>
      <p:sp>
        <p:nvSpPr>
          <p:cNvPr id="17" name="Text 15"/>
          <p:cNvSpPr/>
          <p:nvPr/>
        </p:nvSpPr>
        <p:spPr>
          <a:xfrm>
            <a:off x="1430179" y="3187474"/>
            <a:ext cx="3487436" cy="200855"/>
          </a:xfrm>
          <a:prstGeom prst="rect">
            <a:avLst/>
          </a:prstGeom>
          <a:noFill/>
          <a:ln/>
        </p:spPr>
        <p:txBody>
          <a:bodyPr wrap="square" lIns="25400" tIns="25400" rIns="25400" bIns="25400" rtlCol="0" anchor="t">
            <a:normAutofit/>
          </a:bodyPr>
          <a:lstStyle/>
          <a:p>
            <a:pPr algn="l" indent="0" marL="0">
              <a:lnSpc>
                <a:spcPct val="130200"/>
              </a:lnSpc>
              <a:buNone/>
            </a:pPr>
            <a:r>
              <a:rPr lang="en-US" sz="827" b="1" spc="132" kern="0" dirty="0">
                <a:solidFill>
                  <a:srgbClr val="8A5F1C"/>
                </a:solidFill>
                <a:latin typeface="Barlow" pitchFamily="34" charset="0"/>
                <a:ea typeface="Barlow" pitchFamily="34" charset="-122"/>
                <a:cs typeface="Barlow" pitchFamily="34" charset="-120"/>
              </a:rPr>
              <a:t>▲ ONE FOCUS · SVANK</a:t>
            </a:r>
            <a:endParaRPr lang="en-US" sz="827" dirty="0"/>
          </a:p>
        </p:txBody>
      </p:sp>
      <p:sp>
        <p:nvSpPr>
          <p:cNvPr id="18" name="Text 16"/>
          <p:cNvSpPr/>
          <p:nvPr/>
        </p:nvSpPr>
        <p:spPr>
          <a:xfrm>
            <a:off x="1430179" y="3420238"/>
            <a:ext cx="3265508" cy="1125736"/>
          </a:xfrm>
          <a:prstGeom prst="rect">
            <a:avLst/>
          </a:prstGeom>
          <a:noFill/>
          <a:ln/>
        </p:spPr>
        <p:txBody>
          <a:bodyPr wrap="square" lIns="25400" tIns="25400" rIns="25400" bIns="25400" rtlCol="0" anchor="t">
            <a:normAutofit/>
          </a:bodyPr>
          <a:lstStyle/>
          <a:p>
            <a:pPr algn="l" indent="0" marL="0">
              <a:lnSpc>
                <a:spcPct val="124286"/>
              </a:lnSpc>
              <a:buNone/>
            </a:pPr>
            <a:r>
              <a:rPr lang="en-US" sz="1142" dirty="0">
                <a:solidFill>
                  <a:srgbClr val="1D1F20"/>
                </a:solidFill>
                <a:latin typeface="Barlow" pitchFamily="34" charset="0"/>
                <a:ea typeface="Barlow" pitchFamily="34" charset="-122"/>
                <a:cs typeface="Barlow" pitchFamily="34" charset="-120"/>
              </a:rPr>
              <a:t>Lumbar extension appeared 2.4 times per 100 cycles against a reference of 0–1, and rose through the session as your trunk lean fell away. That is your pelvis tipping forward once the deep core tires, not your arms giving out.</a:t>
            </a:r>
            <a:endParaRPr lang="en-US" sz="1142" dirty="0"/>
          </a:p>
        </p:txBody>
      </p:sp>
      <p:sp>
        <p:nvSpPr>
          <p:cNvPr id="19" name="Shape 17"/>
          <p:cNvSpPr/>
          <p:nvPr/>
        </p:nvSpPr>
        <p:spPr>
          <a:xfrm>
            <a:off x="1430179" y="4607886"/>
            <a:ext cx="3170396" cy="10001"/>
          </a:xfrm>
          <a:prstGeom prst="rect">
            <a:avLst/>
          </a:prstGeom>
          <a:solidFill>
            <a:srgbClr val="1D1F20">
              <a:alpha val="16000"/>
            </a:srgbClr>
          </a:solidFill>
          <a:ln/>
        </p:spPr>
      </p:sp>
      <p:sp>
        <p:nvSpPr>
          <p:cNvPr id="20" name="Text 18"/>
          <p:cNvSpPr/>
          <p:nvPr/>
        </p:nvSpPr>
        <p:spPr>
          <a:xfrm>
            <a:off x="1430179" y="4717900"/>
            <a:ext cx="3265508" cy="276099"/>
          </a:xfrm>
          <a:prstGeom prst="rect">
            <a:avLst/>
          </a:prstGeom>
          <a:noFill/>
          <a:ln/>
        </p:spPr>
        <p:txBody>
          <a:bodyPr wrap="square" lIns="25400" tIns="25400" rIns="25400" bIns="25400" rtlCol="0" anchor="t">
            <a:normAutofit/>
          </a:bodyPr>
          <a:lstStyle/>
          <a:p>
            <a:pPr algn="l" indent="0" marL="0">
              <a:lnSpc>
                <a:spcPct val="116098"/>
              </a:lnSpc>
              <a:buNone/>
            </a:pPr>
            <a:r>
              <a:rPr lang="en-US" sz="1339" b="1" i="1" dirty="0">
                <a:solidFill>
                  <a:srgbClr val="1D1F20"/>
                </a:solidFill>
                <a:latin typeface="Barlow Condensed" pitchFamily="34" charset="0"/>
                <a:ea typeface="Barlow Condensed" pitchFamily="34" charset="-122"/>
                <a:cs typeface="Barlow Condensed" pitchFamily="34" charset="-120"/>
              </a:rPr>
              <a:t>“Ribs down, tail tucked — brace before every push.”</a:t>
            </a:r>
            <a:endParaRPr lang="en-US" sz="1339" dirty="0"/>
          </a:p>
        </p:txBody>
      </p:sp>
      <p:sp>
        <p:nvSpPr>
          <p:cNvPr id="21" name="Shape 19"/>
          <p:cNvSpPr/>
          <p:nvPr/>
        </p:nvSpPr>
        <p:spPr>
          <a:xfrm>
            <a:off x="1240155" y="5255936"/>
            <a:ext cx="3520440" cy="987858"/>
          </a:xfrm>
          <a:prstGeom prst="rect">
            <a:avLst/>
          </a:prstGeom>
          <a:ln w="10001">
            <a:solidFill>
              <a:srgbClr val="1F1F1F">
                <a:alpha val="16000"/>
              </a:srgbClr>
            </a:solidFill>
            <a:prstDash val="solid"/>
          </a:ln>
        </p:spPr>
      </p:sp>
      <p:sp>
        <p:nvSpPr>
          <p:cNvPr id="22" name="Text 20"/>
          <p:cNvSpPr/>
          <p:nvPr/>
        </p:nvSpPr>
        <p:spPr>
          <a:xfrm>
            <a:off x="1400175" y="5415956"/>
            <a:ext cx="3520440" cy="200855"/>
          </a:xfrm>
          <a:prstGeom prst="rect">
            <a:avLst/>
          </a:prstGeom>
          <a:noFill/>
          <a:ln/>
        </p:spPr>
        <p:txBody>
          <a:bodyPr wrap="square" lIns="25400" tIns="25400" rIns="25400" bIns="25400" rtlCol="0" anchor="t">
            <a:normAutofit/>
          </a:bodyPr>
          <a:lstStyle/>
          <a:p>
            <a:pPr algn="l" indent="0" marL="0">
              <a:lnSpc>
                <a:spcPct val="130200"/>
              </a:lnSpc>
              <a:buNone/>
            </a:pPr>
            <a:r>
              <a:rPr lang="en-US" sz="827" b="1" spc="132" kern="0" dirty="0">
                <a:solidFill>
                  <a:srgbClr val="7A7A7D"/>
                </a:solidFill>
                <a:latin typeface="Barlow" pitchFamily="34" charset="0"/>
                <a:ea typeface="Barlow" pitchFamily="34" charset="-122"/>
                <a:cs typeface="Barlow" pitchFamily="34" charset="-120"/>
              </a:rPr>
              <a:t>NEXT DRILL</a:t>
            </a:r>
            <a:endParaRPr lang="en-US" sz="827" dirty="0"/>
          </a:p>
        </p:txBody>
      </p:sp>
      <p:sp>
        <p:nvSpPr>
          <p:cNvPr id="23" name="Text 21"/>
          <p:cNvSpPr/>
          <p:nvPr/>
        </p:nvSpPr>
        <p:spPr>
          <a:xfrm>
            <a:off x="1400175" y="5648719"/>
            <a:ext cx="3296412" cy="473155"/>
          </a:xfrm>
          <a:prstGeom prst="rect">
            <a:avLst/>
          </a:prstGeom>
          <a:noFill/>
          <a:ln/>
        </p:spPr>
        <p:txBody>
          <a:bodyPr wrap="square" lIns="25400" tIns="25400" rIns="25400" bIns="25400" rtlCol="0" anchor="t">
            <a:normAutofit/>
          </a:bodyPr>
          <a:lstStyle/>
          <a:p>
            <a:pPr algn="l" indent="0" marL="0">
              <a:lnSpc>
                <a:spcPct val="124286"/>
              </a:lnSpc>
              <a:buNone/>
            </a:pPr>
            <a:r>
              <a:rPr lang="en-US" sz="1142" dirty="0">
                <a:solidFill>
                  <a:srgbClr val="1D1F20"/>
                </a:solidFill>
                <a:latin typeface="Barlow" pitchFamily="34" charset="0"/>
                <a:ea typeface="Barlow" pitchFamily="34" charset="-122"/>
                <a:cs typeface="Barlow" pitchFamily="34" charset="-120"/>
              </a:rPr>
              <a:t>3 × 2 min at low resistance, holding a braced trunk with a deliberate pause at the end of each push.</a:t>
            </a:r>
            <a:endParaRPr lang="en-US" sz="1142" dirty="0"/>
          </a:p>
        </p:txBody>
      </p:sp>
      <p:sp>
        <p:nvSpPr>
          <p:cNvPr id="24" name="Shape 22"/>
          <p:cNvSpPr/>
          <p:nvPr/>
        </p:nvSpPr>
        <p:spPr>
          <a:xfrm>
            <a:off x="1240155" y="6383812"/>
            <a:ext cx="1389861" cy="207213"/>
          </a:xfrm>
          <a:prstGeom prst="rect">
            <a:avLst/>
          </a:prstGeom>
          <a:ln w="10001">
            <a:solidFill>
              <a:srgbClr val="1D1F20">
                <a:alpha val="16000"/>
              </a:srgbClr>
            </a:solidFill>
            <a:prstDash val="solid"/>
          </a:ln>
        </p:spPr>
      </p:sp>
      <p:sp>
        <p:nvSpPr>
          <p:cNvPr id="25" name="Text 23"/>
          <p:cNvSpPr/>
          <p:nvPr/>
        </p:nvSpPr>
        <p:spPr>
          <a:xfrm>
            <a:off x="1310164" y="6413815"/>
            <a:ext cx="1326044" cy="185305"/>
          </a:xfrm>
          <a:prstGeom prst="rect">
            <a:avLst/>
          </a:prstGeom>
          <a:noFill/>
          <a:ln/>
        </p:spPr>
        <p:txBody>
          <a:bodyPr wrap="square" lIns="25400" tIns="25400" rIns="25400" bIns="25400" rtlCol="0" anchor="t">
            <a:normAutofit/>
          </a:bodyPr>
          <a:lstStyle/>
          <a:p>
            <a:pPr algn="l" indent="0" marL="0">
              <a:lnSpc>
                <a:spcPct val="128043"/>
              </a:lnSpc>
              <a:buNone/>
            </a:pPr>
            <a:r>
              <a:rPr lang="en-US" sz="748" b="1" spc="75" kern="0" dirty="0">
                <a:solidFill>
                  <a:srgbClr val="416180"/>
                </a:solidFill>
                <a:latin typeface="Barlow" pitchFamily="34" charset="0"/>
                <a:ea typeface="Barlow" pitchFamily="34" charset="-122"/>
                <a:cs typeface="Barlow" pitchFamily="34" charset="-120"/>
              </a:rPr>
              <a:t>GENERATED · VALIDATED</a:t>
            </a:r>
            <a:endParaRPr lang="en-US" sz="748" dirty="0"/>
          </a:p>
        </p:txBody>
      </p:sp>
      <p:sp>
        <p:nvSpPr>
          <p:cNvPr id="26" name="Text 24"/>
          <p:cNvSpPr/>
          <p:nvPr/>
        </p:nvSpPr>
        <p:spPr>
          <a:xfrm>
            <a:off x="2690024" y="6402173"/>
            <a:ext cx="1372078" cy="208590"/>
          </a:xfrm>
          <a:prstGeom prst="rect">
            <a:avLst/>
          </a:prstGeom>
          <a:noFill/>
          <a:ln/>
        </p:spPr>
        <p:txBody>
          <a:bodyPr wrap="square" lIns="25400" tIns="25400" rIns="25400" bIns="25400" rtlCol="0" anchor="t">
            <a:normAutofit/>
          </a:bodyPr>
          <a:lstStyle/>
          <a:p>
            <a:pPr algn="l" indent="0" marL="0">
              <a:lnSpc>
                <a:spcPct val="131154"/>
              </a:lnSpc>
              <a:buNone/>
            </a:pPr>
            <a:r>
              <a:rPr lang="en-US" sz="866" dirty="0">
                <a:solidFill>
                  <a:srgbClr val="7A7A7D"/>
                </a:solidFill>
                <a:latin typeface="Barlow" pitchFamily="34" charset="0"/>
                <a:ea typeface="Barlow" pitchFamily="34" charset="-122"/>
                <a:cs typeface="Barlow" pitchFamily="34" charset="-120"/>
              </a:rPr>
              <a:t>config 2026.1 · sync 3.2 ms</a:t>
            </a:r>
            <a:endParaRPr lang="en-US" sz="866" dirty="0"/>
          </a:p>
        </p:txBody>
      </p:sp>
      <p:sp>
        <p:nvSpPr>
          <p:cNvPr id="27" name="Shape 25"/>
          <p:cNvSpPr/>
          <p:nvPr/>
        </p:nvSpPr>
        <p:spPr>
          <a:xfrm>
            <a:off x="1240155" y="6731042"/>
            <a:ext cx="3520440" cy="10001"/>
          </a:xfrm>
          <a:prstGeom prst="rect">
            <a:avLst/>
          </a:prstGeom>
          <a:solidFill>
            <a:srgbClr val="1D1F20">
              <a:alpha val="16000"/>
            </a:srgbClr>
          </a:solidFill>
          <a:ln/>
        </p:spPr>
      </p:sp>
      <p:sp>
        <p:nvSpPr>
          <p:cNvPr id="28" name="Text 26"/>
          <p:cNvSpPr/>
          <p:nvPr/>
        </p:nvSpPr>
        <p:spPr>
          <a:xfrm>
            <a:off x="1240155" y="6871060"/>
            <a:ext cx="1588667" cy="239610"/>
          </a:xfrm>
          <a:prstGeom prst="rect">
            <a:avLst/>
          </a:prstGeom>
          <a:noFill/>
          <a:ln/>
        </p:spPr>
        <p:txBody>
          <a:bodyPr wrap="square" lIns="25400" tIns="25400" rIns="25400" bIns="25400" rtlCol="0" anchor="t">
            <a:normAutofit/>
          </a:bodyPr>
          <a:lstStyle/>
          <a:p>
            <a:pPr algn="l" indent="0" marL="0">
              <a:lnSpc>
                <a:spcPct val="130000"/>
              </a:lnSpc>
              <a:buNone/>
            </a:pPr>
            <a:r>
              <a:rPr lang="en-US" sz="1024" dirty="0">
                <a:solidFill>
                  <a:srgbClr val="5D5D60"/>
                </a:solidFill>
                <a:latin typeface="Barlow" pitchFamily="34" charset="0"/>
                <a:ea typeface="Barlow" pitchFamily="34" charset="-122"/>
                <a:cs typeface="Barlow" pitchFamily="34" charset="-120"/>
              </a:rPr>
              <a:t>2 more items in full report</a:t>
            </a:r>
            <a:endParaRPr lang="en-US" sz="1024" dirty="0"/>
          </a:p>
        </p:txBody>
      </p:sp>
      <p:sp>
        <p:nvSpPr>
          <p:cNvPr id="29" name="Text 27"/>
          <p:cNvSpPr/>
          <p:nvPr/>
        </p:nvSpPr>
        <p:spPr>
          <a:xfrm>
            <a:off x="4709495" y="6871060"/>
            <a:ext cx="127300" cy="239610"/>
          </a:xfrm>
          <a:prstGeom prst="rect">
            <a:avLst/>
          </a:prstGeom>
          <a:noFill/>
          <a:ln/>
        </p:spPr>
        <p:txBody>
          <a:bodyPr wrap="square" lIns="25400" tIns="25400" rIns="25400" bIns="25400" rtlCol="0" anchor="t">
            <a:normAutofit/>
          </a:bodyPr>
          <a:lstStyle/>
          <a:p>
            <a:pPr algn="l" indent="0" marL="0">
              <a:lnSpc>
                <a:spcPct val="130000"/>
              </a:lnSpc>
              <a:buNone/>
            </a:pPr>
            <a:r>
              <a:rPr lang="en-US" sz="1024" dirty="0">
                <a:solidFill>
                  <a:srgbClr val="5D5D60"/>
                </a:solidFill>
                <a:latin typeface="Barlow" pitchFamily="34" charset="0"/>
                <a:ea typeface="Barlow" pitchFamily="34" charset="-122"/>
                <a:cs typeface="Barlow" pitchFamily="34" charset="-120"/>
              </a:rPr>
              <a:t>›</a:t>
            </a:r>
            <a:endParaRPr lang="en-US" sz="1024" dirty="0"/>
          </a:p>
        </p:txBody>
      </p:sp>
      <p:sp>
        <p:nvSpPr>
          <p:cNvPr id="30" name="Text 28"/>
          <p:cNvSpPr/>
          <p:nvPr/>
        </p:nvSpPr>
        <p:spPr>
          <a:xfrm>
            <a:off x="5715000" y="1737940"/>
            <a:ext cx="12573000" cy="392385"/>
          </a:xfrm>
          <a:prstGeom prst="rect">
            <a:avLst/>
          </a:prstGeom>
          <a:noFill/>
          <a:ln/>
        </p:spPr>
        <p:txBody>
          <a:bodyPr wrap="square" lIns="25400" tIns="25400" rIns="25400" bIns="25400" rtlCol="0" anchor="t">
            <a:normAutofit/>
          </a:bodyPr>
          <a:lstStyle/>
          <a:p>
            <a:pPr algn="l" indent="0" marL="0">
              <a:lnSpc>
                <a:spcPct val="128276"/>
              </a:lnSpc>
              <a:buNone/>
            </a:pPr>
            <a:r>
              <a:rPr lang="en-US" sz="1800" b="1" spc="252" kern="0" dirty="0">
                <a:solidFill>
                  <a:srgbClr val="416180"/>
                </a:solidFill>
                <a:latin typeface="Barlow Condensed" pitchFamily="34" charset="0"/>
                <a:ea typeface="Barlow Condensed" pitchFamily="34" charset="-122"/>
                <a:cs typeface="Barlow Condensed" pitchFamily="34" charset="-120"/>
              </a:rPr>
              <a:t>06 · A7 REPORT CARD</a:t>
            </a:r>
            <a:endParaRPr lang="en-US" sz="1800" dirty="0"/>
          </a:p>
        </p:txBody>
      </p:sp>
      <p:sp>
        <p:nvSpPr>
          <p:cNvPr id="31" name="Text 29"/>
          <p:cNvSpPr/>
          <p:nvPr/>
        </p:nvSpPr>
        <p:spPr>
          <a:xfrm>
            <a:off x="5715000" y="2225576"/>
            <a:ext cx="11772900" cy="1504950"/>
          </a:xfrm>
          <a:prstGeom prst="rect">
            <a:avLst/>
          </a:prstGeom>
          <a:noFill/>
          <a:ln/>
        </p:spPr>
        <p:txBody>
          <a:bodyPr wrap="square" lIns="25400" tIns="25400" rIns="25400" bIns="25400" rtlCol="0" anchor="t">
            <a:normAutofit/>
          </a:bodyPr>
          <a:lstStyle/>
          <a:p>
            <a:pPr algn="l" indent="0" marL="0">
              <a:lnSpc>
                <a:spcPct val="91667"/>
              </a:lnSpc>
              <a:buNone/>
            </a:pPr>
            <a:r>
              <a:rPr lang="en-US" sz="5250" b="1" dirty="0">
                <a:solidFill>
                  <a:srgbClr val="1D1F20"/>
                </a:solidFill>
                <a:latin typeface="Barlow Condensed" pitchFamily="34" charset="0"/>
                <a:ea typeface="Barlow Condensed" pitchFamily="34" charset="-122"/>
                <a:cs typeface="Barlow Condensed" pitchFamily="34" charset="-120"/>
              </a:rPr>
              <a:t>Numbers in code, language in the model</a:t>
            </a:r>
            <a:endParaRPr lang="en-US" sz="5250" dirty="0"/>
          </a:p>
        </p:txBody>
      </p:sp>
      <p:sp>
        <p:nvSpPr>
          <p:cNvPr id="32" name="Text 30"/>
          <p:cNvSpPr/>
          <p:nvPr/>
        </p:nvSpPr>
        <p:spPr>
          <a:xfrm>
            <a:off x="5715000" y="4035326"/>
            <a:ext cx="8044815" cy="1752600"/>
          </a:xfrm>
          <a:prstGeom prst="rect">
            <a:avLst/>
          </a:prstGeom>
          <a:noFill/>
          <a:ln/>
        </p:spPr>
        <p:txBody>
          <a:bodyPr wrap="square" lIns="25400" tIns="25400" rIns="25400" bIns="25400" rtlCol="0" anchor="t">
            <a:normAutofit/>
          </a:bodyPr>
          <a:lstStyle/>
          <a:p>
            <a:pPr algn="l" indent="0" marL="0">
              <a:lnSpc>
                <a:spcPct val="125000"/>
              </a:lnSpc>
              <a:buNone/>
            </a:pPr>
            <a:r>
              <a:rPr lang="en-US" sz="2250" dirty="0">
                <a:solidFill>
                  <a:srgbClr val="424244"/>
                </a:solidFill>
                <a:latin typeface="Barlow" pitchFamily="34" charset="0"/>
                <a:ea typeface="Barlow" pitchFamily="34" charset="-122"/>
                <a:cs typeface="Barlow" pitchFamily="34" charset="-120"/>
              </a:rPr>
              <a:t>The deterministic layer measures, ranks, suppresses and escalates. The model only phrases. It never computes, never chooses a threshold, and never even sees a number that failed a quality gate.</a:t>
            </a:r>
            <a:endParaRPr lang="en-US" sz="2250" dirty="0"/>
          </a:p>
        </p:txBody>
      </p:sp>
      <p:sp>
        <p:nvSpPr>
          <p:cNvPr id="33" name="Shape 31"/>
          <p:cNvSpPr/>
          <p:nvPr/>
        </p:nvSpPr>
        <p:spPr>
          <a:xfrm>
            <a:off x="5715000" y="6168926"/>
            <a:ext cx="4057650" cy="2380134"/>
          </a:xfrm>
          <a:prstGeom prst="rect">
            <a:avLst/>
          </a:prstGeom>
          <a:ln w="9525">
            <a:solidFill>
              <a:srgbClr val="1F1F1F">
                <a:alpha val="16000"/>
              </a:srgbClr>
            </a:solidFill>
            <a:prstDash val="solid"/>
          </a:ln>
        </p:spPr>
      </p:sp>
      <p:sp>
        <p:nvSpPr>
          <p:cNvPr id="34" name="Text 32"/>
          <p:cNvSpPr/>
          <p:nvPr/>
        </p:nvSpPr>
        <p:spPr>
          <a:xfrm>
            <a:off x="5953125" y="6407051"/>
            <a:ext cx="3939540" cy="540023"/>
          </a:xfrm>
          <a:prstGeom prst="rect">
            <a:avLst/>
          </a:prstGeom>
          <a:noFill/>
          <a:ln/>
        </p:spPr>
        <p:txBody>
          <a:bodyPr wrap="square" lIns="25400" tIns="25400" rIns="25400" bIns="25400" rtlCol="0" anchor="t">
            <a:normAutofit/>
          </a:bodyPr>
          <a:lstStyle/>
          <a:p>
            <a:pPr algn="l" indent="0" marL="0">
              <a:lnSpc>
                <a:spcPct val="128537"/>
              </a:lnSpc>
              <a:buNone/>
            </a:pPr>
            <a:r>
              <a:rPr lang="en-US" sz="2550" b="1" dirty="0">
                <a:solidFill>
                  <a:srgbClr val="1D1F20"/>
                </a:solidFill>
                <a:latin typeface="Barlow Condensed" pitchFamily="34" charset="0"/>
                <a:ea typeface="Barlow Condensed" pitchFamily="34" charset="-122"/>
                <a:cs typeface="Barlow Condensed" pitchFamily="34" charset="-120"/>
              </a:rPr>
              <a:t>Same shape, either source</a:t>
            </a:r>
            <a:endParaRPr lang="en-US" sz="2550" dirty="0"/>
          </a:p>
        </p:txBody>
      </p:sp>
      <p:sp>
        <p:nvSpPr>
          <p:cNvPr id="35" name="Text 33"/>
          <p:cNvSpPr/>
          <p:nvPr/>
        </p:nvSpPr>
        <p:spPr>
          <a:xfrm>
            <a:off x="5953125" y="6985174"/>
            <a:ext cx="3688842" cy="136386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424244"/>
                </a:solidFill>
                <a:latin typeface="Barlow" pitchFamily="34" charset="0"/>
                <a:ea typeface="Barlow" pitchFamily="34" charset="-122"/>
                <a:cs typeface="Barlow" pitchFamily="34" charset="-120"/>
              </a:rPr>
              <a:t>With coaching off, the deterministic template fills the identical card. The product runs with the model switched off.</a:t>
            </a:r>
            <a:endParaRPr lang="en-US" sz="1800" dirty="0"/>
          </a:p>
        </p:txBody>
      </p:sp>
      <p:sp>
        <p:nvSpPr>
          <p:cNvPr id="36" name="Shape 34"/>
          <p:cNvSpPr/>
          <p:nvPr/>
        </p:nvSpPr>
        <p:spPr>
          <a:xfrm>
            <a:off x="10039350" y="6168926"/>
            <a:ext cx="4057650" cy="2380134"/>
          </a:xfrm>
          <a:prstGeom prst="rect">
            <a:avLst/>
          </a:prstGeom>
          <a:ln w="9525">
            <a:solidFill>
              <a:srgbClr val="1F1F1F">
                <a:alpha val="16000"/>
              </a:srgbClr>
            </a:solidFill>
            <a:prstDash val="solid"/>
          </a:ln>
        </p:spPr>
      </p:sp>
      <p:sp>
        <p:nvSpPr>
          <p:cNvPr id="37" name="Text 35"/>
          <p:cNvSpPr/>
          <p:nvPr/>
        </p:nvSpPr>
        <p:spPr>
          <a:xfrm>
            <a:off x="10277475" y="6407051"/>
            <a:ext cx="3939540" cy="540023"/>
          </a:xfrm>
          <a:prstGeom prst="rect">
            <a:avLst/>
          </a:prstGeom>
          <a:noFill/>
          <a:ln/>
        </p:spPr>
        <p:txBody>
          <a:bodyPr wrap="square" lIns="25400" tIns="25400" rIns="25400" bIns="25400" rtlCol="0" anchor="t">
            <a:normAutofit/>
          </a:bodyPr>
          <a:lstStyle/>
          <a:p>
            <a:pPr algn="l" indent="0" marL="0">
              <a:lnSpc>
                <a:spcPct val="128537"/>
              </a:lnSpc>
              <a:buNone/>
            </a:pPr>
            <a:r>
              <a:rPr lang="en-US" sz="2550" b="1" dirty="0">
                <a:solidFill>
                  <a:srgbClr val="1D1F20"/>
                </a:solidFill>
                <a:latin typeface="Barlow Condensed" pitchFamily="34" charset="0"/>
                <a:ea typeface="Barlow Condensed" pitchFamily="34" charset="-122"/>
                <a:cs typeface="Barlow Condensed" pitchFamily="34" charset="-120"/>
              </a:rPr>
              <a:t>One cue, set apart</a:t>
            </a:r>
            <a:endParaRPr lang="en-US" sz="2550" dirty="0"/>
          </a:p>
        </p:txBody>
      </p:sp>
      <p:sp>
        <p:nvSpPr>
          <p:cNvPr id="38" name="Text 36"/>
          <p:cNvSpPr/>
          <p:nvPr/>
        </p:nvSpPr>
        <p:spPr>
          <a:xfrm>
            <a:off x="10277475" y="6985174"/>
            <a:ext cx="3688842" cy="103242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424244"/>
                </a:solidFill>
                <a:latin typeface="Barlow" pitchFamily="34" charset="0"/>
                <a:ea typeface="Barlow" pitchFamily="34" charset="-122"/>
                <a:cs typeface="Barlow" pitchFamily="34" charset="-120"/>
              </a:rPr>
              <a:t>Italic quotation inside the focus block — the single line worth retaining.</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143000" y="1391692"/>
            <a:ext cx="12573000" cy="392385"/>
          </a:xfrm>
          <a:prstGeom prst="rect">
            <a:avLst/>
          </a:prstGeom>
          <a:noFill/>
          <a:ln/>
        </p:spPr>
        <p:txBody>
          <a:bodyPr wrap="square" lIns="25400" tIns="25400" rIns="25400" bIns="25400" rtlCol="0" anchor="t">
            <a:normAutofit/>
          </a:bodyPr>
          <a:lstStyle/>
          <a:p>
            <a:pPr algn="l" indent="0" marL="0">
              <a:lnSpc>
                <a:spcPct val="128276"/>
              </a:lnSpc>
              <a:buNone/>
            </a:pPr>
            <a:r>
              <a:rPr lang="en-US" sz="1800" b="1" spc="252" kern="0" dirty="0">
                <a:solidFill>
                  <a:srgbClr val="9D443B"/>
                </a:solidFill>
                <a:latin typeface="Barlow Condensed" pitchFamily="34" charset="0"/>
                <a:ea typeface="Barlow Condensed" pitchFamily="34" charset="-122"/>
                <a:cs typeface="Barlow Condensed" pitchFamily="34" charset="-120"/>
              </a:rPr>
              <a:t>07 · A7E ESCALATION</a:t>
            </a:r>
            <a:endParaRPr lang="en-US" sz="1800" dirty="0"/>
          </a:p>
        </p:txBody>
      </p:sp>
      <p:sp>
        <p:nvSpPr>
          <p:cNvPr id="3" name="Text 1"/>
          <p:cNvSpPr/>
          <p:nvPr/>
        </p:nvSpPr>
        <p:spPr>
          <a:xfrm>
            <a:off x="1143000" y="1879327"/>
            <a:ext cx="11772900" cy="1504950"/>
          </a:xfrm>
          <a:prstGeom prst="rect">
            <a:avLst/>
          </a:prstGeom>
          <a:noFill/>
          <a:ln/>
        </p:spPr>
        <p:txBody>
          <a:bodyPr wrap="square" lIns="25400" tIns="25400" rIns="25400" bIns="25400" rtlCol="0" anchor="t">
            <a:normAutofit/>
          </a:bodyPr>
          <a:lstStyle/>
          <a:p>
            <a:pPr algn="l" indent="0" marL="0">
              <a:lnSpc>
                <a:spcPct val="91667"/>
              </a:lnSpc>
              <a:buNone/>
            </a:pPr>
            <a:r>
              <a:rPr lang="en-US" sz="5250" b="1" dirty="0">
                <a:solidFill>
                  <a:srgbClr val="1D1F20"/>
                </a:solidFill>
                <a:latin typeface="Barlow Condensed" pitchFamily="34" charset="0"/>
                <a:ea typeface="Barlow Condensed" pitchFamily="34" charset="-122"/>
                <a:cs typeface="Barlow Condensed" pitchFamily="34" charset="-120"/>
              </a:rPr>
              <a:t>The hierarchy is the safety mechanism</a:t>
            </a:r>
            <a:endParaRPr lang="en-US" sz="5250" dirty="0"/>
          </a:p>
        </p:txBody>
      </p:sp>
      <p:sp>
        <p:nvSpPr>
          <p:cNvPr id="4" name="Text 2"/>
          <p:cNvSpPr/>
          <p:nvPr/>
        </p:nvSpPr>
        <p:spPr>
          <a:xfrm>
            <a:off x="1143000" y="3689077"/>
            <a:ext cx="8241030" cy="783878"/>
          </a:xfrm>
          <a:prstGeom prst="rect">
            <a:avLst/>
          </a:prstGeom>
          <a:noFill/>
          <a:ln/>
        </p:spPr>
        <p:txBody>
          <a:bodyPr wrap="square" lIns="25400" tIns="25400" rIns="25400" bIns="25400" rtlCol="0" anchor="t">
            <a:normAutofit/>
          </a:bodyPr>
          <a:lstStyle/>
          <a:p>
            <a:pPr algn="l" indent="0" marL="0">
              <a:lnSpc>
                <a:spcPct val="120462"/>
              </a:lnSpc>
              <a:buNone/>
            </a:pPr>
            <a:r>
              <a:rPr lang="en-US" sz="2025" b="1" dirty="0">
                <a:solidFill>
                  <a:srgbClr val="1D1F20"/>
                </a:solidFill>
                <a:latin typeface="Barlow" pitchFamily="34" charset="0"/>
                <a:ea typeface="Barlow" pitchFamily="34" charset="-122"/>
                <a:cs typeface="Barlow" pitchFamily="34" charset="-120"/>
              </a:rPr>
              <a:t>Referral first. </a:t>
            </a:r>
            <a:pPr algn="l" indent="0" marL="0">
              <a:lnSpc>
                <a:spcPct val="120462"/>
              </a:lnSpc>
              <a:buNone/>
            </a:pPr>
            <a:r>
              <a:rPr lang="en-US" sz="2025" dirty="0">
                <a:solidFill>
                  <a:srgbClr val="424244"/>
                </a:solidFill>
                <a:latin typeface="Barlow" pitchFamily="34" charset="0"/>
                <a:ea typeface="Barlow" pitchFamily="34" charset="-122"/>
                <a:cs typeface="Barlow" pitchFamily="34" charset="-120"/>
              </a:rPr>
              <a:t>Fixed, human-written text — never generated, never rewritten. “This app measures movement — it can't assess your back.”</a:t>
            </a:r>
            <a:endParaRPr lang="en-US" sz="2025" dirty="0"/>
          </a:p>
        </p:txBody>
      </p:sp>
      <p:sp>
        <p:nvSpPr>
          <p:cNvPr id="5" name="Text 3"/>
          <p:cNvSpPr/>
          <p:nvPr/>
        </p:nvSpPr>
        <p:spPr>
          <a:xfrm>
            <a:off x="1143000" y="4644405"/>
            <a:ext cx="8241030" cy="783878"/>
          </a:xfrm>
          <a:prstGeom prst="rect">
            <a:avLst/>
          </a:prstGeom>
          <a:noFill/>
          <a:ln/>
        </p:spPr>
        <p:txBody>
          <a:bodyPr wrap="square" lIns="25400" tIns="25400" rIns="25400" bIns="25400" rtlCol="0" anchor="t">
            <a:normAutofit/>
          </a:bodyPr>
          <a:lstStyle/>
          <a:p>
            <a:pPr algn="l" indent="0" marL="0">
              <a:lnSpc>
                <a:spcPct val="120462"/>
              </a:lnSpc>
              <a:buNone/>
            </a:pPr>
            <a:r>
              <a:rPr lang="en-US" sz="2025" b="1" dirty="0">
                <a:solidFill>
                  <a:srgbClr val="1D1F20"/>
                </a:solidFill>
                <a:latin typeface="Barlow" pitchFamily="34" charset="0"/>
                <a:ea typeface="Barlow" pitchFamily="34" charset="-122"/>
                <a:cs typeface="Barlow" pitchFamily="34" charset="-120"/>
              </a:rPr>
              <a:t>Drill replaced, not softened. </a:t>
            </a:r>
            <a:pPr algn="l" indent="0" marL="0">
              <a:lnSpc>
                <a:spcPct val="120462"/>
              </a:lnSpc>
              <a:buNone/>
            </a:pPr>
            <a:r>
              <a:rPr lang="en-US" sz="2025" dirty="0">
                <a:solidFill>
                  <a:srgbClr val="424244"/>
                </a:solidFill>
                <a:latin typeface="Barlow" pitchFamily="34" charset="0"/>
                <a:ea typeface="Barlow" pitchFamily="34" charset="-122"/>
                <a:cs typeface="Barlow" pitchFamily="34" charset="-120"/>
              </a:rPr>
              <a:t>A dashed neutral block: no training prescribed on top of a referral.</a:t>
            </a:r>
            <a:endParaRPr lang="en-US" sz="2025" dirty="0"/>
          </a:p>
        </p:txBody>
      </p:sp>
      <p:sp>
        <p:nvSpPr>
          <p:cNvPr id="6" name="Text 4"/>
          <p:cNvSpPr/>
          <p:nvPr/>
        </p:nvSpPr>
        <p:spPr>
          <a:xfrm>
            <a:off x="1143000" y="5599733"/>
            <a:ext cx="8241030" cy="783878"/>
          </a:xfrm>
          <a:prstGeom prst="rect">
            <a:avLst/>
          </a:prstGeom>
          <a:noFill/>
          <a:ln/>
        </p:spPr>
        <p:txBody>
          <a:bodyPr wrap="square" lIns="25400" tIns="25400" rIns="25400" bIns="25400" rtlCol="0" anchor="t">
            <a:normAutofit/>
          </a:bodyPr>
          <a:lstStyle/>
          <a:p>
            <a:pPr algn="l" indent="0" marL="0">
              <a:lnSpc>
                <a:spcPct val="120462"/>
              </a:lnSpc>
              <a:buNone/>
            </a:pPr>
            <a:r>
              <a:rPr lang="en-US" sz="2025" b="1" dirty="0">
                <a:solidFill>
                  <a:srgbClr val="1D1F20"/>
                </a:solidFill>
                <a:latin typeface="Barlow" pitchFamily="34" charset="0"/>
                <a:ea typeface="Barlow" pitchFamily="34" charset="-122"/>
                <a:cs typeface="Barlow" pitchFamily="34" charset="-120"/>
              </a:rPr>
              <a:t>Focus becomes observation. </a:t>
            </a:r>
            <a:pPr algn="l" indent="0" marL="0">
              <a:lnSpc>
                <a:spcPct val="120462"/>
              </a:lnSpc>
              <a:buNone/>
            </a:pPr>
            <a:r>
              <a:rPr lang="en-US" sz="2025" dirty="0">
                <a:solidFill>
                  <a:srgbClr val="424244"/>
                </a:solidFill>
                <a:latin typeface="Barlow" pitchFamily="34" charset="0"/>
                <a:ea typeface="Barlow" pitchFamily="34" charset="-122"/>
                <a:cs typeface="Barlow" pitchFamily="34" charset="-120"/>
              </a:rPr>
              <a:t>Coaching scope drops to conservative, so cue and drill leave the required schema entirely.</a:t>
            </a:r>
            <a:endParaRPr lang="en-US" sz="2025" dirty="0"/>
          </a:p>
        </p:txBody>
      </p:sp>
      <p:sp>
        <p:nvSpPr>
          <p:cNvPr id="7" name="Text 5"/>
          <p:cNvSpPr/>
          <p:nvPr/>
        </p:nvSpPr>
        <p:spPr>
          <a:xfrm>
            <a:off x="1143000" y="6555060"/>
            <a:ext cx="8241030" cy="783878"/>
          </a:xfrm>
          <a:prstGeom prst="rect">
            <a:avLst/>
          </a:prstGeom>
          <a:noFill/>
          <a:ln/>
        </p:spPr>
        <p:txBody>
          <a:bodyPr wrap="square" lIns="25400" tIns="25400" rIns="25400" bIns="25400" rtlCol="0" anchor="t">
            <a:normAutofit/>
          </a:bodyPr>
          <a:lstStyle/>
          <a:p>
            <a:pPr algn="l" indent="0" marL="0">
              <a:lnSpc>
                <a:spcPct val="120462"/>
              </a:lnSpc>
              <a:buNone/>
            </a:pPr>
            <a:r>
              <a:rPr lang="en-US" sz="2025" b="1" dirty="0">
                <a:solidFill>
                  <a:srgbClr val="1D1F20"/>
                </a:solidFill>
                <a:latin typeface="Barlow" pitchFamily="34" charset="0"/>
                <a:ea typeface="Barlow" pitchFamily="34" charset="-122"/>
                <a:cs typeface="Barlow" pitchFamily="34" charset="-120"/>
              </a:rPr>
              <a:t>Went-well is retained. </a:t>
            </a:r>
            <a:pPr algn="l" indent="0" marL="0">
              <a:lnSpc>
                <a:spcPct val="120462"/>
              </a:lnSpc>
              <a:buNone/>
            </a:pPr>
            <a:r>
              <a:rPr lang="en-US" sz="2025" dirty="0">
                <a:solidFill>
                  <a:srgbClr val="424244"/>
                </a:solidFill>
                <a:latin typeface="Barlow" pitchFamily="34" charset="0"/>
                <a:ea typeface="Barlow" pitchFamily="34" charset="-122"/>
                <a:cs typeface="Barlow" pitchFamily="34" charset="-120"/>
              </a:rPr>
              <a:t>An athlete being told to see a physio still deserves to know what they did well.</a:t>
            </a:r>
            <a:endParaRPr lang="en-US" sz="2025" dirty="0"/>
          </a:p>
        </p:txBody>
      </p:sp>
      <p:sp>
        <p:nvSpPr>
          <p:cNvPr id="8" name="Shape 6"/>
          <p:cNvSpPr/>
          <p:nvPr/>
        </p:nvSpPr>
        <p:spPr>
          <a:xfrm>
            <a:off x="1143000" y="7719938"/>
            <a:ext cx="8001000" cy="1175296"/>
          </a:xfrm>
          <a:prstGeom prst="rect">
            <a:avLst/>
          </a:prstGeom>
          <a:solidFill>
            <a:srgbClr val="FDF1F0"/>
          </a:solidFill>
          <a:ln w="19050">
            <a:solidFill>
              <a:srgbClr val="9D443B"/>
            </a:solidFill>
            <a:prstDash val="solid"/>
          </a:ln>
        </p:spPr>
      </p:sp>
      <p:sp>
        <p:nvSpPr>
          <p:cNvPr id="9" name="Text 7"/>
          <p:cNvSpPr/>
          <p:nvPr/>
        </p:nvSpPr>
        <p:spPr>
          <a:xfrm>
            <a:off x="1409700" y="7948538"/>
            <a:ext cx="7707630" cy="756196"/>
          </a:xfrm>
          <a:prstGeom prst="rect">
            <a:avLst/>
          </a:prstGeom>
          <a:noFill/>
          <a:ln/>
        </p:spPr>
        <p:txBody>
          <a:bodyPr wrap="square" lIns="25400" tIns="25400" rIns="25400" bIns="25400" rtlCol="0" anchor="t">
            <a:normAutofit/>
          </a:bodyPr>
          <a:lstStyle/>
          <a:p>
            <a:pPr algn="l" indent="0" marL="0">
              <a:lnSpc>
                <a:spcPct val="121613"/>
              </a:lnSpc>
              <a:buNone/>
            </a:pPr>
            <a:r>
              <a:rPr lang="en-US" sz="1950" dirty="0">
                <a:solidFill>
                  <a:srgbClr val="1D1F20"/>
                </a:solidFill>
                <a:latin typeface="Barlow" pitchFamily="34" charset="0"/>
                <a:ea typeface="Barlow" pitchFamily="34" charset="-122"/>
                <a:cs typeface="Barlow" pitchFamily="34" charset="-120"/>
              </a:rPr>
              <a:t>Moving the referral block below the coaching content is a regression in a safety behaviour — flag it in review, not in backlog.</a:t>
            </a:r>
            <a:endParaRPr lang="en-US" sz="1950" dirty="0"/>
          </a:p>
        </p:txBody>
      </p:sp>
      <p:sp>
        <p:nvSpPr>
          <p:cNvPr id="10" name="Shape 8"/>
          <p:cNvSpPr/>
          <p:nvPr/>
        </p:nvSpPr>
        <p:spPr>
          <a:xfrm>
            <a:off x="13337381" y="922973"/>
            <a:ext cx="3900488" cy="8441055"/>
          </a:xfrm>
          <a:prstGeom prst="rect">
            <a:avLst/>
          </a:prstGeom>
          <a:solidFill>
            <a:srgbClr val="FFFFFF"/>
          </a:solidFill>
          <a:ln w="10001">
            <a:solidFill>
              <a:srgbClr val="1F1F1F">
                <a:alpha val="16000"/>
              </a:srgbClr>
            </a:solidFill>
            <a:prstDash val="solid"/>
          </a:ln>
        </p:spPr>
      </p:sp>
      <p:sp>
        <p:nvSpPr>
          <p:cNvPr id="11" name="Shape 9"/>
          <p:cNvSpPr/>
          <p:nvPr/>
        </p:nvSpPr>
        <p:spPr>
          <a:xfrm>
            <a:off x="13347383" y="1492028"/>
            <a:ext cx="3880484" cy="10001"/>
          </a:xfrm>
          <a:prstGeom prst="rect">
            <a:avLst/>
          </a:prstGeom>
          <a:solidFill>
            <a:srgbClr val="1D1F20">
              <a:alpha val="16000"/>
            </a:srgbClr>
          </a:solidFill>
          <a:ln/>
        </p:spPr>
      </p:sp>
      <p:sp>
        <p:nvSpPr>
          <p:cNvPr id="12" name="Text 10"/>
          <p:cNvSpPr/>
          <p:nvPr/>
        </p:nvSpPr>
        <p:spPr>
          <a:xfrm>
            <a:off x="13527405" y="1092994"/>
            <a:ext cx="141599" cy="317119"/>
          </a:xfrm>
          <a:prstGeom prst="rect">
            <a:avLst/>
          </a:prstGeom>
          <a:noFill/>
          <a:ln/>
        </p:spPr>
        <p:txBody>
          <a:bodyPr wrap="square" lIns="25400" tIns="25400" rIns="25400" bIns="25400" rtlCol="0" anchor="t">
            <a:normAutofit/>
          </a:bodyPr>
          <a:lstStyle/>
          <a:p>
            <a:pPr algn="l" indent="0" marL="0">
              <a:lnSpc>
                <a:spcPct val="129767"/>
              </a:lnSpc>
              <a:buNone/>
            </a:pPr>
            <a:r>
              <a:rPr lang="en-US" sz="1418" dirty="0">
                <a:solidFill>
                  <a:srgbClr val="1D1F20"/>
                </a:solidFill>
                <a:latin typeface="Barlow" pitchFamily="34" charset="0"/>
                <a:ea typeface="Barlow" pitchFamily="34" charset="-122"/>
                <a:cs typeface="Barlow" pitchFamily="34" charset="-120"/>
              </a:rPr>
              <a:t>‹</a:t>
            </a:r>
            <a:endParaRPr lang="en-US" sz="1418" dirty="0"/>
          </a:p>
        </p:txBody>
      </p:sp>
      <p:sp>
        <p:nvSpPr>
          <p:cNvPr id="13" name="Text 11"/>
          <p:cNvSpPr/>
          <p:nvPr/>
        </p:nvSpPr>
        <p:spPr>
          <a:xfrm>
            <a:off x="13692817" y="1092994"/>
            <a:ext cx="1131879" cy="317119"/>
          </a:xfrm>
          <a:prstGeom prst="rect">
            <a:avLst/>
          </a:prstGeom>
          <a:noFill/>
          <a:ln/>
        </p:spPr>
        <p:txBody>
          <a:bodyPr wrap="square" lIns="25400" tIns="25400" rIns="25400" bIns="25400" rtlCol="0" anchor="t">
            <a:normAutofit/>
          </a:bodyPr>
          <a:lstStyle/>
          <a:p>
            <a:pPr algn="l" indent="0" marL="0">
              <a:lnSpc>
                <a:spcPct val="129767"/>
              </a:lnSpc>
              <a:buNone/>
            </a:pPr>
            <a:r>
              <a:rPr lang="en-US" sz="1418" b="1" dirty="0">
                <a:solidFill>
                  <a:srgbClr val="1D1F20"/>
                </a:solidFill>
                <a:latin typeface="Barlow Condensed" pitchFamily="34" charset="0"/>
                <a:ea typeface="Barlow Condensed" pitchFamily="34" charset="-122"/>
                <a:cs typeface="Barlow Condensed" pitchFamily="34" charset="-120"/>
              </a:rPr>
              <a:t>SESSION REPORT</a:t>
            </a:r>
            <a:endParaRPr lang="en-US" sz="1418" dirty="0"/>
          </a:p>
        </p:txBody>
      </p:sp>
      <p:sp>
        <p:nvSpPr>
          <p:cNvPr id="14" name="Text 12"/>
          <p:cNvSpPr/>
          <p:nvPr/>
        </p:nvSpPr>
        <p:spPr>
          <a:xfrm>
            <a:off x="16258215" y="1147220"/>
            <a:ext cx="865831" cy="208590"/>
          </a:xfrm>
          <a:prstGeom prst="rect">
            <a:avLst/>
          </a:prstGeom>
          <a:noFill/>
          <a:ln/>
        </p:spPr>
        <p:txBody>
          <a:bodyPr wrap="square" lIns="25400" tIns="25400" rIns="25400" bIns="25400" rtlCol="0" anchor="t">
            <a:normAutofit/>
          </a:bodyPr>
          <a:lstStyle/>
          <a:p>
            <a:pPr algn="l" indent="0" marL="0">
              <a:lnSpc>
                <a:spcPct val="131154"/>
              </a:lnSpc>
              <a:buNone/>
            </a:pPr>
            <a:r>
              <a:rPr lang="en-US" sz="866" dirty="0">
                <a:solidFill>
                  <a:srgbClr val="7A7A7D"/>
                </a:solidFill>
                <a:latin typeface="Barlow" pitchFamily="34" charset="0"/>
                <a:ea typeface="Barlow" pitchFamily="34" charset="-122"/>
                <a:cs typeface="Barlow" pitchFamily="34" charset="-120"/>
              </a:rPr>
              <a:t>Fri 17 Aug · 38:40</a:t>
            </a:r>
            <a:endParaRPr lang="en-US" sz="866" dirty="0"/>
          </a:p>
        </p:txBody>
      </p:sp>
      <p:sp>
        <p:nvSpPr>
          <p:cNvPr id="15" name="Shape 13"/>
          <p:cNvSpPr/>
          <p:nvPr/>
        </p:nvSpPr>
        <p:spPr>
          <a:xfrm>
            <a:off x="13527405" y="1682052"/>
            <a:ext cx="3520441" cy="2278019"/>
          </a:xfrm>
          <a:prstGeom prst="rect">
            <a:avLst/>
          </a:prstGeom>
          <a:solidFill>
            <a:srgbClr val="FDF1F0"/>
          </a:solidFill>
          <a:ln w="20003">
            <a:solidFill>
              <a:srgbClr val="9D443B"/>
            </a:solidFill>
            <a:prstDash val="solid"/>
          </a:ln>
        </p:spPr>
      </p:sp>
      <p:sp>
        <p:nvSpPr>
          <p:cNvPr id="16" name="Text 14"/>
          <p:cNvSpPr/>
          <p:nvPr/>
        </p:nvSpPr>
        <p:spPr>
          <a:xfrm>
            <a:off x="13707427" y="1862074"/>
            <a:ext cx="3476435" cy="200855"/>
          </a:xfrm>
          <a:prstGeom prst="rect">
            <a:avLst/>
          </a:prstGeom>
          <a:noFill/>
          <a:ln/>
        </p:spPr>
        <p:txBody>
          <a:bodyPr wrap="square" lIns="25400" tIns="25400" rIns="25400" bIns="25400" rtlCol="0" anchor="t">
            <a:normAutofit/>
          </a:bodyPr>
          <a:lstStyle/>
          <a:p>
            <a:pPr algn="l" indent="0" marL="0">
              <a:lnSpc>
                <a:spcPct val="130200"/>
              </a:lnSpc>
              <a:buNone/>
            </a:pPr>
            <a:r>
              <a:rPr lang="en-US" sz="827" b="1" spc="132" kern="0" dirty="0">
                <a:solidFill>
                  <a:srgbClr val="9D443B"/>
                </a:solidFill>
                <a:latin typeface="Barlow" pitchFamily="34" charset="0"/>
                <a:ea typeface="Barlow" pitchFamily="34" charset="-122"/>
                <a:cs typeface="Barlow" pitchFamily="34" charset="-120"/>
              </a:rPr>
              <a:t>■ WORTH GETTING CHECKED</a:t>
            </a:r>
            <a:endParaRPr lang="en-US" sz="827" dirty="0"/>
          </a:p>
        </p:txBody>
      </p:sp>
      <p:sp>
        <p:nvSpPr>
          <p:cNvPr id="17" name="Text 15"/>
          <p:cNvSpPr/>
          <p:nvPr/>
        </p:nvSpPr>
        <p:spPr>
          <a:xfrm>
            <a:off x="13707427" y="2104839"/>
            <a:ext cx="3255207" cy="1163240"/>
          </a:xfrm>
          <a:prstGeom prst="rect">
            <a:avLst/>
          </a:prstGeom>
          <a:noFill/>
          <a:ln/>
        </p:spPr>
        <p:txBody>
          <a:bodyPr wrap="square" lIns="25400" tIns="25400" rIns="25400" bIns="25400" rtlCol="0" anchor="t">
            <a:normAutofit/>
          </a:bodyPr>
          <a:lstStyle/>
          <a:p>
            <a:pPr algn="l" indent="0" marL="0">
              <a:lnSpc>
                <a:spcPct val="125000"/>
              </a:lnSpc>
              <a:buNone/>
            </a:pPr>
            <a:r>
              <a:rPr lang="en-US" sz="1181" dirty="0">
                <a:solidFill>
                  <a:srgbClr val="1D1F20"/>
                </a:solidFill>
                <a:latin typeface="Barlow" pitchFamily="34" charset="0"/>
                <a:ea typeface="Barlow" pitchFamily="34" charset="-122"/>
                <a:cs typeface="Barlow" pitchFamily="34" charset="-120"/>
              </a:rPr>
              <a:t>Lumbar extension episodes have risen across your last three sessions and stayed high through this one. That pattern is worth showing to a physiotherapist. </a:t>
            </a:r>
            <a:pPr algn="l" indent="0" marL="0">
              <a:lnSpc>
                <a:spcPct val="125000"/>
              </a:lnSpc>
              <a:buNone/>
            </a:pPr>
            <a:r>
              <a:rPr lang="en-US" sz="1181" b="1" dirty="0">
                <a:solidFill>
                  <a:srgbClr val="1D1F20"/>
                </a:solidFill>
                <a:latin typeface="Barlow" pitchFamily="34" charset="0"/>
                <a:ea typeface="Barlow" pitchFamily="34" charset="-122"/>
                <a:cs typeface="Barlow" pitchFamily="34" charset="-120"/>
              </a:rPr>
              <a:t>This app measures movement — it can't assess your back.</a:t>
            </a:r>
            <a:endParaRPr lang="en-US" sz="1181" dirty="0"/>
          </a:p>
        </p:txBody>
      </p:sp>
      <p:sp>
        <p:nvSpPr>
          <p:cNvPr id="18" name="Shape 16"/>
          <p:cNvSpPr/>
          <p:nvPr/>
        </p:nvSpPr>
        <p:spPr>
          <a:xfrm>
            <a:off x="13707427" y="3359996"/>
            <a:ext cx="1535192" cy="420052"/>
          </a:xfrm>
          <a:prstGeom prst="rect">
            <a:avLst/>
          </a:prstGeom>
          <a:solidFill>
            <a:srgbClr val="5980A6"/>
          </a:solidFill>
          <a:ln w="10001">
            <a:solidFill>
              <a:srgbClr val="5980A6"/>
            </a:solidFill>
            <a:prstDash val="solid"/>
          </a:ln>
        </p:spPr>
      </p:sp>
      <p:sp>
        <p:nvSpPr>
          <p:cNvPr id="19" name="Text 17"/>
          <p:cNvSpPr/>
          <p:nvPr/>
        </p:nvSpPr>
        <p:spPr>
          <a:xfrm>
            <a:off x="13801744" y="3438006"/>
            <a:ext cx="1346559" cy="302133"/>
          </a:xfrm>
          <a:prstGeom prst="rect">
            <a:avLst/>
          </a:prstGeom>
          <a:noFill/>
          <a:ln/>
        </p:spPr>
        <p:txBody>
          <a:bodyPr wrap="square" lIns="25400" tIns="25400" rIns="25400" bIns="25400" rtlCol="0" anchor="ctr">
            <a:normAutofit/>
          </a:bodyPr>
          <a:lstStyle/>
          <a:p>
            <a:pPr algn="ctr" indent="0" marL="0">
              <a:lnSpc>
                <a:spcPct val="100000"/>
              </a:lnSpc>
              <a:buNone/>
            </a:pPr>
            <a:r>
              <a:rPr lang="en-US" sz="984" b="1" dirty="0">
                <a:solidFill>
                  <a:srgbClr val="F2F2F3"/>
                </a:solidFill>
                <a:latin typeface="Barlow Condensed" pitchFamily="34" charset="0"/>
                <a:ea typeface="Barlow Condensed" pitchFamily="34" charset="-122"/>
                <a:cs typeface="Barlow Condensed" pitchFamily="34" charset="-120"/>
              </a:rPr>
              <a:t>Share session data</a:t>
            </a:r>
            <a:endParaRPr lang="en-US" sz="984" dirty="0"/>
          </a:p>
        </p:txBody>
      </p:sp>
      <p:sp>
        <p:nvSpPr>
          <p:cNvPr id="20" name="Shape 18"/>
          <p:cNvSpPr/>
          <p:nvPr/>
        </p:nvSpPr>
        <p:spPr>
          <a:xfrm>
            <a:off x="15332630" y="3359996"/>
            <a:ext cx="1535192" cy="420052"/>
          </a:xfrm>
          <a:prstGeom prst="rect">
            <a:avLst/>
          </a:prstGeom>
          <a:ln w="10001">
            <a:solidFill>
              <a:srgbClr val="1F1F1F">
                <a:alpha val="16000"/>
              </a:srgbClr>
            </a:solidFill>
            <a:prstDash val="solid"/>
          </a:ln>
        </p:spPr>
      </p:sp>
      <p:sp>
        <p:nvSpPr>
          <p:cNvPr id="21" name="Text 19"/>
          <p:cNvSpPr/>
          <p:nvPr/>
        </p:nvSpPr>
        <p:spPr>
          <a:xfrm>
            <a:off x="15426947" y="3438006"/>
            <a:ext cx="1346559" cy="302133"/>
          </a:xfrm>
          <a:prstGeom prst="rect">
            <a:avLst/>
          </a:prstGeom>
          <a:noFill/>
          <a:ln/>
        </p:spPr>
        <p:txBody>
          <a:bodyPr wrap="square" lIns="25400" tIns="25400" rIns="25400" bIns="25400" rtlCol="0" anchor="ctr">
            <a:normAutofit/>
          </a:bodyPr>
          <a:lstStyle/>
          <a:p>
            <a:pPr algn="ctr" indent="0" marL="0">
              <a:lnSpc>
                <a:spcPct val="100000"/>
              </a:lnSpc>
              <a:buNone/>
            </a:pPr>
            <a:r>
              <a:rPr lang="en-US" sz="984" b="1" dirty="0">
                <a:solidFill>
                  <a:srgbClr val="1D1F20"/>
                </a:solidFill>
                <a:latin typeface="Barlow Condensed" pitchFamily="34" charset="0"/>
                <a:ea typeface="Barlow Condensed" pitchFamily="34" charset="-122"/>
                <a:cs typeface="Barlow Condensed" pitchFamily="34" charset="-120"/>
              </a:rPr>
              <a:t>Log pain</a:t>
            </a:r>
            <a:endParaRPr lang="en-US" sz="984" dirty="0"/>
          </a:p>
        </p:txBody>
      </p:sp>
      <p:sp>
        <p:nvSpPr>
          <p:cNvPr id="22" name="Shape 20"/>
          <p:cNvSpPr/>
          <p:nvPr/>
        </p:nvSpPr>
        <p:spPr>
          <a:xfrm>
            <a:off x="13527405" y="4100088"/>
            <a:ext cx="3520441" cy="1422912"/>
          </a:xfrm>
          <a:prstGeom prst="rect">
            <a:avLst/>
          </a:prstGeom>
          <a:ln w="10001">
            <a:solidFill>
              <a:srgbClr val="1F1F1F">
                <a:alpha val="16000"/>
              </a:srgbClr>
            </a:solidFill>
            <a:prstDash val="solid"/>
          </a:ln>
        </p:spPr>
      </p:sp>
      <p:sp>
        <p:nvSpPr>
          <p:cNvPr id="23" name="Text 21"/>
          <p:cNvSpPr/>
          <p:nvPr/>
        </p:nvSpPr>
        <p:spPr>
          <a:xfrm>
            <a:off x="13687425" y="4260108"/>
            <a:ext cx="3520440" cy="200855"/>
          </a:xfrm>
          <a:prstGeom prst="rect">
            <a:avLst/>
          </a:prstGeom>
          <a:noFill/>
          <a:ln/>
        </p:spPr>
        <p:txBody>
          <a:bodyPr wrap="square" lIns="25400" tIns="25400" rIns="25400" bIns="25400" rtlCol="0" anchor="t">
            <a:normAutofit/>
          </a:bodyPr>
          <a:lstStyle/>
          <a:p>
            <a:pPr algn="l" indent="0" marL="0">
              <a:lnSpc>
                <a:spcPct val="130200"/>
              </a:lnSpc>
              <a:buNone/>
            </a:pPr>
            <a:r>
              <a:rPr lang="en-US" sz="827" b="1" spc="132" kern="0" dirty="0">
                <a:solidFill>
                  <a:srgbClr val="7A7A7D"/>
                </a:solidFill>
                <a:latin typeface="Barlow" pitchFamily="34" charset="0"/>
                <a:ea typeface="Barlow" pitchFamily="34" charset="-122"/>
                <a:cs typeface="Barlow" pitchFamily="34" charset="-120"/>
              </a:rPr>
              <a:t>WHAT WE SAW</a:t>
            </a:r>
            <a:endParaRPr lang="en-US" sz="827" dirty="0"/>
          </a:p>
        </p:txBody>
      </p:sp>
      <p:sp>
        <p:nvSpPr>
          <p:cNvPr id="24" name="Text 22"/>
          <p:cNvSpPr/>
          <p:nvPr/>
        </p:nvSpPr>
        <p:spPr>
          <a:xfrm>
            <a:off x="13687425" y="4492872"/>
            <a:ext cx="3296412" cy="908209"/>
          </a:xfrm>
          <a:prstGeom prst="rect">
            <a:avLst/>
          </a:prstGeom>
          <a:noFill/>
          <a:ln/>
        </p:spPr>
        <p:txBody>
          <a:bodyPr wrap="square" lIns="25400" tIns="25400" rIns="25400" bIns="25400" rtlCol="0" anchor="t">
            <a:normAutofit/>
          </a:bodyPr>
          <a:lstStyle/>
          <a:p>
            <a:pPr algn="l" indent="0" marL="0">
              <a:lnSpc>
                <a:spcPct val="124286"/>
              </a:lnSpc>
              <a:buNone/>
            </a:pPr>
            <a:r>
              <a:rPr lang="en-US" sz="1142" dirty="0">
                <a:solidFill>
                  <a:srgbClr val="1D1F20"/>
                </a:solidFill>
                <a:latin typeface="Barlow" pitchFamily="34" charset="0"/>
                <a:ea typeface="Barlow" pitchFamily="34" charset="-122"/>
                <a:cs typeface="Barlow" pitchFamily="34" charset="-120"/>
              </a:rPr>
              <a:t>4.1 lumbar extension episodes per 100 cycles, against a reference of 0–1, and rising within the session: 2.2 in the first third, 5.6 in the last. No cue this session.</a:t>
            </a:r>
            <a:endParaRPr lang="en-US" sz="1142" dirty="0"/>
          </a:p>
        </p:txBody>
      </p:sp>
      <p:sp>
        <p:nvSpPr>
          <p:cNvPr id="25" name="Shape 23"/>
          <p:cNvSpPr/>
          <p:nvPr/>
        </p:nvSpPr>
        <p:spPr>
          <a:xfrm>
            <a:off x="13527405" y="5663018"/>
            <a:ext cx="3520441" cy="987858"/>
          </a:xfrm>
          <a:prstGeom prst="rect">
            <a:avLst/>
          </a:prstGeom>
          <a:ln w="10001">
            <a:solidFill>
              <a:srgbClr val="B7B7BA"/>
            </a:solidFill>
            <a:prstDash val="dash"/>
          </a:ln>
        </p:spPr>
      </p:sp>
      <p:sp>
        <p:nvSpPr>
          <p:cNvPr id="26" name="Text 24"/>
          <p:cNvSpPr/>
          <p:nvPr/>
        </p:nvSpPr>
        <p:spPr>
          <a:xfrm>
            <a:off x="13687425" y="5823038"/>
            <a:ext cx="3520440" cy="200855"/>
          </a:xfrm>
          <a:prstGeom prst="rect">
            <a:avLst/>
          </a:prstGeom>
          <a:noFill/>
          <a:ln/>
        </p:spPr>
        <p:txBody>
          <a:bodyPr wrap="square" lIns="25400" tIns="25400" rIns="25400" bIns="25400" rtlCol="0" anchor="t">
            <a:normAutofit/>
          </a:bodyPr>
          <a:lstStyle/>
          <a:p>
            <a:pPr algn="l" indent="0" marL="0">
              <a:lnSpc>
                <a:spcPct val="130200"/>
              </a:lnSpc>
              <a:buNone/>
            </a:pPr>
            <a:r>
              <a:rPr lang="en-US" sz="827" b="1" spc="132" kern="0" dirty="0">
                <a:solidFill>
                  <a:srgbClr val="5D5D60"/>
                </a:solidFill>
                <a:latin typeface="Barlow" pitchFamily="34" charset="0"/>
                <a:ea typeface="Barlow" pitchFamily="34" charset="-122"/>
                <a:cs typeface="Barlow" pitchFamily="34" charset="-120"/>
              </a:rPr>
              <a:t>NO DRILL THIS WEEK</a:t>
            </a:r>
            <a:endParaRPr lang="en-US" sz="827" dirty="0"/>
          </a:p>
        </p:txBody>
      </p:sp>
      <p:sp>
        <p:nvSpPr>
          <p:cNvPr id="27" name="Text 25"/>
          <p:cNvSpPr/>
          <p:nvPr/>
        </p:nvSpPr>
        <p:spPr>
          <a:xfrm>
            <a:off x="13687425" y="6055801"/>
            <a:ext cx="3296412" cy="473155"/>
          </a:xfrm>
          <a:prstGeom prst="rect">
            <a:avLst/>
          </a:prstGeom>
          <a:noFill/>
          <a:ln/>
        </p:spPr>
        <p:txBody>
          <a:bodyPr wrap="square" lIns="25400" tIns="25400" rIns="25400" bIns="25400" rtlCol="0" anchor="t">
            <a:normAutofit/>
          </a:bodyPr>
          <a:lstStyle/>
          <a:p>
            <a:pPr algn="l" indent="0" marL="0">
              <a:lnSpc>
                <a:spcPct val="124286"/>
              </a:lnSpc>
              <a:buNone/>
            </a:pPr>
            <a:r>
              <a:rPr lang="en-US" sz="1142" dirty="0">
                <a:solidFill>
                  <a:srgbClr val="5D5D60"/>
                </a:solidFill>
                <a:latin typeface="Barlow" pitchFamily="34" charset="0"/>
                <a:ea typeface="Barlow" pitchFamily="34" charset="-122"/>
                <a:cs typeface="Barlow" pitchFamily="34" charset="-120"/>
              </a:rPr>
              <a:t>Train easy and keep sessions short until you've been assessed.</a:t>
            </a:r>
            <a:endParaRPr lang="en-US" sz="1142" dirty="0"/>
          </a:p>
        </p:txBody>
      </p:sp>
      <p:sp>
        <p:nvSpPr>
          <p:cNvPr id="28" name="Shape 26"/>
          <p:cNvSpPr/>
          <p:nvPr/>
        </p:nvSpPr>
        <p:spPr>
          <a:xfrm>
            <a:off x="13527405" y="7768750"/>
            <a:ext cx="3520441" cy="10001"/>
          </a:xfrm>
          <a:prstGeom prst="rect">
            <a:avLst/>
          </a:prstGeom>
          <a:solidFill>
            <a:srgbClr val="1F1F1F">
              <a:alpha val="16000"/>
            </a:srgbClr>
          </a:solidFill>
          <a:ln/>
        </p:spPr>
      </p:sp>
      <p:sp>
        <p:nvSpPr>
          <p:cNvPr id="29" name="Shape 27"/>
          <p:cNvSpPr/>
          <p:nvPr/>
        </p:nvSpPr>
        <p:spPr>
          <a:xfrm>
            <a:off x="13527405" y="6790894"/>
            <a:ext cx="3520441" cy="10001"/>
          </a:xfrm>
          <a:prstGeom prst="rect">
            <a:avLst/>
          </a:prstGeom>
          <a:solidFill>
            <a:srgbClr val="1F1F1F">
              <a:alpha val="16000"/>
            </a:srgbClr>
          </a:solidFill>
          <a:ln/>
        </p:spPr>
      </p:sp>
      <p:sp>
        <p:nvSpPr>
          <p:cNvPr id="30" name="Shape 28"/>
          <p:cNvSpPr/>
          <p:nvPr/>
        </p:nvSpPr>
        <p:spPr>
          <a:xfrm>
            <a:off x="13527405" y="6790894"/>
            <a:ext cx="40005" cy="987858"/>
          </a:xfrm>
          <a:prstGeom prst="rect">
            <a:avLst/>
          </a:prstGeom>
          <a:solidFill>
            <a:srgbClr val="4F7D5C"/>
          </a:solidFill>
          <a:ln/>
        </p:spPr>
      </p:sp>
      <p:sp>
        <p:nvSpPr>
          <p:cNvPr id="31" name="Shape 29"/>
          <p:cNvSpPr/>
          <p:nvPr/>
        </p:nvSpPr>
        <p:spPr>
          <a:xfrm>
            <a:off x="17037844" y="6790894"/>
            <a:ext cx="10001" cy="987858"/>
          </a:xfrm>
          <a:prstGeom prst="rect">
            <a:avLst/>
          </a:prstGeom>
          <a:solidFill>
            <a:srgbClr val="1F1F1F">
              <a:alpha val="16000"/>
            </a:srgbClr>
          </a:solidFill>
          <a:ln/>
        </p:spPr>
      </p:sp>
      <p:sp>
        <p:nvSpPr>
          <p:cNvPr id="32" name="Text 30"/>
          <p:cNvSpPr/>
          <p:nvPr/>
        </p:nvSpPr>
        <p:spPr>
          <a:xfrm>
            <a:off x="13717429" y="6950914"/>
            <a:ext cx="3487436" cy="200855"/>
          </a:xfrm>
          <a:prstGeom prst="rect">
            <a:avLst/>
          </a:prstGeom>
          <a:noFill/>
          <a:ln/>
        </p:spPr>
        <p:txBody>
          <a:bodyPr wrap="square" lIns="25400" tIns="25400" rIns="25400" bIns="25400" rtlCol="0" anchor="t">
            <a:normAutofit/>
          </a:bodyPr>
          <a:lstStyle/>
          <a:p>
            <a:pPr algn="l" indent="0" marL="0">
              <a:lnSpc>
                <a:spcPct val="130200"/>
              </a:lnSpc>
              <a:buNone/>
            </a:pPr>
            <a:r>
              <a:rPr lang="en-US" sz="827" b="1" spc="132" kern="0" dirty="0">
                <a:solidFill>
                  <a:srgbClr val="3D6B4C"/>
                </a:solidFill>
                <a:latin typeface="Barlow" pitchFamily="34" charset="0"/>
                <a:ea typeface="Barlow" pitchFamily="34" charset="-122"/>
                <a:cs typeface="Barlow" pitchFamily="34" charset="-120"/>
              </a:rPr>
              <a:t>✓ WENT WELL</a:t>
            </a:r>
            <a:endParaRPr lang="en-US" sz="827" dirty="0"/>
          </a:p>
        </p:txBody>
      </p:sp>
      <p:sp>
        <p:nvSpPr>
          <p:cNvPr id="33" name="Text 31"/>
          <p:cNvSpPr/>
          <p:nvPr/>
        </p:nvSpPr>
        <p:spPr>
          <a:xfrm>
            <a:off x="13717429" y="7183677"/>
            <a:ext cx="3265508" cy="473154"/>
          </a:xfrm>
          <a:prstGeom prst="rect">
            <a:avLst/>
          </a:prstGeom>
          <a:noFill/>
          <a:ln/>
        </p:spPr>
        <p:txBody>
          <a:bodyPr wrap="square" lIns="25400" tIns="25400" rIns="25400" bIns="25400" rtlCol="0" anchor="t">
            <a:normAutofit/>
          </a:bodyPr>
          <a:lstStyle/>
          <a:p>
            <a:pPr algn="l" indent="0" marL="0">
              <a:lnSpc>
                <a:spcPct val="124286"/>
              </a:lnSpc>
              <a:buNone/>
            </a:pPr>
            <a:r>
              <a:rPr lang="en-US" sz="1142" dirty="0">
                <a:solidFill>
                  <a:srgbClr val="1D1F20"/>
                </a:solidFill>
                <a:latin typeface="Barlow" pitchFamily="34" charset="0"/>
                <a:ea typeface="Barlow" pitchFamily="34" charset="-122"/>
                <a:cs typeface="Barlow" pitchFamily="34" charset="-120"/>
              </a:rPr>
              <a:t>Timing symmetry was your best yet: 9 ms mean offset at 2.8 ms sync error.</a:t>
            </a:r>
            <a:endParaRPr lang="en-US" sz="1142" dirty="0"/>
          </a:p>
        </p:txBody>
      </p:sp>
      <p:sp>
        <p:nvSpPr>
          <p:cNvPr id="34" name="Text 32"/>
          <p:cNvSpPr/>
          <p:nvPr/>
        </p:nvSpPr>
        <p:spPr>
          <a:xfrm>
            <a:off x="13527405" y="7918768"/>
            <a:ext cx="3872485" cy="208590"/>
          </a:xfrm>
          <a:prstGeom prst="rect">
            <a:avLst/>
          </a:prstGeom>
          <a:noFill/>
          <a:ln/>
        </p:spPr>
        <p:txBody>
          <a:bodyPr wrap="square" lIns="25400" tIns="25400" rIns="25400" bIns="25400" rtlCol="0" anchor="t">
            <a:normAutofit/>
          </a:bodyPr>
          <a:lstStyle/>
          <a:p>
            <a:pPr algn="l" indent="0" marL="0">
              <a:lnSpc>
                <a:spcPct val="131154"/>
              </a:lnSpc>
              <a:buNone/>
            </a:pPr>
            <a:r>
              <a:rPr lang="en-US" sz="866" dirty="0">
                <a:solidFill>
                  <a:srgbClr val="7A7A7D"/>
                </a:solidFill>
                <a:latin typeface="Barlow" pitchFamily="34" charset="0"/>
                <a:ea typeface="Barlow" pitchFamily="34" charset="-122"/>
                <a:cs typeface="Barlow" pitchFamily="34" charset="-120"/>
              </a:rPr>
              <a:t>Fixed template · coaching scope: conservative · not generated</a:t>
            </a:r>
            <a:endParaRPr lang="en-US" sz="866"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143000" y="914400"/>
            <a:ext cx="17602200" cy="392385"/>
          </a:xfrm>
          <a:prstGeom prst="rect">
            <a:avLst/>
          </a:prstGeom>
          <a:noFill/>
          <a:ln/>
        </p:spPr>
        <p:txBody>
          <a:bodyPr wrap="square" lIns="25400" tIns="25400" rIns="25400" bIns="25400" rtlCol="0" anchor="t">
            <a:normAutofit/>
          </a:bodyPr>
          <a:lstStyle/>
          <a:p>
            <a:pPr algn="l" indent="0" marL="0">
              <a:lnSpc>
                <a:spcPct val="128276"/>
              </a:lnSpc>
              <a:buNone/>
            </a:pPr>
            <a:r>
              <a:rPr lang="en-US" sz="1800" b="1" spc="252" kern="0" dirty="0">
                <a:solidFill>
                  <a:srgbClr val="416180"/>
                </a:solidFill>
                <a:latin typeface="Barlow Condensed" pitchFamily="34" charset="0"/>
                <a:ea typeface="Barlow Condensed" pitchFamily="34" charset="-122"/>
                <a:cs typeface="Barlow Condensed" pitchFamily="34" charset="-120"/>
              </a:rPr>
              <a:t>08 · A8Q SUPPRESSED METRIC</a:t>
            </a:r>
            <a:endParaRPr lang="en-US" sz="1800" dirty="0"/>
          </a:p>
        </p:txBody>
      </p:sp>
      <p:sp>
        <p:nvSpPr>
          <p:cNvPr id="3" name="Text 1"/>
          <p:cNvSpPr/>
          <p:nvPr/>
        </p:nvSpPr>
        <p:spPr>
          <a:xfrm>
            <a:off x="1143000" y="1421085"/>
            <a:ext cx="15716250" cy="926529"/>
          </a:xfrm>
          <a:prstGeom prst="rect">
            <a:avLst/>
          </a:prstGeom>
          <a:noFill/>
          <a:ln/>
        </p:spPr>
        <p:txBody>
          <a:bodyPr wrap="square" lIns="25400" tIns="25400" rIns="25400" bIns="25400" rtlCol="0" anchor="t">
            <a:normAutofit/>
          </a:bodyPr>
          <a:lstStyle/>
          <a:p>
            <a:pPr algn="l" indent="0" marL="0">
              <a:lnSpc>
                <a:spcPct val="88417"/>
              </a:lnSpc>
              <a:buNone/>
            </a:pPr>
            <a:r>
              <a:rPr lang="en-US" sz="6600" b="1" dirty="0">
                <a:solidFill>
                  <a:srgbClr val="1D1F20"/>
                </a:solidFill>
                <a:latin typeface="Barlow Condensed" pitchFamily="34" charset="0"/>
                <a:ea typeface="Barlow Condensed" pitchFamily="34" charset="-122"/>
                <a:cs typeface="Barlow Condensed" pitchFamily="34" charset="-120"/>
              </a:rPr>
              <a:t>Absence is a feature</a:t>
            </a:r>
            <a:endParaRPr lang="en-US" sz="6600" dirty="0"/>
          </a:p>
        </p:txBody>
      </p:sp>
      <p:sp>
        <p:nvSpPr>
          <p:cNvPr id="4" name="Text 2"/>
          <p:cNvSpPr/>
          <p:nvPr/>
        </p:nvSpPr>
        <p:spPr>
          <a:xfrm>
            <a:off x="1143000" y="2500015"/>
            <a:ext cx="11772900" cy="921990"/>
          </a:xfrm>
          <a:prstGeom prst="rect">
            <a:avLst/>
          </a:prstGeom>
          <a:noFill/>
          <a:ln/>
        </p:spPr>
        <p:txBody>
          <a:bodyPr wrap="square" lIns="25400" tIns="25400" rIns="25400" bIns="25400" rtlCol="0" anchor="t">
            <a:normAutofit/>
          </a:bodyPr>
          <a:lstStyle/>
          <a:p>
            <a:pPr algn="l" indent="0" marL="0">
              <a:lnSpc>
                <a:spcPct val="120519"/>
              </a:lnSpc>
              <a:buNone/>
            </a:pPr>
            <a:r>
              <a:rPr lang="en-US" sz="2400" dirty="0">
                <a:solidFill>
                  <a:srgbClr val="424244"/>
                </a:solidFill>
                <a:latin typeface="Barlow" pitchFamily="34" charset="0"/>
                <a:ea typeface="Barlow" pitchFamily="34" charset="-122"/>
                <a:cs typeface="Barlow" pitchFamily="34" charset="-120"/>
              </a:rPr>
              <a:t>Any metric whose supporting data failed a quality gate is removed and named — never estimated. This is what makes the numbers that do appear worth believing.</a:t>
            </a:r>
            <a:endParaRPr lang="en-US" sz="2400" dirty="0"/>
          </a:p>
        </p:txBody>
      </p:sp>
      <p:sp>
        <p:nvSpPr>
          <p:cNvPr id="5" name="Text 3"/>
          <p:cNvSpPr/>
          <p:nvPr/>
        </p:nvSpPr>
        <p:spPr>
          <a:xfrm>
            <a:off x="1143000" y="3955405"/>
            <a:ext cx="8486775" cy="362843"/>
          </a:xfrm>
          <a:prstGeom prst="rect">
            <a:avLst/>
          </a:prstGeom>
          <a:noFill/>
          <a:ln/>
        </p:spPr>
        <p:txBody>
          <a:bodyPr wrap="square" lIns="25400" tIns="25400" rIns="25400" bIns="25400" rtlCol="0" anchor="t">
            <a:normAutofit/>
          </a:bodyPr>
          <a:lstStyle/>
          <a:p>
            <a:pPr algn="l" indent="0" marL="0">
              <a:lnSpc>
                <a:spcPct val="128679"/>
              </a:lnSpc>
              <a:buNone/>
            </a:pPr>
            <a:r>
              <a:rPr lang="en-US" sz="1650" b="1" spc="231" kern="0" dirty="0">
                <a:solidFill>
                  <a:srgbClr val="5D5D60"/>
                </a:solidFill>
                <a:latin typeface="Barlow" pitchFamily="34" charset="0"/>
                <a:ea typeface="Barlow" pitchFamily="34" charset="-122"/>
                <a:cs typeface="Barlow" pitchFamily="34" charset="-120"/>
              </a:rPr>
              <a:t>IN THE REPORT — GREYED IN PLACE</a:t>
            </a:r>
            <a:endParaRPr lang="en-US" sz="1650" dirty="0"/>
          </a:p>
        </p:txBody>
      </p:sp>
      <p:sp>
        <p:nvSpPr>
          <p:cNvPr id="6" name="Shape 4"/>
          <p:cNvSpPr/>
          <p:nvPr/>
        </p:nvSpPr>
        <p:spPr>
          <a:xfrm>
            <a:off x="1143000" y="4432548"/>
            <a:ext cx="7715250" cy="2934519"/>
          </a:xfrm>
          <a:prstGeom prst="rect">
            <a:avLst/>
          </a:prstGeom>
          <a:solidFill>
            <a:srgbClr val="F5F5F8"/>
          </a:solidFill>
          <a:ln w="19050">
            <a:solidFill>
              <a:srgbClr val="B7B7BA"/>
            </a:solidFill>
            <a:prstDash val="dash"/>
          </a:ln>
        </p:spPr>
      </p:sp>
      <p:sp>
        <p:nvSpPr>
          <p:cNvPr id="7" name="Text 5"/>
          <p:cNvSpPr/>
          <p:nvPr/>
        </p:nvSpPr>
        <p:spPr>
          <a:xfrm>
            <a:off x="1466850" y="4756398"/>
            <a:ext cx="2519675" cy="481012"/>
          </a:xfrm>
          <a:prstGeom prst="rect">
            <a:avLst/>
          </a:prstGeom>
          <a:noFill/>
          <a:ln/>
        </p:spPr>
        <p:txBody>
          <a:bodyPr wrap="square" lIns="25400" tIns="25400" rIns="25400" bIns="25400" rtlCol="0" anchor="t">
            <a:normAutofit/>
          </a:bodyPr>
          <a:lstStyle/>
          <a:p>
            <a:pPr algn="l" indent="0" marL="0">
              <a:lnSpc>
                <a:spcPct val="129167"/>
              </a:lnSpc>
              <a:buNone/>
            </a:pPr>
            <a:r>
              <a:rPr lang="en-US" sz="2250" dirty="0">
                <a:solidFill>
                  <a:srgbClr val="7A7A7D"/>
                </a:solidFill>
                <a:latin typeface="Barlow" pitchFamily="34" charset="0"/>
                <a:ea typeface="Barlow" pitchFamily="34" charset="-122"/>
                <a:cs typeface="Barlow" pitchFamily="34" charset="-120"/>
              </a:rPr>
              <a:t>Plant timing offset</a:t>
            </a:r>
            <a:endParaRPr lang="en-US" sz="2250" dirty="0"/>
          </a:p>
        </p:txBody>
      </p:sp>
      <p:sp>
        <p:nvSpPr>
          <p:cNvPr id="8" name="Text 6"/>
          <p:cNvSpPr/>
          <p:nvPr/>
        </p:nvSpPr>
        <p:spPr>
          <a:xfrm>
            <a:off x="7632799" y="4756398"/>
            <a:ext cx="977801" cy="481012"/>
          </a:xfrm>
          <a:prstGeom prst="rect">
            <a:avLst/>
          </a:prstGeom>
          <a:noFill/>
          <a:ln/>
        </p:spPr>
        <p:txBody>
          <a:bodyPr wrap="square" lIns="25400" tIns="25400" rIns="25400" bIns="25400" rtlCol="0" anchor="t">
            <a:normAutofit/>
          </a:bodyPr>
          <a:lstStyle/>
          <a:p>
            <a:pPr algn="l" indent="0" marL="0">
              <a:lnSpc>
                <a:spcPct val="129167"/>
              </a:lnSpc>
              <a:buNone/>
            </a:pPr>
            <a:r>
              <a:rPr lang="en-US" sz="2250" spc="315" kern="0" dirty="0">
                <a:solidFill>
                  <a:srgbClr val="7A7A7D"/>
                </a:solidFill>
                <a:latin typeface="Barlow" pitchFamily="34" charset="0"/>
                <a:ea typeface="Barlow" pitchFamily="34" charset="-122"/>
                <a:cs typeface="Barlow" pitchFamily="34" charset="-120"/>
              </a:rPr>
              <a:t>— — —</a:t>
            </a:r>
            <a:endParaRPr lang="en-US" sz="2250" dirty="0"/>
          </a:p>
        </p:txBody>
      </p:sp>
      <p:sp>
        <p:nvSpPr>
          <p:cNvPr id="9" name="Text 7"/>
          <p:cNvSpPr/>
          <p:nvPr/>
        </p:nvSpPr>
        <p:spPr>
          <a:xfrm>
            <a:off x="1466850" y="5313611"/>
            <a:ext cx="2203795" cy="481012"/>
          </a:xfrm>
          <a:prstGeom prst="rect">
            <a:avLst/>
          </a:prstGeom>
          <a:noFill/>
          <a:ln/>
        </p:spPr>
        <p:txBody>
          <a:bodyPr wrap="square" lIns="25400" tIns="25400" rIns="25400" bIns="25400" rtlCol="0" anchor="t">
            <a:normAutofit/>
          </a:bodyPr>
          <a:lstStyle/>
          <a:p>
            <a:pPr algn="l" indent="0" marL="0">
              <a:lnSpc>
                <a:spcPct val="129167"/>
              </a:lnSpc>
              <a:buNone/>
            </a:pPr>
            <a:r>
              <a:rPr lang="en-US" sz="2250" dirty="0">
                <a:solidFill>
                  <a:srgbClr val="7A7A7D"/>
                </a:solidFill>
                <a:latin typeface="Barlow" pitchFamily="34" charset="0"/>
                <a:ea typeface="Barlow" pitchFamily="34" charset="-122"/>
                <a:cs typeface="Barlow" pitchFamily="34" charset="-120"/>
              </a:rPr>
              <a:t>Drive-velocity SI</a:t>
            </a:r>
            <a:endParaRPr lang="en-US" sz="2250" dirty="0"/>
          </a:p>
        </p:txBody>
      </p:sp>
      <p:sp>
        <p:nvSpPr>
          <p:cNvPr id="10" name="Text 8"/>
          <p:cNvSpPr/>
          <p:nvPr/>
        </p:nvSpPr>
        <p:spPr>
          <a:xfrm>
            <a:off x="7632799" y="5313611"/>
            <a:ext cx="977801" cy="481012"/>
          </a:xfrm>
          <a:prstGeom prst="rect">
            <a:avLst/>
          </a:prstGeom>
          <a:noFill/>
          <a:ln/>
        </p:spPr>
        <p:txBody>
          <a:bodyPr wrap="square" lIns="25400" tIns="25400" rIns="25400" bIns="25400" rtlCol="0" anchor="t">
            <a:normAutofit/>
          </a:bodyPr>
          <a:lstStyle/>
          <a:p>
            <a:pPr algn="l" indent="0" marL="0">
              <a:lnSpc>
                <a:spcPct val="129167"/>
              </a:lnSpc>
              <a:buNone/>
            </a:pPr>
            <a:r>
              <a:rPr lang="en-US" sz="2250" spc="315" kern="0" dirty="0">
                <a:solidFill>
                  <a:srgbClr val="7A7A7D"/>
                </a:solidFill>
                <a:latin typeface="Barlow" pitchFamily="34" charset="0"/>
                <a:ea typeface="Barlow" pitchFamily="34" charset="-122"/>
                <a:cs typeface="Barlow" pitchFamily="34" charset="-120"/>
              </a:rPr>
              <a:t>— — —</a:t>
            </a:r>
            <a:endParaRPr lang="en-US" sz="2250" dirty="0"/>
          </a:p>
        </p:txBody>
      </p:sp>
      <p:sp>
        <p:nvSpPr>
          <p:cNvPr id="11" name="Text 9"/>
          <p:cNvSpPr/>
          <p:nvPr/>
        </p:nvSpPr>
        <p:spPr>
          <a:xfrm>
            <a:off x="1466850" y="5966073"/>
            <a:ext cx="7279577" cy="1115244"/>
          </a:xfrm>
          <a:prstGeom prst="rect">
            <a:avLst/>
          </a:prstGeom>
          <a:noFill/>
          <a:ln/>
        </p:spPr>
        <p:txBody>
          <a:bodyPr wrap="square" lIns="25400" tIns="25400" rIns="25400" bIns="25400" rtlCol="0" anchor="t">
            <a:normAutofit/>
          </a:bodyPr>
          <a:lstStyle/>
          <a:p>
            <a:pPr algn="l" indent="0" marL="0">
              <a:lnSpc>
                <a:spcPct val="121613"/>
              </a:lnSpc>
              <a:buNone/>
            </a:pPr>
            <a:r>
              <a:rPr lang="en-US" sz="1950" dirty="0">
                <a:solidFill>
                  <a:srgbClr val="424244"/>
                </a:solidFill>
                <a:latin typeface="Barlow" pitchFamily="34" charset="0"/>
                <a:ea typeface="Barlow" pitchFamily="34" charset="-122"/>
                <a:cs typeface="Barlow" pitchFamily="34" charset="-120"/>
              </a:rPr>
              <a:t>Sync error 11 ms — timing symmetry not reportable this session. The end-of-session tap was skipped, so drift could not be bounded.</a:t>
            </a:r>
            <a:endParaRPr lang="en-US" sz="1950" dirty="0"/>
          </a:p>
        </p:txBody>
      </p:sp>
      <p:sp>
        <p:nvSpPr>
          <p:cNvPr id="12" name="Text 10"/>
          <p:cNvSpPr/>
          <p:nvPr/>
        </p:nvSpPr>
        <p:spPr>
          <a:xfrm>
            <a:off x="9429750" y="3955405"/>
            <a:ext cx="8486775" cy="362843"/>
          </a:xfrm>
          <a:prstGeom prst="rect">
            <a:avLst/>
          </a:prstGeom>
          <a:noFill/>
          <a:ln/>
        </p:spPr>
        <p:txBody>
          <a:bodyPr wrap="square" lIns="25400" tIns="25400" rIns="25400" bIns="25400" rtlCol="0" anchor="t">
            <a:normAutofit/>
          </a:bodyPr>
          <a:lstStyle/>
          <a:p>
            <a:pPr algn="l" indent="0" marL="0">
              <a:lnSpc>
                <a:spcPct val="128679"/>
              </a:lnSpc>
              <a:buNone/>
            </a:pPr>
            <a:r>
              <a:rPr lang="en-US" sz="1650" b="1" spc="231" kern="0" dirty="0">
                <a:solidFill>
                  <a:srgbClr val="5D5D60"/>
                </a:solidFill>
                <a:latin typeface="Barlow" pitchFamily="34" charset="0"/>
                <a:ea typeface="Barlow" pitchFamily="34" charset="-122"/>
                <a:cs typeface="Barlow" pitchFamily="34" charset="-120"/>
              </a:rPr>
              <a:t>IN THE DESCRIPTOR — STRUCTURALLY OMITTED</a:t>
            </a:r>
            <a:endParaRPr lang="en-US" sz="1650" dirty="0"/>
          </a:p>
        </p:txBody>
      </p:sp>
      <p:sp>
        <p:nvSpPr>
          <p:cNvPr id="13" name="Shape 11"/>
          <p:cNvSpPr/>
          <p:nvPr/>
        </p:nvSpPr>
        <p:spPr>
          <a:xfrm>
            <a:off x="9429750" y="4432548"/>
            <a:ext cx="7715250" cy="3908822"/>
          </a:xfrm>
          <a:prstGeom prst="rect">
            <a:avLst/>
          </a:prstGeom>
          <a:solidFill>
            <a:srgbClr val="FFFFFF"/>
          </a:solidFill>
          <a:ln w="9525">
            <a:solidFill>
              <a:srgbClr val="1F1F1F">
                <a:alpha val="16000"/>
              </a:srgbClr>
            </a:solidFill>
            <a:prstDash val="solid"/>
          </a:ln>
        </p:spPr>
      </p:sp>
      <p:sp>
        <p:nvSpPr>
          <p:cNvPr id="14" name="Text 12"/>
          <p:cNvSpPr/>
          <p:nvPr/>
        </p:nvSpPr>
        <p:spPr>
          <a:xfrm>
            <a:off x="9744075" y="4746873"/>
            <a:ext cx="7299198" cy="426690"/>
          </a:xfrm>
          <a:prstGeom prst="rect">
            <a:avLst/>
          </a:prstGeom>
          <a:noFill/>
          <a:ln/>
        </p:spPr>
        <p:txBody>
          <a:bodyPr wrap="square" lIns="25400" tIns="25400" rIns="25400" bIns="25400" rtlCol="0" anchor="t">
            <a:normAutofit/>
          </a:bodyPr>
          <a:lstStyle/>
          <a:p>
            <a:pPr algn="l" indent="0" marL="0">
              <a:lnSpc>
                <a:spcPct val="151111"/>
              </a:lnSpc>
              <a:buNone/>
            </a:pPr>
            <a:r>
              <a:rPr lang="en-US" sz="1800" dirty="0">
                <a:solidFill>
                  <a:srgbClr val="5D5D60"/>
                </a:solidFill>
                <a:latin typeface="Courier New" pitchFamily="34" charset="0"/>
                <a:ea typeface="Courier New" pitchFamily="34" charset="-122"/>
                <a:cs typeface="Courier New" pitchFamily="34" charset="-120"/>
              </a:rPr>
              <a:t>"data_quality": {</a:t>
            </a:r>
            <a:endParaRPr lang="en-US" sz="1800" dirty="0"/>
          </a:p>
        </p:txBody>
      </p:sp>
      <p:sp>
        <p:nvSpPr>
          <p:cNvPr id="15" name="Text 13"/>
          <p:cNvSpPr/>
          <p:nvPr/>
        </p:nvSpPr>
        <p:spPr>
          <a:xfrm>
            <a:off x="10010775" y="5135463"/>
            <a:ext cx="7032498" cy="426690"/>
          </a:xfrm>
          <a:prstGeom prst="rect">
            <a:avLst/>
          </a:prstGeom>
          <a:noFill/>
          <a:ln/>
        </p:spPr>
        <p:txBody>
          <a:bodyPr wrap="square" lIns="25400" tIns="25400" rIns="25400" bIns="25400" rtlCol="0" anchor="t">
            <a:normAutofit/>
          </a:bodyPr>
          <a:lstStyle/>
          <a:p>
            <a:pPr algn="l" indent="0" marL="0">
              <a:lnSpc>
                <a:spcPct val="151111"/>
              </a:lnSpc>
              <a:buNone/>
            </a:pPr>
            <a:r>
              <a:rPr lang="en-US" sz="1800" dirty="0">
                <a:solidFill>
                  <a:srgbClr val="1D1F20"/>
                </a:solidFill>
                <a:latin typeface="Courier New" pitchFamily="34" charset="0"/>
                <a:ea typeface="Courier New" pitchFamily="34" charset="-122"/>
                <a:cs typeface="Courier New" pitchFamily="34" charset="-120"/>
              </a:rPr>
              <a:t>"sync_error_ms": </a:t>
            </a:r>
            <a:pPr algn="l" indent="0" marL="0">
              <a:lnSpc>
                <a:spcPct val="151111"/>
              </a:lnSpc>
              <a:buNone/>
            </a:pPr>
            <a:r>
              <a:rPr lang="en-US" sz="1800" dirty="0">
                <a:solidFill>
                  <a:srgbClr val="9D443B"/>
                </a:solidFill>
                <a:latin typeface="Courier New" pitchFamily="34" charset="0"/>
                <a:ea typeface="Courier New" pitchFamily="34" charset="-122"/>
                <a:cs typeface="Courier New" pitchFamily="34" charset="-120"/>
              </a:rPr>
              <a:t>11.0</a:t>
            </a:r>
            <a:pPr algn="l" indent="0" marL="0">
              <a:lnSpc>
                <a:spcPct val="151111"/>
              </a:lnSpc>
              <a:buNone/>
            </a:pPr>
            <a:r>
              <a:rPr lang="en-US" sz="1800" dirty="0">
                <a:solidFill>
                  <a:srgbClr val="1D1F20"/>
                </a:solidFill>
                <a:latin typeface="Courier New" pitchFamily="34" charset="0"/>
                <a:ea typeface="Courier New" pitchFamily="34" charset="-122"/>
                <a:cs typeface="Courier New" pitchFamily="34" charset="-120"/>
              </a:rPr>
              <a:t>,</a:t>
            </a:r>
            <a:endParaRPr lang="en-US" sz="1800" dirty="0"/>
          </a:p>
        </p:txBody>
      </p:sp>
      <p:sp>
        <p:nvSpPr>
          <p:cNvPr id="16" name="Text 14"/>
          <p:cNvSpPr/>
          <p:nvPr/>
        </p:nvSpPr>
        <p:spPr>
          <a:xfrm>
            <a:off x="10010775" y="5524054"/>
            <a:ext cx="7032498" cy="426690"/>
          </a:xfrm>
          <a:prstGeom prst="rect">
            <a:avLst/>
          </a:prstGeom>
          <a:noFill/>
          <a:ln/>
        </p:spPr>
        <p:txBody>
          <a:bodyPr wrap="square" lIns="25400" tIns="25400" rIns="25400" bIns="25400" rtlCol="0" anchor="t">
            <a:normAutofit/>
          </a:bodyPr>
          <a:lstStyle/>
          <a:p>
            <a:pPr algn="l" indent="0" marL="0">
              <a:lnSpc>
                <a:spcPct val="151111"/>
              </a:lnSpc>
              <a:buNone/>
            </a:pPr>
            <a:r>
              <a:rPr lang="en-US" sz="1800" dirty="0">
                <a:solidFill>
                  <a:srgbClr val="1D1F20"/>
                </a:solidFill>
                <a:latin typeface="Courier New" pitchFamily="34" charset="0"/>
                <a:ea typeface="Courier New" pitchFamily="34" charset="-122"/>
                <a:cs typeface="Courier New" pitchFamily="34" charset="-120"/>
              </a:rPr>
              <a:t>"calibration_ok": true },</a:t>
            </a:r>
            <a:endParaRPr lang="en-US" sz="1800" dirty="0"/>
          </a:p>
        </p:txBody>
      </p:sp>
      <p:sp>
        <p:nvSpPr>
          <p:cNvPr id="17" name="Text 15"/>
          <p:cNvSpPr/>
          <p:nvPr/>
        </p:nvSpPr>
        <p:spPr>
          <a:xfrm>
            <a:off x="9744075" y="6007894"/>
            <a:ext cx="7299198" cy="426690"/>
          </a:xfrm>
          <a:prstGeom prst="rect">
            <a:avLst/>
          </a:prstGeom>
          <a:noFill/>
          <a:ln/>
        </p:spPr>
        <p:txBody>
          <a:bodyPr wrap="square" lIns="25400" tIns="25400" rIns="25400" bIns="25400" rtlCol="0" anchor="t">
            <a:normAutofit/>
          </a:bodyPr>
          <a:lstStyle/>
          <a:p>
            <a:pPr algn="l" indent="0" marL="0">
              <a:lnSpc>
                <a:spcPct val="151111"/>
              </a:lnSpc>
              <a:buNone/>
            </a:pPr>
            <a:r>
              <a:rPr lang="en-US" sz="1800" dirty="0">
                <a:solidFill>
                  <a:srgbClr val="5D5D60"/>
                </a:solidFill>
                <a:latin typeface="Courier New" pitchFamily="34" charset="0"/>
                <a:ea typeface="Courier New" pitchFamily="34" charset="-122"/>
                <a:cs typeface="Courier New" pitchFamily="34" charset="-120"/>
              </a:rPr>
              <a:t>"suppressed_due_to_quality": [</a:t>
            </a:r>
            <a:endParaRPr lang="en-US" sz="1800" dirty="0"/>
          </a:p>
        </p:txBody>
      </p:sp>
      <p:sp>
        <p:nvSpPr>
          <p:cNvPr id="18" name="Text 16"/>
          <p:cNvSpPr/>
          <p:nvPr/>
        </p:nvSpPr>
        <p:spPr>
          <a:xfrm>
            <a:off x="10010775" y="6396484"/>
            <a:ext cx="7032498" cy="426690"/>
          </a:xfrm>
          <a:prstGeom prst="rect">
            <a:avLst/>
          </a:prstGeom>
          <a:noFill/>
          <a:ln/>
        </p:spPr>
        <p:txBody>
          <a:bodyPr wrap="square" lIns="25400" tIns="25400" rIns="25400" bIns="25400" rtlCol="0" anchor="t">
            <a:normAutofit/>
          </a:bodyPr>
          <a:lstStyle/>
          <a:p>
            <a:pPr algn="l" indent="0" marL="0">
              <a:lnSpc>
                <a:spcPct val="151111"/>
              </a:lnSpc>
              <a:buNone/>
            </a:pPr>
            <a:r>
              <a:rPr lang="en-US" sz="1800" dirty="0">
                <a:solidFill>
                  <a:srgbClr val="416180"/>
                </a:solidFill>
                <a:latin typeface="Courier New" pitchFamily="34" charset="0"/>
                <a:ea typeface="Courier New" pitchFamily="34" charset="-122"/>
                <a:cs typeface="Courier New" pitchFamily="34" charset="-120"/>
              </a:rPr>
              <a:t>"timing_symmetry"</a:t>
            </a:r>
            <a:endParaRPr lang="en-US" sz="1800" dirty="0"/>
          </a:p>
        </p:txBody>
      </p:sp>
      <p:sp>
        <p:nvSpPr>
          <p:cNvPr id="19" name="Text 17"/>
          <p:cNvSpPr/>
          <p:nvPr/>
        </p:nvSpPr>
        <p:spPr>
          <a:xfrm>
            <a:off x="9744075" y="6785074"/>
            <a:ext cx="7299198" cy="426690"/>
          </a:xfrm>
          <a:prstGeom prst="rect">
            <a:avLst/>
          </a:prstGeom>
          <a:noFill/>
          <a:ln/>
        </p:spPr>
        <p:txBody>
          <a:bodyPr wrap="square" lIns="25400" tIns="25400" rIns="25400" bIns="25400" rtlCol="0" anchor="t">
            <a:normAutofit/>
          </a:bodyPr>
          <a:lstStyle/>
          <a:p>
            <a:pPr algn="l" indent="0" marL="0">
              <a:lnSpc>
                <a:spcPct val="151111"/>
              </a:lnSpc>
              <a:buNone/>
            </a:pPr>
            <a:r>
              <a:rPr lang="en-US" sz="1800" dirty="0">
                <a:solidFill>
                  <a:srgbClr val="5D5D60"/>
                </a:solidFill>
                <a:latin typeface="Courier New" pitchFamily="34" charset="0"/>
                <a:ea typeface="Courier New" pitchFamily="34" charset="-122"/>
                <a:cs typeface="Courier New" pitchFamily="34" charset="-120"/>
              </a:rPr>
              <a:t>]</a:t>
            </a:r>
            <a:endParaRPr lang="en-US" sz="1800" dirty="0"/>
          </a:p>
        </p:txBody>
      </p:sp>
      <p:sp>
        <p:nvSpPr>
          <p:cNvPr id="20" name="Text 18"/>
          <p:cNvSpPr/>
          <p:nvPr/>
        </p:nvSpPr>
        <p:spPr>
          <a:xfrm>
            <a:off x="9744075" y="7364164"/>
            <a:ext cx="7299198" cy="7009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424244"/>
                </a:solidFill>
                <a:latin typeface="Barlow" pitchFamily="34" charset="0"/>
                <a:ea typeface="Barlow" pitchFamily="34" charset="-122"/>
                <a:cs typeface="Barlow" pitchFamily="34" charset="-120"/>
              </a:rPr>
              <a:t>Names only. The model is told a family was unreliable, never what its value might have been.</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143000" y="914400"/>
            <a:ext cx="17602200" cy="392385"/>
          </a:xfrm>
          <a:prstGeom prst="rect">
            <a:avLst/>
          </a:prstGeom>
          <a:noFill/>
          <a:ln/>
        </p:spPr>
        <p:txBody>
          <a:bodyPr wrap="square" lIns="25400" tIns="25400" rIns="25400" bIns="25400" rtlCol="0" anchor="t">
            <a:normAutofit/>
          </a:bodyPr>
          <a:lstStyle/>
          <a:p>
            <a:pPr algn="l" indent="0" marL="0">
              <a:lnSpc>
                <a:spcPct val="128276"/>
              </a:lnSpc>
              <a:buNone/>
            </a:pPr>
            <a:r>
              <a:rPr lang="en-US" sz="1800" b="1" spc="252" kern="0" dirty="0">
                <a:solidFill>
                  <a:srgbClr val="416180"/>
                </a:solidFill>
                <a:latin typeface="Barlow Condensed" pitchFamily="34" charset="0"/>
                <a:ea typeface="Barlow Condensed" pitchFamily="34" charset="-122"/>
                <a:cs typeface="Barlow Condensed" pitchFamily="34" charset="-120"/>
              </a:rPr>
              <a:t>09 · DEGRADED &amp; EDGE STATES</a:t>
            </a:r>
            <a:endParaRPr lang="en-US" sz="1800" dirty="0"/>
          </a:p>
        </p:txBody>
      </p:sp>
      <p:sp>
        <p:nvSpPr>
          <p:cNvPr id="3" name="Text 1"/>
          <p:cNvSpPr/>
          <p:nvPr/>
        </p:nvSpPr>
        <p:spPr>
          <a:xfrm>
            <a:off x="1143000" y="1402035"/>
            <a:ext cx="17602200" cy="982935"/>
          </a:xfrm>
          <a:prstGeom prst="rect">
            <a:avLst/>
          </a:prstGeom>
          <a:noFill/>
          <a:ln/>
        </p:spPr>
        <p:txBody>
          <a:bodyPr wrap="square" lIns="25400" tIns="25400" rIns="25400" bIns="25400" rtlCol="0" anchor="t">
            <a:normAutofit/>
          </a:bodyPr>
          <a:lstStyle/>
          <a:p>
            <a:pPr algn="l" indent="0" marL="0">
              <a:lnSpc>
                <a:spcPct val="128831"/>
              </a:lnSpc>
              <a:buNone/>
            </a:pPr>
            <a:r>
              <a:rPr lang="en-US" sz="4800" b="1" dirty="0">
                <a:solidFill>
                  <a:srgbClr val="1D1F20"/>
                </a:solidFill>
                <a:latin typeface="Barlow Condensed" pitchFamily="34" charset="0"/>
                <a:ea typeface="Barlow Condensed" pitchFamily="34" charset="-122"/>
                <a:cs typeface="Barlow Condensed" pitchFamily="34" charset="-120"/>
              </a:rPr>
              <a:t>Designed, not improvised</a:t>
            </a:r>
            <a:endParaRPr lang="en-US" sz="4800" dirty="0"/>
          </a:p>
        </p:txBody>
      </p:sp>
      <p:sp>
        <p:nvSpPr>
          <p:cNvPr id="4" name="Shape 2"/>
          <p:cNvSpPr/>
          <p:nvPr/>
        </p:nvSpPr>
        <p:spPr>
          <a:xfrm>
            <a:off x="1143000" y="3053060"/>
            <a:ext cx="3022848" cy="9525"/>
          </a:xfrm>
          <a:prstGeom prst="rect">
            <a:avLst/>
          </a:prstGeom>
          <a:solidFill>
            <a:srgbClr val="1F1F1F">
              <a:alpha val="16000"/>
            </a:srgbClr>
          </a:solidFill>
          <a:ln/>
        </p:spPr>
      </p:sp>
      <p:sp>
        <p:nvSpPr>
          <p:cNvPr id="5" name="Text 3"/>
          <p:cNvSpPr/>
          <p:nvPr/>
        </p:nvSpPr>
        <p:spPr>
          <a:xfrm>
            <a:off x="1207770" y="2830741"/>
            <a:ext cx="2983993" cy="195649"/>
          </a:xfrm>
          <a:prstGeom prst="rect">
            <a:avLst/>
          </a:prstGeom>
          <a:noFill/>
          <a:ln/>
        </p:spPr>
        <p:txBody>
          <a:bodyPr wrap="square" lIns="25400" tIns="25400" rIns="25400" bIns="25400" rtlCol="0" anchor="ctr">
            <a:normAutofit/>
          </a:bodyPr>
          <a:lstStyle/>
          <a:p>
            <a:pPr algn="l" indent="0" marL="0">
              <a:lnSpc>
                <a:spcPct val="131154"/>
              </a:lnSpc>
              <a:buNone/>
            </a:pPr>
            <a:r>
              <a:rPr lang="en-US" sz="825" b="1" spc="66" kern="0" dirty="0">
                <a:solidFill>
                  <a:srgbClr val="1C2020">
                    <a:alpha val="60000"/>
                  </a:srgbClr>
                </a:solidFill>
                <a:latin typeface="Barlow" pitchFamily="34" charset="0"/>
                <a:ea typeface="Barlow" pitchFamily="34" charset="-122"/>
                <a:cs typeface="Barlow" pitchFamily="34" charset="-120"/>
              </a:rPr>
              <a:t>STATE</a:t>
            </a:r>
            <a:endParaRPr lang="en-US" sz="825" dirty="0"/>
          </a:p>
        </p:txBody>
      </p:sp>
      <p:sp>
        <p:nvSpPr>
          <p:cNvPr id="6" name="Shape 4"/>
          <p:cNvSpPr/>
          <p:nvPr/>
        </p:nvSpPr>
        <p:spPr>
          <a:xfrm>
            <a:off x="4165848" y="3053060"/>
            <a:ext cx="7064499" cy="9525"/>
          </a:xfrm>
          <a:prstGeom prst="rect">
            <a:avLst/>
          </a:prstGeom>
          <a:solidFill>
            <a:srgbClr val="1F1F1F">
              <a:alpha val="16000"/>
            </a:srgbClr>
          </a:solidFill>
          <a:ln/>
        </p:spPr>
      </p:sp>
      <p:sp>
        <p:nvSpPr>
          <p:cNvPr id="7" name="Text 5"/>
          <p:cNvSpPr/>
          <p:nvPr/>
        </p:nvSpPr>
        <p:spPr>
          <a:xfrm>
            <a:off x="4230618" y="2830741"/>
            <a:ext cx="7146894" cy="195649"/>
          </a:xfrm>
          <a:prstGeom prst="rect">
            <a:avLst/>
          </a:prstGeom>
          <a:noFill/>
          <a:ln/>
        </p:spPr>
        <p:txBody>
          <a:bodyPr wrap="square" lIns="25400" tIns="25400" rIns="25400" bIns="25400" rtlCol="0" anchor="ctr">
            <a:normAutofit/>
          </a:bodyPr>
          <a:lstStyle/>
          <a:p>
            <a:pPr algn="l" indent="0" marL="0">
              <a:lnSpc>
                <a:spcPct val="131154"/>
              </a:lnSpc>
              <a:buNone/>
            </a:pPr>
            <a:r>
              <a:rPr lang="en-US" sz="825" b="1" spc="66" kern="0" dirty="0">
                <a:solidFill>
                  <a:srgbClr val="1C2020">
                    <a:alpha val="60000"/>
                  </a:srgbClr>
                </a:solidFill>
                <a:latin typeface="Barlow" pitchFamily="34" charset="0"/>
                <a:ea typeface="Barlow" pitchFamily="34" charset="-122"/>
                <a:cs typeface="Barlow" pitchFamily="34" charset="-120"/>
              </a:rPr>
              <a:t>WHAT THE ATHLETE SEES</a:t>
            </a:r>
            <a:endParaRPr lang="en-US" sz="825" dirty="0"/>
          </a:p>
        </p:txBody>
      </p:sp>
      <p:sp>
        <p:nvSpPr>
          <p:cNvPr id="8" name="Shape 6"/>
          <p:cNvSpPr/>
          <p:nvPr/>
        </p:nvSpPr>
        <p:spPr>
          <a:xfrm>
            <a:off x="11230347" y="3053060"/>
            <a:ext cx="5914653" cy="9525"/>
          </a:xfrm>
          <a:prstGeom prst="rect">
            <a:avLst/>
          </a:prstGeom>
          <a:solidFill>
            <a:srgbClr val="1F1F1F">
              <a:alpha val="16000"/>
            </a:srgbClr>
          </a:solidFill>
          <a:ln/>
        </p:spPr>
      </p:sp>
      <p:sp>
        <p:nvSpPr>
          <p:cNvPr id="9" name="Text 7"/>
          <p:cNvSpPr/>
          <p:nvPr/>
        </p:nvSpPr>
        <p:spPr>
          <a:xfrm>
            <a:off x="11295117" y="2830741"/>
            <a:ext cx="5962553" cy="195649"/>
          </a:xfrm>
          <a:prstGeom prst="rect">
            <a:avLst/>
          </a:prstGeom>
          <a:noFill/>
          <a:ln/>
        </p:spPr>
        <p:txBody>
          <a:bodyPr wrap="square" lIns="25400" tIns="25400" rIns="25400" bIns="25400" rtlCol="0" anchor="ctr">
            <a:normAutofit/>
          </a:bodyPr>
          <a:lstStyle/>
          <a:p>
            <a:pPr algn="l" indent="0" marL="0">
              <a:lnSpc>
                <a:spcPct val="131154"/>
              </a:lnSpc>
              <a:buNone/>
            </a:pPr>
            <a:r>
              <a:rPr lang="en-US" sz="825" b="1" spc="66" kern="0" dirty="0">
                <a:solidFill>
                  <a:srgbClr val="1C2020">
                    <a:alpha val="60000"/>
                  </a:srgbClr>
                </a:solidFill>
                <a:latin typeface="Barlow" pitchFamily="34" charset="0"/>
                <a:ea typeface="Barlow" pitchFamily="34" charset="-122"/>
                <a:cs typeface="Barlow" pitchFamily="34" charset="-120"/>
              </a:rPr>
              <a:t>WHAT THE SYSTEM DOES</a:t>
            </a:r>
            <a:endParaRPr lang="en-US" sz="825" dirty="0"/>
          </a:p>
        </p:txBody>
      </p:sp>
      <p:sp>
        <p:nvSpPr>
          <p:cNvPr id="10" name="Shape 8"/>
          <p:cNvSpPr/>
          <p:nvPr/>
        </p:nvSpPr>
        <p:spPr>
          <a:xfrm>
            <a:off x="1143000" y="4018806"/>
            <a:ext cx="3022848" cy="9525"/>
          </a:xfrm>
          <a:prstGeom prst="rect">
            <a:avLst/>
          </a:prstGeom>
          <a:solidFill>
            <a:srgbClr val="1A1A26">
              <a:alpha val="8000"/>
            </a:srgbClr>
          </a:solidFill>
          <a:ln/>
        </p:spPr>
      </p:sp>
      <p:sp>
        <p:nvSpPr>
          <p:cNvPr id="11" name="Text 9"/>
          <p:cNvSpPr/>
          <p:nvPr/>
        </p:nvSpPr>
        <p:spPr>
          <a:xfrm>
            <a:off x="1143000" y="3234035"/>
            <a:ext cx="3113533" cy="651421"/>
          </a:xfrm>
          <a:prstGeom prst="rect">
            <a:avLst/>
          </a:prstGeom>
          <a:noFill/>
          <a:ln/>
        </p:spPr>
        <p:txBody>
          <a:bodyPr wrap="square" lIns="25400" tIns="25400" rIns="25400" bIns="25400" rtlCol="0" anchor="ctr">
            <a:normAutofit/>
          </a:bodyPr>
          <a:lstStyle/>
          <a:p>
            <a:pPr algn="l" indent="0" marL="0">
              <a:lnSpc>
                <a:spcPct val="129552"/>
              </a:lnSpc>
              <a:buNone/>
            </a:pPr>
            <a:r>
              <a:rPr lang="en-US" sz="2100" dirty="0">
                <a:solidFill>
                  <a:srgbClr val="1D1F20"/>
                </a:solidFill>
                <a:latin typeface="Barlow" pitchFamily="34" charset="0"/>
                <a:ea typeface="Barlow" pitchFamily="34" charset="-122"/>
                <a:cs typeface="Barlow" pitchFamily="34" charset="-120"/>
              </a:rPr>
              <a:t>Calibration step failed</a:t>
            </a:r>
            <a:endParaRPr lang="en-US" sz="2100" dirty="0"/>
          </a:p>
        </p:txBody>
      </p:sp>
      <p:sp>
        <p:nvSpPr>
          <p:cNvPr id="12" name="Shape 10"/>
          <p:cNvSpPr/>
          <p:nvPr/>
        </p:nvSpPr>
        <p:spPr>
          <a:xfrm>
            <a:off x="4165848" y="4018806"/>
            <a:ext cx="7064499" cy="9525"/>
          </a:xfrm>
          <a:prstGeom prst="rect">
            <a:avLst/>
          </a:prstGeom>
          <a:solidFill>
            <a:srgbClr val="1A1A26">
              <a:alpha val="8000"/>
            </a:srgbClr>
          </a:solidFill>
          <a:ln/>
        </p:spPr>
      </p:sp>
      <p:sp>
        <p:nvSpPr>
          <p:cNvPr id="13" name="Text 11"/>
          <p:cNvSpPr/>
          <p:nvPr/>
        </p:nvSpPr>
        <p:spPr>
          <a:xfrm>
            <a:off x="4230618" y="3127355"/>
            <a:ext cx="7146894" cy="864781"/>
          </a:xfrm>
          <a:prstGeom prst="rect">
            <a:avLst/>
          </a:prstGeom>
          <a:noFill/>
          <a:ln/>
        </p:spPr>
        <p:txBody>
          <a:bodyPr wrap="square" lIns="25400" tIns="25400" rIns="25400" bIns="25400" rtlCol="0" anchor="ctr">
            <a:normAutofit/>
          </a:bodyPr>
          <a:lstStyle/>
          <a:p>
            <a:pPr algn="l" indent="0" marL="0">
              <a:lnSpc>
                <a:spcPct val="129552"/>
              </a:lnSpc>
              <a:buNone/>
            </a:pPr>
            <a:r>
              <a:rPr lang="en-US" sz="2100" dirty="0">
                <a:solidFill>
                  <a:srgbClr val="1D1F20"/>
                </a:solidFill>
                <a:latin typeface="Barlow" pitchFamily="34" charset="0"/>
                <a:ea typeface="Barlow" pitchFamily="34" charset="-122"/>
                <a:cs typeface="Barlow" pitchFamily="34" charset="-120"/>
              </a:rPr>
              <a:t>Sensor named, cause in one clause, gate value shown as a near-miss</a:t>
            </a:r>
            <a:endParaRPr lang="en-US" sz="2100" dirty="0"/>
          </a:p>
        </p:txBody>
      </p:sp>
      <p:sp>
        <p:nvSpPr>
          <p:cNvPr id="14" name="Shape 12"/>
          <p:cNvSpPr/>
          <p:nvPr/>
        </p:nvSpPr>
        <p:spPr>
          <a:xfrm>
            <a:off x="11230347" y="4018806"/>
            <a:ext cx="5914653" cy="9525"/>
          </a:xfrm>
          <a:prstGeom prst="rect">
            <a:avLst/>
          </a:prstGeom>
          <a:solidFill>
            <a:srgbClr val="1A1A26">
              <a:alpha val="8000"/>
            </a:srgbClr>
          </a:solidFill>
          <a:ln/>
        </p:spPr>
      </p:sp>
      <p:sp>
        <p:nvSpPr>
          <p:cNvPr id="15" name="Text 13"/>
          <p:cNvSpPr/>
          <p:nvPr/>
        </p:nvSpPr>
        <p:spPr>
          <a:xfrm>
            <a:off x="11295117" y="3127355"/>
            <a:ext cx="5962553" cy="864781"/>
          </a:xfrm>
          <a:prstGeom prst="rect">
            <a:avLst/>
          </a:prstGeom>
          <a:noFill/>
          <a:ln/>
        </p:spPr>
        <p:txBody>
          <a:bodyPr wrap="square" lIns="25400" tIns="25400" rIns="25400" bIns="25400" rtlCol="0" anchor="ctr">
            <a:normAutofit/>
          </a:bodyPr>
          <a:lstStyle/>
          <a:p>
            <a:pPr algn="l" indent="0" marL="0">
              <a:lnSpc>
                <a:spcPct val="129552"/>
              </a:lnSpc>
              <a:buNone/>
            </a:pPr>
            <a:r>
              <a:rPr lang="en-US" sz="2100" dirty="0">
                <a:solidFill>
                  <a:srgbClr val="1D1F20"/>
                </a:solidFill>
                <a:latin typeface="Barlow" pitchFamily="34" charset="0"/>
                <a:ea typeface="Barlow" pitchFamily="34" charset="-122"/>
                <a:cs typeface="Barlow" pitchFamily="34" charset="-120"/>
              </a:rPr>
              <a:t>Repeat that step only; placement clip offered for the site</a:t>
            </a:r>
            <a:endParaRPr lang="en-US" sz="2100" dirty="0"/>
          </a:p>
        </p:txBody>
      </p:sp>
      <p:sp>
        <p:nvSpPr>
          <p:cNvPr id="16" name="Shape 14"/>
          <p:cNvSpPr/>
          <p:nvPr/>
        </p:nvSpPr>
        <p:spPr>
          <a:xfrm>
            <a:off x="1143000" y="5197971"/>
            <a:ext cx="3022848" cy="9525"/>
          </a:xfrm>
          <a:prstGeom prst="rect">
            <a:avLst/>
          </a:prstGeom>
          <a:solidFill>
            <a:srgbClr val="1A1A26">
              <a:alpha val="8000"/>
            </a:srgbClr>
          </a:solidFill>
          <a:ln/>
        </p:spPr>
      </p:sp>
      <p:sp>
        <p:nvSpPr>
          <p:cNvPr id="17" name="Text 15"/>
          <p:cNvSpPr/>
          <p:nvPr/>
        </p:nvSpPr>
        <p:spPr>
          <a:xfrm>
            <a:off x="1143000" y="4199781"/>
            <a:ext cx="3113533" cy="864840"/>
          </a:xfrm>
          <a:prstGeom prst="rect">
            <a:avLst/>
          </a:prstGeom>
          <a:noFill/>
          <a:ln/>
        </p:spPr>
        <p:txBody>
          <a:bodyPr wrap="square" lIns="25400" tIns="25400" rIns="25400" bIns="25400" rtlCol="0" anchor="ctr">
            <a:normAutofit/>
          </a:bodyPr>
          <a:lstStyle/>
          <a:p>
            <a:pPr algn="l" indent="0" marL="0">
              <a:lnSpc>
                <a:spcPct val="129552"/>
              </a:lnSpc>
              <a:buNone/>
            </a:pPr>
            <a:r>
              <a:rPr lang="en-US" sz="2100" dirty="0">
                <a:solidFill>
                  <a:srgbClr val="1D1F20"/>
                </a:solidFill>
                <a:latin typeface="Barlow" pitchFamily="34" charset="0"/>
                <a:ea typeface="Barlow" pitchFamily="34" charset="-122"/>
                <a:cs typeface="Barlow" pitchFamily="34" charset="-120"/>
              </a:rPr>
              <a:t>Sensor dropped mid-session</a:t>
            </a:r>
            <a:endParaRPr lang="en-US" sz="2100" dirty="0"/>
          </a:p>
        </p:txBody>
      </p:sp>
      <p:sp>
        <p:nvSpPr>
          <p:cNvPr id="18" name="Shape 16"/>
          <p:cNvSpPr/>
          <p:nvPr/>
        </p:nvSpPr>
        <p:spPr>
          <a:xfrm>
            <a:off x="4165848" y="5197971"/>
            <a:ext cx="7064499" cy="9525"/>
          </a:xfrm>
          <a:prstGeom prst="rect">
            <a:avLst/>
          </a:prstGeom>
          <a:solidFill>
            <a:srgbClr val="1A1A26">
              <a:alpha val="8000"/>
            </a:srgbClr>
          </a:solidFill>
          <a:ln/>
        </p:spPr>
      </p:sp>
      <p:sp>
        <p:nvSpPr>
          <p:cNvPr id="19" name="Text 17"/>
          <p:cNvSpPr/>
          <p:nvPr/>
        </p:nvSpPr>
        <p:spPr>
          <a:xfrm>
            <a:off x="4230618" y="4093101"/>
            <a:ext cx="7146894" cy="1078200"/>
          </a:xfrm>
          <a:prstGeom prst="rect">
            <a:avLst/>
          </a:prstGeom>
          <a:noFill/>
          <a:ln/>
        </p:spPr>
        <p:txBody>
          <a:bodyPr wrap="square" lIns="25400" tIns="25400" rIns="25400" bIns="25400" rtlCol="0" anchor="ctr">
            <a:normAutofit/>
          </a:bodyPr>
          <a:lstStyle/>
          <a:p>
            <a:pPr algn="l" indent="0" marL="0">
              <a:lnSpc>
                <a:spcPct val="129552"/>
              </a:lnSpc>
              <a:buNone/>
            </a:pPr>
            <a:r>
              <a:rPr lang="en-US" sz="2100" dirty="0">
                <a:solidFill>
                  <a:srgbClr val="1D1F20"/>
                </a:solidFill>
                <a:latin typeface="Barlow" pitchFamily="34" charset="0"/>
                <a:ea typeface="Barlow" pitchFamily="34" charset="-122"/>
                <a:cs typeface="Barlow" pitchFamily="34" charset="-120"/>
              </a:rPr>
              <a:t>Affected signal greys with an icon; session continues</a:t>
            </a:r>
            <a:endParaRPr lang="en-US" sz="2100" dirty="0"/>
          </a:p>
        </p:txBody>
      </p:sp>
      <p:sp>
        <p:nvSpPr>
          <p:cNvPr id="20" name="Shape 18"/>
          <p:cNvSpPr/>
          <p:nvPr/>
        </p:nvSpPr>
        <p:spPr>
          <a:xfrm>
            <a:off x="11230347" y="5197971"/>
            <a:ext cx="5914653" cy="9525"/>
          </a:xfrm>
          <a:prstGeom prst="rect">
            <a:avLst/>
          </a:prstGeom>
          <a:solidFill>
            <a:srgbClr val="1A1A26">
              <a:alpha val="8000"/>
            </a:srgbClr>
          </a:solidFill>
          <a:ln/>
        </p:spPr>
      </p:sp>
      <p:sp>
        <p:nvSpPr>
          <p:cNvPr id="21" name="Text 19"/>
          <p:cNvSpPr/>
          <p:nvPr/>
        </p:nvSpPr>
        <p:spPr>
          <a:xfrm>
            <a:off x="11295117" y="4093101"/>
            <a:ext cx="5962553" cy="1078200"/>
          </a:xfrm>
          <a:prstGeom prst="rect">
            <a:avLst/>
          </a:prstGeom>
          <a:noFill/>
          <a:ln/>
        </p:spPr>
        <p:txBody>
          <a:bodyPr wrap="square" lIns="25400" tIns="25400" rIns="25400" bIns="25400" rtlCol="0" anchor="ctr">
            <a:normAutofit/>
          </a:bodyPr>
          <a:lstStyle/>
          <a:p>
            <a:pPr algn="l" indent="0" marL="0">
              <a:lnSpc>
                <a:spcPct val="129552"/>
              </a:lnSpc>
              <a:buNone/>
            </a:pPr>
            <a:r>
              <a:rPr lang="en-US" sz="2100" dirty="0">
                <a:solidFill>
                  <a:srgbClr val="1D1F20"/>
                </a:solidFill>
                <a:latin typeface="Barlow" pitchFamily="34" charset="0"/>
                <a:ea typeface="Barlow" pitchFamily="34" charset="-122"/>
                <a:cs typeface="Barlow" pitchFamily="34" charset="-120"/>
              </a:rPr>
              <a:t>Logbook backfills; dropout recomputed as the residual</a:t>
            </a:r>
            <a:endParaRPr lang="en-US" sz="2100" dirty="0"/>
          </a:p>
        </p:txBody>
      </p:sp>
      <p:sp>
        <p:nvSpPr>
          <p:cNvPr id="22" name="Shape 20"/>
          <p:cNvSpPr/>
          <p:nvPr/>
        </p:nvSpPr>
        <p:spPr>
          <a:xfrm>
            <a:off x="1143000" y="6163717"/>
            <a:ext cx="3022848" cy="9525"/>
          </a:xfrm>
          <a:prstGeom prst="rect">
            <a:avLst/>
          </a:prstGeom>
          <a:solidFill>
            <a:srgbClr val="1A1A26">
              <a:alpha val="8000"/>
            </a:srgbClr>
          </a:solidFill>
          <a:ln/>
        </p:spPr>
      </p:sp>
      <p:sp>
        <p:nvSpPr>
          <p:cNvPr id="23" name="Text 21"/>
          <p:cNvSpPr/>
          <p:nvPr/>
        </p:nvSpPr>
        <p:spPr>
          <a:xfrm>
            <a:off x="1143000" y="5378946"/>
            <a:ext cx="3113533" cy="651421"/>
          </a:xfrm>
          <a:prstGeom prst="rect">
            <a:avLst/>
          </a:prstGeom>
          <a:noFill/>
          <a:ln/>
        </p:spPr>
        <p:txBody>
          <a:bodyPr wrap="square" lIns="25400" tIns="25400" rIns="25400" bIns="25400" rtlCol="0" anchor="ctr">
            <a:normAutofit/>
          </a:bodyPr>
          <a:lstStyle/>
          <a:p>
            <a:pPr algn="l" indent="0" marL="0">
              <a:lnSpc>
                <a:spcPct val="129552"/>
              </a:lnSpc>
              <a:buNone/>
            </a:pPr>
            <a:r>
              <a:rPr lang="en-US" sz="2100" dirty="0">
                <a:solidFill>
                  <a:srgbClr val="1D1F20"/>
                </a:solidFill>
                <a:latin typeface="Barlow" pitchFamily="34" charset="0"/>
                <a:ea typeface="Barlow" pitchFamily="34" charset="-122"/>
                <a:cs typeface="Barlow" pitchFamily="34" charset="-120"/>
              </a:rPr>
              <a:t>Slip detected</a:t>
            </a:r>
            <a:endParaRPr lang="en-US" sz="2100" dirty="0"/>
          </a:p>
        </p:txBody>
      </p:sp>
      <p:sp>
        <p:nvSpPr>
          <p:cNvPr id="24" name="Shape 22"/>
          <p:cNvSpPr/>
          <p:nvPr/>
        </p:nvSpPr>
        <p:spPr>
          <a:xfrm>
            <a:off x="4165848" y="6163717"/>
            <a:ext cx="7064499" cy="9525"/>
          </a:xfrm>
          <a:prstGeom prst="rect">
            <a:avLst/>
          </a:prstGeom>
          <a:solidFill>
            <a:srgbClr val="1A1A26">
              <a:alpha val="8000"/>
            </a:srgbClr>
          </a:solidFill>
          <a:ln/>
        </p:spPr>
      </p:sp>
      <p:sp>
        <p:nvSpPr>
          <p:cNvPr id="25" name="Text 23"/>
          <p:cNvSpPr/>
          <p:nvPr/>
        </p:nvSpPr>
        <p:spPr>
          <a:xfrm>
            <a:off x="4230618" y="5272266"/>
            <a:ext cx="7146894" cy="864781"/>
          </a:xfrm>
          <a:prstGeom prst="rect">
            <a:avLst/>
          </a:prstGeom>
          <a:noFill/>
          <a:ln/>
        </p:spPr>
        <p:txBody>
          <a:bodyPr wrap="square" lIns="25400" tIns="25400" rIns="25400" bIns="25400" rtlCol="0" anchor="ctr">
            <a:normAutofit/>
          </a:bodyPr>
          <a:lstStyle/>
          <a:p>
            <a:pPr algn="l" indent="0" marL="0">
              <a:lnSpc>
                <a:spcPct val="129552"/>
              </a:lnSpc>
              <a:buNone/>
            </a:pPr>
            <a:r>
              <a:rPr lang="en-US" sz="2100" dirty="0">
                <a:solidFill>
                  <a:srgbClr val="1D1F20"/>
                </a:solidFill>
                <a:latin typeface="Barlow" pitchFamily="34" charset="0"/>
                <a:ea typeface="Barlow" pitchFamily="34" charset="-122"/>
                <a:cs typeface="Barlow" pitchFamily="34" charset="-120"/>
              </a:rPr>
              <a:t>Posture ring pauses, one non-blocking line</a:t>
            </a:r>
            <a:endParaRPr lang="en-US" sz="2100" dirty="0"/>
          </a:p>
        </p:txBody>
      </p:sp>
      <p:sp>
        <p:nvSpPr>
          <p:cNvPr id="26" name="Shape 24"/>
          <p:cNvSpPr/>
          <p:nvPr/>
        </p:nvSpPr>
        <p:spPr>
          <a:xfrm>
            <a:off x="11230347" y="6163717"/>
            <a:ext cx="5914653" cy="9525"/>
          </a:xfrm>
          <a:prstGeom prst="rect">
            <a:avLst/>
          </a:prstGeom>
          <a:solidFill>
            <a:srgbClr val="1A1A26">
              <a:alpha val="8000"/>
            </a:srgbClr>
          </a:solidFill>
          <a:ln/>
        </p:spPr>
      </p:sp>
      <p:sp>
        <p:nvSpPr>
          <p:cNvPr id="27" name="Text 25"/>
          <p:cNvSpPr/>
          <p:nvPr/>
        </p:nvSpPr>
        <p:spPr>
          <a:xfrm>
            <a:off x="11295117" y="5272266"/>
            <a:ext cx="5962553" cy="864781"/>
          </a:xfrm>
          <a:prstGeom prst="rect">
            <a:avLst/>
          </a:prstGeom>
          <a:noFill/>
          <a:ln/>
        </p:spPr>
        <p:txBody>
          <a:bodyPr wrap="square" lIns="25400" tIns="25400" rIns="25400" bIns="25400" rtlCol="0" anchor="ctr">
            <a:normAutofit/>
          </a:bodyPr>
          <a:lstStyle/>
          <a:p>
            <a:pPr algn="l" indent="0" marL="0">
              <a:lnSpc>
                <a:spcPct val="129552"/>
              </a:lnSpc>
              <a:buNone/>
            </a:pPr>
            <a:r>
              <a:rPr lang="en-US" sz="2100" dirty="0">
                <a:solidFill>
                  <a:srgbClr val="1D1F20"/>
                </a:solidFill>
                <a:latin typeface="Barlow" pitchFamily="34" charset="0"/>
                <a:ea typeface="Barlow" pitchFamily="34" charset="-122"/>
                <a:cs typeface="Barlow" pitchFamily="34" charset="-120"/>
              </a:rPr>
              <a:t>Absolute angles marked from the slip timestamp onward</a:t>
            </a:r>
            <a:endParaRPr lang="en-US" sz="2100" dirty="0"/>
          </a:p>
        </p:txBody>
      </p:sp>
      <p:sp>
        <p:nvSpPr>
          <p:cNvPr id="28" name="Shape 26"/>
          <p:cNvSpPr/>
          <p:nvPr/>
        </p:nvSpPr>
        <p:spPr>
          <a:xfrm>
            <a:off x="1143000" y="6929512"/>
            <a:ext cx="3022848" cy="9525"/>
          </a:xfrm>
          <a:prstGeom prst="rect">
            <a:avLst/>
          </a:prstGeom>
          <a:solidFill>
            <a:srgbClr val="1A1A26">
              <a:alpha val="8000"/>
            </a:srgbClr>
          </a:solidFill>
          <a:ln/>
        </p:spPr>
      </p:sp>
      <p:sp>
        <p:nvSpPr>
          <p:cNvPr id="29" name="Text 27"/>
          <p:cNvSpPr/>
          <p:nvPr/>
        </p:nvSpPr>
        <p:spPr>
          <a:xfrm>
            <a:off x="1143000" y="6344692"/>
            <a:ext cx="3113533" cy="451470"/>
          </a:xfrm>
          <a:prstGeom prst="rect">
            <a:avLst/>
          </a:prstGeom>
          <a:noFill/>
          <a:ln/>
        </p:spPr>
        <p:txBody>
          <a:bodyPr wrap="square" lIns="25400" tIns="25400" rIns="25400" bIns="25400" rtlCol="0" anchor="ctr">
            <a:normAutofit/>
          </a:bodyPr>
          <a:lstStyle/>
          <a:p>
            <a:pPr algn="l" indent="0" marL="0">
              <a:lnSpc>
                <a:spcPct val="129552"/>
              </a:lnSpc>
              <a:buNone/>
            </a:pPr>
            <a:r>
              <a:rPr lang="en-US" sz="2100" dirty="0">
                <a:solidFill>
                  <a:srgbClr val="1D1F20"/>
                </a:solidFill>
                <a:latin typeface="Barlow" pitchFamily="34" charset="0"/>
                <a:ea typeface="Barlow" pitchFamily="34" charset="-122"/>
                <a:cs typeface="Barlow" pitchFamily="34" charset="-120"/>
              </a:rPr>
              <a:t>Sync error over gate</a:t>
            </a:r>
            <a:endParaRPr lang="en-US" sz="2100" dirty="0"/>
          </a:p>
        </p:txBody>
      </p:sp>
      <p:sp>
        <p:nvSpPr>
          <p:cNvPr id="30" name="Shape 28"/>
          <p:cNvSpPr/>
          <p:nvPr/>
        </p:nvSpPr>
        <p:spPr>
          <a:xfrm>
            <a:off x="4165848" y="6929512"/>
            <a:ext cx="7064499" cy="9525"/>
          </a:xfrm>
          <a:prstGeom prst="rect">
            <a:avLst/>
          </a:prstGeom>
          <a:solidFill>
            <a:srgbClr val="1A1A26">
              <a:alpha val="8000"/>
            </a:srgbClr>
          </a:solidFill>
          <a:ln/>
        </p:spPr>
      </p:sp>
      <p:sp>
        <p:nvSpPr>
          <p:cNvPr id="31" name="Text 29"/>
          <p:cNvSpPr/>
          <p:nvPr/>
        </p:nvSpPr>
        <p:spPr>
          <a:xfrm>
            <a:off x="4230618" y="6238012"/>
            <a:ext cx="7146894" cy="664830"/>
          </a:xfrm>
          <a:prstGeom prst="rect">
            <a:avLst/>
          </a:prstGeom>
          <a:noFill/>
          <a:ln/>
        </p:spPr>
        <p:txBody>
          <a:bodyPr wrap="square" lIns="25400" tIns="25400" rIns="25400" bIns="25400" rtlCol="0" anchor="ctr">
            <a:normAutofit/>
          </a:bodyPr>
          <a:lstStyle/>
          <a:p>
            <a:pPr algn="l" indent="0" marL="0">
              <a:lnSpc>
                <a:spcPct val="129552"/>
              </a:lnSpc>
              <a:buNone/>
            </a:pPr>
            <a:r>
              <a:rPr lang="en-US" sz="2100" dirty="0">
                <a:solidFill>
                  <a:srgbClr val="1D1F20"/>
                </a:solidFill>
                <a:latin typeface="Barlow" pitchFamily="34" charset="0"/>
                <a:ea typeface="Barlow" pitchFamily="34" charset="-122"/>
                <a:cs typeface="Barlow" pitchFamily="34" charset="-120"/>
              </a:rPr>
              <a:t>Timing symmetry greyed in place with the reason</a:t>
            </a:r>
            <a:endParaRPr lang="en-US" sz="2100" dirty="0"/>
          </a:p>
        </p:txBody>
      </p:sp>
      <p:sp>
        <p:nvSpPr>
          <p:cNvPr id="32" name="Shape 30"/>
          <p:cNvSpPr/>
          <p:nvPr/>
        </p:nvSpPr>
        <p:spPr>
          <a:xfrm>
            <a:off x="11230347" y="6929512"/>
            <a:ext cx="5914653" cy="9525"/>
          </a:xfrm>
          <a:prstGeom prst="rect">
            <a:avLst/>
          </a:prstGeom>
          <a:solidFill>
            <a:srgbClr val="1A1A26">
              <a:alpha val="8000"/>
            </a:srgbClr>
          </a:solidFill>
          <a:ln/>
        </p:spPr>
      </p:sp>
      <p:sp>
        <p:nvSpPr>
          <p:cNvPr id="33" name="Text 31"/>
          <p:cNvSpPr/>
          <p:nvPr/>
        </p:nvSpPr>
        <p:spPr>
          <a:xfrm>
            <a:off x="11295117" y="6238012"/>
            <a:ext cx="5962553" cy="664830"/>
          </a:xfrm>
          <a:prstGeom prst="rect">
            <a:avLst/>
          </a:prstGeom>
          <a:noFill/>
          <a:ln/>
        </p:spPr>
        <p:txBody>
          <a:bodyPr wrap="square" lIns="25400" tIns="25400" rIns="25400" bIns="25400" rtlCol="0" anchor="ctr">
            <a:normAutofit/>
          </a:bodyPr>
          <a:lstStyle/>
          <a:p>
            <a:pPr algn="l" indent="0" marL="0">
              <a:lnSpc>
                <a:spcPct val="129552"/>
              </a:lnSpc>
              <a:buNone/>
            </a:pPr>
            <a:r>
              <a:rPr lang="en-US" sz="2100" dirty="0">
                <a:solidFill>
                  <a:srgbClr val="1D1F20"/>
                </a:solidFill>
                <a:latin typeface="Barlow" pitchFamily="34" charset="0"/>
                <a:ea typeface="Barlow" pitchFamily="34" charset="-122"/>
                <a:cs typeface="Barlow" pitchFamily="34" charset="-120"/>
              </a:rPr>
              <a:t>Metric family omitted from the descriptor entirely</a:t>
            </a:r>
            <a:endParaRPr lang="en-US" sz="2100" dirty="0"/>
          </a:p>
        </p:txBody>
      </p:sp>
      <p:sp>
        <p:nvSpPr>
          <p:cNvPr id="34" name="Shape 32"/>
          <p:cNvSpPr/>
          <p:nvPr/>
        </p:nvSpPr>
        <p:spPr>
          <a:xfrm>
            <a:off x="1143000" y="7695307"/>
            <a:ext cx="3022848" cy="9525"/>
          </a:xfrm>
          <a:prstGeom prst="rect">
            <a:avLst/>
          </a:prstGeom>
          <a:solidFill>
            <a:srgbClr val="1A1A26">
              <a:alpha val="8000"/>
            </a:srgbClr>
          </a:solidFill>
          <a:ln/>
        </p:spPr>
      </p:sp>
      <p:sp>
        <p:nvSpPr>
          <p:cNvPr id="35" name="Text 33"/>
          <p:cNvSpPr/>
          <p:nvPr/>
        </p:nvSpPr>
        <p:spPr>
          <a:xfrm>
            <a:off x="1143000" y="7110487"/>
            <a:ext cx="3113533" cy="451470"/>
          </a:xfrm>
          <a:prstGeom prst="rect">
            <a:avLst/>
          </a:prstGeom>
          <a:noFill/>
          <a:ln/>
        </p:spPr>
        <p:txBody>
          <a:bodyPr wrap="square" lIns="25400" tIns="25400" rIns="25400" bIns="25400" rtlCol="0" anchor="ctr">
            <a:normAutofit/>
          </a:bodyPr>
          <a:lstStyle/>
          <a:p>
            <a:pPr algn="l" indent="0" marL="0">
              <a:lnSpc>
                <a:spcPct val="129552"/>
              </a:lnSpc>
              <a:buNone/>
            </a:pPr>
            <a:r>
              <a:rPr lang="en-US" sz="2100" dirty="0">
                <a:solidFill>
                  <a:srgbClr val="1D1F20"/>
                </a:solidFill>
                <a:latin typeface="Barlow" pitchFamily="34" charset="0"/>
                <a:ea typeface="Barlow" pitchFamily="34" charset="-122"/>
                <a:cs typeface="Barlow" pitchFamily="34" charset="-120"/>
              </a:rPr>
              <a:t>Escalation rule fires</a:t>
            </a:r>
            <a:endParaRPr lang="en-US" sz="2100" dirty="0"/>
          </a:p>
        </p:txBody>
      </p:sp>
      <p:sp>
        <p:nvSpPr>
          <p:cNvPr id="36" name="Shape 34"/>
          <p:cNvSpPr/>
          <p:nvPr/>
        </p:nvSpPr>
        <p:spPr>
          <a:xfrm>
            <a:off x="4165848" y="7695307"/>
            <a:ext cx="7064499" cy="9525"/>
          </a:xfrm>
          <a:prstGeom prst="rect">
            <a:avLst/>
          </a:prstGeom>
          <a:solidFill>
            <a:srgbClr val="1A1A26">
              <a:alpha val="8000"/>
            </a:srgbClr>
          </a:solidFill>
          <a:ln/>
        </p:spPr>
      </p:sp>
      <p:sp>
        <p:nvSpPr>
          <p:cNvPr id="37" name="Text 35"/>
          <p:cNvSpPr/>
          <p:nvPr/>
        </p:nvSpPr>
        <p:spPr>
          <a:xfrm>
            <a:off x="4230618" y="7003807"/>
            <a:ext cx="7146894" cy="664830"/>
          </a:xfrm>
          <a:prstGeom prst="rect">
            <a:avLst/>
          </a:prstGeom>
          <a:noFill/>
          <a:ln/>
        </p:spPr>
        <p:txBody>
          <a:bodyPr wrap="square" lIns="25400" tIns="25400" rIns="25400" bIns="25400" rtlCol="0" anchor="ctr">
            <a:normAutofit/>
          </a:bodyPr>
          <a:lstStyle/>
          <a:p>
            <a:pPr algn="l" indent="0" marL="0">
              <a:lnSpc>
                <a:spcPct val="129552"/>
              </a:lnSpc>
              <a:buNone/>
            </a:pPr>
            <a:r>
              <a:rPr lang="en-US" sz="2100" dirty="0">
                <a:solidFill>
                  <a:srgbClr val="1D1F20"/>
                </a:solidFill>
                <a:latin typeface="Barlow" pitchFamily="34" charset="0"/>
                <a:ea typeface="Barlow" pitchFamily="34" charset="-122"/>
                <a:cs typeface="Barlow" pitchFamily="34" charset="-120"/>
              </a:rPr>
              <a:t>Fixed referral card above everything; no drill</a:t>
            </a:r>
            <a:endParaRPr lang="en-US" sz="2100" dirty="0"/>
          </a:p>
        </p:txBody>
      </p:sp>
      <p:sp>
        <p:nvSpPr>
          <p:cNvPr id="38" name="Shape 36"/>
          <p:cNvSpPr/>
          <p:nvPr/>
        </p:nvSpPr>
        <p:spPr>
          <a:xfrm>
            <a:off x="11230347" y="7695307"/>
            <a:ext cx="5914653" cy="9525"/>
          </a:xfrm>
          <a:prstGeom prst="rect">
            <a:avLst/>
          </a:prstGeom>
          <a:solidFill>
            <a:srgbClr val="1A1A26">
              <a:alpha val="8000"/>
            </a:srgbClr>
          </a:solidFill>
          <a:ln/>
        </p:spPr>
      </p:sp>
      <p:sp>
        <p:nvSpPr>
          <p:cNvPr id="39" name="Text 37"/>
          <p:cNvSpPr/>
          <p:nvPr/>
        </p:nvSpPr>
        <p:spPr>
          <a:xfrm>
            <a:off x="11295117" y="7003807"/>
            <a:ext cx="5962553" cy="664830"/>
          </a:xfrm>
          <a:prstGeom prst="rect">
            <a:avLst/>
          </a:prstGeom>
          <a:noFill/>
          <a:ln/>
        </p:spPr>
        <p:txBody>
          <a:bodyPr wrap="square" lIns="25400" tIns="25400" rIns="25400" bIns="25400" rtlCol="0" anchor="ctr">
            <a:normAutofit/>
          </a:bodyPr>
          <a:lstStyle/>
          <a:p>
            <a:pPr algn="l" indent="0" marL="0">
              <a:lnSpc>
                <a:spcPct val="129552"/>
              </a:lnSpc>
              <a:buNone/>
            </a:pPr>
            <a:r>
              <a:rPr lang="en-US" sz="2100" dirty="0">
                <a:solidFill>
                  <a:srgbClr val="1D1F20"/>
                </a:solidFill>
                <a:latin typeface="Barlow" pitchFamily="34" charset="0"/>
                <a:ea typeface="Barlow" pitchFamily="34" charset="-122"/>
                <a:cs typeface="Barlow" pitchFamily="34" charset="-120"/>
              </a:rPr>
              <a:t>Coaching scope drops to conservative</a:t>
            </a:r>
            <a:endParaRPr lang="en-US" sz="2100" dirty="0"/>
          </a:p>
        </p:txBody>
      </p:sp>
      <p:sp>
        <p:nvSpPr>
          <p:cNvPr id="40" name="Shape 38"/>
          <p:cNvSpPr/>
          <p:nvPr/>
        </p:nvSpPr>
        <p:spPr>
          <a:xfrm>
            <a:off x="1143000" y="8683005"/>
            <a:ext cx="16002000" cy="9525"/>
          </a:xfrm>
          <a:prstGeom prst="rect">
            <a:avLst/>
          </a:prstGeom>
          <a:solidFill>
            <a:srgbClr val="1D1F20">
              <a:alpha val="16000"/>
            </a:srgbClr>
          </a:solidFill>
          <a:ln/>
        </p:spPr>
      </p:sp>
      <p:sp>
        <p:nvSpPr>
          <p:cNvPr id="41" name="Text 39"/>
          <p:cNvSpPr/>
          <p:nvPr/>
        </p:nvSpPr>
        <p:spPr>
          <a:xfrm>
            <a:off x="1143000" y="8959230"/>
            <a:ext cx="16482060" cy="451470"/>
          </a:xfrm>
          <a:prstGeom prst="rect">
            <a:avLst/>
          </a:prstGeom>
          <a:noFill/>
          <a:ln/>
        </p:spPr>
        <p:txBody>
          <a:bodyPr wrap="square" lIns="25400" tIns="25400" rIns="25400" bIns="25400" rtlCol="0" anchor="t">
            <a:normAutofit/>
          </a:bodyPr>
          <a:lstStyle/>
          <a:p>
            <a:pPr algn="l" indent="0" marL="0">
              <a:lnSpc>
                <a:spcPct val="129552"/>
              </a:lnSpc>
              <a:buNone/>
            </a:pPr>
            <a:r>
              <a:rPr lang="en-US" sz="2100" dirty="0">
                <a:solidFill>
                  <a:srgbClr val="424244"/>
                </a:solidFill>
                <a:latin typeface="Barlow" pitchFamily="34" charset="0"/>
                <a:ea typeface="Barlow" pitchFamily="34" charset="-122"/>
                <a:cs typeface="Barlow" pitchFamily="34" charset="-120"/>
              </a:rPr>
              <a:t>A silently degraded live signal teaches the athlete the wrong movement — so every degradation carries text, not just a colour change.</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D2D3D"/>
        </a:solidFill>
      </p:bgPr>
    </p:bg>
    <p:spTree>
      <p:nvGrpSpPr>
        <p:cNvPr id="1" name=""/>
        <p:cNvGrpSpPr/>
        <p:nvPr/>
      </p:nvGrpSpPr>
      <p:grpSpPr>
        <a:xfrm>
          <a:off x="0" y="0"/>
          <a:ext cx="0" cy="0"/>
          <a:chOff x="0" y="0"/>
          <a:chExt cx="0" cy="0"/>
        </a:xfrm>
      </p:grpSpPr>
      <p:sp>
        <p:nvSpPr>
          <p:cNvPr id="2" name="Text 0"/>
          <p:cNvSpPr/>
          <p:nvPr/>
        </p:nvSpPr>
        <p:spPr>
          <a:xfrm>
            <a:off x="1143000" y="914400"/>
            <a:ext cx="17602200" cy="392385"/>
          </a:xfrm>
          <a:prstGeom prst="rect">
            <a:avLst/>
          </a:prstGeom>
          <a:noFill/>
          <a:ln/>
        </p:spPr>
        <p:txBody>
          <a:bodyPr wrap="square" lIns="25400" tIns="25400" rIns="25400" bIns="25400" rtlCol="0" anchor="t">
            <a:normAutofit/>
          </a:bodyPr>
          <a:lstStyle/>
          <a:p>
            <a:pPr algn="l" indent="0" marL="0">
              <a:lnSpc>
                <a:spcPct val="128276"/>
              </a:lnSpc>
              <a:buNone/>
            </a:pPr>
            <a:r>
              <a:rPr lang="en-US" sz="1800" b="1" spc="252" kern="0" dirty="0">
                <a:solidFill>
                  <a:srgbClr val="94BCE3"/>
                </a:solidFill>
                <a:latin typeface="Barlow Condensed" pitchFamily="34" charset="0"/>
                <a:ea typeface="Barlow Condensed" pitchFamily="34" charset="-122"/>
                <a:cs typeface="Barlow Condensed" pitchFamily="34" charset="-120"/>
              </a:rPr>
              <a:t>10 · NEXT</a:t>
            </a:r>
            <a:endParaRPr lang="en-US" sz="1800" dirty="0"/>
          </a:p>
        </p:txBody>
      </p:sp>
      <p:sp>
        <p:nvSpPr>
          <p:cNvPr id="3" name="Text 1"/>
          <p:cNvSpPr/>
          <p:nvPr/>
        </p:nvSpPr>
        <p:spPr>
          <a:xfrm>
            <a:off x="1143000" y="1421085"/>
            <a:ext cx="14668500" cy="819894"/>
          </a:xfrm>
          <a:prstGeom prst="rect">
            <a:avLst/>
          </a:prstGeom>
          <a:noFill/>
          <a:ln/>
        </p:spPr>
        <p:txBody>
          <a:bodyPr wrap="square" lIns="25400" tIns="25400" rIns="25400" bIns="25400" rtlCol="0" anchor="t">
            <a:normAutofit/>
          </a:bodyPr>
          <a:lstStyle/>
          <a:p>
            <a:pPr algn="l" indent="0" marL="0">
              <a:lnSpc>
                <a:spcPct val="90198"/>
              </a:lnSpc>
              <a:buNone/>
            </a:pPr>
            <a:r>
              <a:rPr lang="en-US" sz="5700" b="1" dirty="0">
                <a:solidFill>
                  <a:srgbClr val="F2F2F3"/>
                </a:solidFill>
                <a:latin typeface="Barlow Condensed" pitchFamily="34" charset="0"/>
                <a:ea typeface="Barlow Condensed" pitchFamily="34" charset="-122"/>
                <a:cs typeface="Barlow Condensed" pitchFamily="34" charset="-120"/>
              </a:rPr>
              <a:t>What the design needs before pilot</a:t>
            </a:r>
            <a:endParaRPr lang="en-US" sz="5700" dirty="0"/>
          </a:p>
        </p:txBody>
      </p:sp>
      <p:sp>
        <p:nvSpPr>
          <p:cNvPr id="4" name="Shape 2"/>
          <p:cNvSpPr/>
          <p:nvPr/>
        </p:nvSpPr>
        <p:spPr>
          <a:xfrm>
            <a:off x="1143000" y="2736279"/>
            <a:ext cx="5054575" cy="19050"/>
          </a:xfrm>
          <a:prstGeom prst="rect">
            <a:avLst/>
          </a:prstGeom>
          <a:solidFill>
            <a:srgbClr val="94BCE3"/>
          </a:solidFill>
          <a:ln/>
        </p:spPr>
      </p:sp>
      <p:sp>
        <p:nvSpPr>
          <p:cNvPr id="5" name="Text 3"/>
          <p:cNvSpPr/>
          <p:nvPr/>
        </p:nvSpPr>
        <p:spPr>
          <a:xfrm>
            <a:off x="1143000" y="2964879"/>
            <a:ext cx="5560033" cy="628650"/>
          </a:xfrm>
          <a:prstGeom prst="rect">
            <a:avLst/>
          </a:prstGeom>
          <a:noFill/>
          <a:ln/>
        </p:spPr>
        <p:txBody>
          <a:bodyPr wrap="square" lIns="25400" tIns="25400" rIns="25400" bIns="25400" rtlCol="0" anchor="t">
            <a:normAutofit/>
          </a:bodyPr>
          <a:lstStyle/>
          <a:p>
            <a:pPr algn="l" indent="0" marL="0">
              <a:lnSpc>
                <a:spcPct val="129167"/>
              </a:lnSpc>
              <a:buNone/>
            </a:pPr>
            <a:r>
              <a:rPr lang="en-US" sz="3000" b="1" dirty="0">
                <a:solidFill>
                  <a:srgbClr val="F2F2F3"/>
                </a:solidFill>
                <a:latin typeface="Barlow Condensed" pitchFamily="34" charset="0"/>
                <a:ea typeface="Barlow Condensed" pitchFamily="34" charset="-122"/>
                <a:cs typeface="Barlow Condensed" pitchFamily="34" charset="-120"/>
              </a:rPr>
              <a:t>Swedish at real length</a:t>
            </a:r>
            <a:endParaRPr lang="en-US" sz="3000" dirty="0"/>
          </a:p>
        </p:txBody>
      </p:sp>
      <p:sp>
        <p:nvSpPr>
          <p:cNvPr id="6" name="Text 4"/>
          <p:cNvSpPr/>
          <p:nvPr/>
        </p:nvSpPr>
        <p:spPr>
          <a:xfrm>
            <a:off x="1143000" y="3650679"/>
            <a:ext cx="5206212" cy="1115244"/>
          </a:xfrm>
          <a:prstGeom prst="rect">
            <a:avLst/>
          </a:prstGeom>
          <a:noFill/>
          <a:ln/>
        </p:spPr>
        <p:txBody>
          <a:bodyPr wrap="square" lIns="25400" tIns="25400" rIns="25400" bIns="25400" rtlCol="0" anchor="t">
            <a:normAutofit/>
          </a:bodyPr>
          <a:lstStyle/>
          <a:p>
            <a:pPr algn="l" indent="0" marL="0">
              <a:lnSpc>
                <a:spcPct val="121613"/>
              </a:lnSpc>
              <a:buNone/>
            </a:pPr>
            <a:r>
              <a:rPr lang="en-US" sz="1950" dirty="0">
                <a:solidFill>
                  <a:srgbClr val="B7B7BA"/>
                </a:solidFill>
                <a:latin typeface="Barlow" pitchFamily="34" charset="0"/>
                <a:ea typeface="Barlow" pitchFamily="34" charset="-122"/>
                <a:cs typeface="Barlow" pitchFamily="34" charset="-120"/>
              </a:rPr>
              <a:t>Every card re-checked with Swedish strings — the focus block and the fixed referral text are the tight ones.</a:t>
            </a:r>
            <a:endParaRPr lang="en-US" sz="1950" dirty="0"/>
          </a:p>
        </p:txBody>
      </p:sp>
      <p:sp>
        <p:nvSpPr>
          <p:cNvPr id="7" name="Shape 5"/>
          <p:cNvSpPr/>
          <p:nvPr/>
        </p:nvSpPr>
        <p:spPr>
          <a:xfrm>
            <a:off x="6616675" y="2736279"/>
            <a:ext cx="5054575" cy="19050"/>
          </a:xfrm>
          <a:prstGeom prst="rect">
            <a:avLst/>
          </a:prstGeom>
          <a:solidFill>
            <a:srgbClr val="94BCE3"/>
          </a:solidFill>
          <a:ln/>
        </p:spPr>
      </p:sp>
      <p:sp>
        <p:nvSpPr>
          <p:cNvPr id="8" name="Text 6"/>
          <p:cNvSpPr/>
          <p:nvPr/>
        </p:nvSpPr>
        <p:spPr>
          <a:xfrm>
            <a:off x="6616675" y="2964879"/>
            <a:ext cx="5560033" cy="628650"/>
          </a:xfrm>
          <a:prstGeom prst="rect">
            <a:avLst/>
          </a:prstGeom>
          <a:noFill/>
          <a:ln/>
        </p:spPr>
        <p:txBody>
          <a:bodyPr wrap="square" lIns="25400" tIns="25400" rIns="25400" bIns="25400" rtlCol="0" anchor="t">
            <a:normAutofit/>
          </a:bodyPr>
          <a:lstStyle/>
          <a:p>
            <a:pPr algn="l" indent="0" marL="0">
              <a:lnSpc>
                <a:spcPct val="129167"/>
              </a:lnSpc>
              <a:buNone/>
            </a:pPr>
            <a:r>
              <a:rPr lang="en-US" sz="3000" b="1" dirty="0">
                <a:solidFill>
                  <a:srgbClr val="F2F2F3"/>
                </a:solidFill>
                <a:latin typeface="Barlow Condensed" pitchFamily="34" charset="0"/>
                <a:ea typeface="Barlow Condensed" pitchFamily="34" charset="-122"/>
                <a:cs typeface="Barlow Condensed" pitchFamily="34" charset="-120"/>
              </a:rPr>
              <a:t>Real placement footage</a:t>
            </a:r>
            <a:endParaRPr lang="en-US" sz="3000" dirty="0"/>
          </a:p>
        </p:txBody>
      </p:sp>
      <p:sp>
        <p:nvSpPr>
          <p:cNvPr id="9" name="Text 7"/>
          <p:cNvSpPr/>
          <p:nvPr/>
        </p:nvSpPr>
        <p:spPr>
          <a:xfrm>
            <a:off x="6616675" y="3650679"/>
            <a:ext cx="5206212" cy="756196"/>
          </a:xfrm>
          <a:prstGeom prst="rect">
            <a:avLst/>
          </a:prstGeom>
          <a:noFill/>
          <a:ln/>
        </p:spPr>
        <p:txBody>
          <a:bodyPr wrap="square" lIns="25400" tIns="25400" rIns="25400" bIns="25400" rtlCol="0" anchor="t">
            <a:normAutofit/>
          </a:bodyPr>
          <a:lstStyle/>
          <a:p>
            <a:pPr algn="l" indent="0" marL="0">
              <a:lnSpc>
                <a:spcPct val="121613"/>
              </a:lnSpc>
              <a:buNone/>
            </a:pPr>
            <a:r>
              <a:rPr lang="en-US" sz="1950" dirty="0">
                <a:solidFill>
                  <a:srgbClr val="B7B7BA"/>
                </a:solidFill>
                <a:latin typeface="Barlow" pitchFamily="34" charset="0"/>
                <a:ea typeface="Barlow" pitchFamily="34" charset="-122"/>
                <a:cs typeface="Barlow" pitchFamily="34" charset="-120"/>
              </a:rPr>
              <a:t>Four clips keyed to the silhouette. Currently placeholders on A11.</a:t>
            </a:r>
            <a:endParaRPr lang="en-US" sz="1950" dirty="0"/>
          </a:p>
        </p:txBody>
      </p:sp>
      <p:sp>
        <p:nvSpPr>
          <p:cNvPr id="10" name="Shape 8"/>
          <p:cNvSpPr/>
          <p:nvPr/>
        </p:nvSpPr>
        <p:spPr>
          <a:xfrm>
            <a:off x="12090350" y="2736279"/>
            <a:ext cx="5054650" cy="19050"/>
          </a:xfrm>
          <a:prstGeom prst="rect">
            <a:avLst/>
          </a:prstGeom>
          <a:solidFill>
            <a:srgbClr val="94BCE3"/>
          </a:solidFill>
          <a:ln/>
        </p:spPr>
      </p:sp>
      <p:sp>
        <p:nvSpPr>
          <p:cNvPr id="11" name="Text 9"/>
          <p:cNvSpPr/>
          <p:nvPr/>
        </p:nvSpPr>
        <p:spPr>
          <a:xfrm>
            <a:off x="12090350" y="2964879"/>
            <a:ext cx="5560115" cy="628650"/>
          </a:xfrm>
          <a:prstGeom prst="rect">
            <a:avLst/>
          </a:prstGeom>
          <a:noFill/>
          <a:ln/>
        </p:spPr>
        <p:txBody>
          <a:bodyPr wrap="square" lIns="25400" tIns="25400" rIns="25400" bIns="25400" rtlCol="0" anchor="t">
            <a:normAutofit/>
          </a:bodyPr>
          <a:lstStyle/>
          <a:p>
            <a:pPr algn="l" indent="0" marL="0">
              <a:lnSpc>
                <a:spcPct val="129167"/>
              </a:lnSpc>
              <a:buNone/>
            </a:pPr>
            <a:r>
              <a:rPr lang="en-US" sz="3000" b="1" dirty="0">
                <a:solidFill>
                  <a:srgbClr val="F2F2F3"/>
                </a:solidFill>
                <a:latin typeface="Barlow Condensed" pitchFamily="34" charset="0"/>
                <a:ea typeface="Barlow Condensed" pitchFamily="34" charset="-122"/>
                <a:cs typeface="Barlow Condensed" pitchFamily="34" charset="-120"/>
              </a:rPr>
              <a:t>Cadence default</a:t>
            </a:r>
            <a:endParaRPr lang="en-US" sz="3000" dirty="0"/>
          </a:p>
        </p:txBody>
      </p:sp>
      <p:sp>
        <p:nvSpPr>
          <p:cNvPr id="12" name="Text 10"/>
          <p:cNvSpPr/>
          <p:nvPr/>
        </p:nvSpPr>
        <p:spPr>
          <a:xfrm>
            <a:off x="12090350" y="3650679"/>
            <a:ext cx="5206289" cy="1115244"/>
          </a:xfrm>
          <a:prstGeom prst="rect">
            <a:avLst/>
          </a:prstGeom>
          <a:noFill/>
          <a:ln/>
        </p:spPr>
        <p:txBody>
          <a:bodyPr wrap="square" lIns="25400" tIns="25400" rIns="25400" bIns="25400" rtlCol="0" anchor="t">
            <a:normAutofit/>
          </a:bodyPr>
          <a:lstStyle/>
          <a:p>
            <a:pPr algn="l" indent="0" marL="0">
              <a:lnSpc>
                <a:spcPct val="121613"/>
              </a:lnSpc>
              <a:buNone/>
            </a:pPr>
            <a:r>
              <a:rPr lang="en-US" sz="1950" dirty="0">
                <a:solidFill>
                  <a:srgbClr val="B7B7BA"/>
                </a:solidFill>
                <a:latin typeface="Barlow" pitchFamily="34" charset="0"/>
                <a:ea typeface="Barlow" pitchFamily="34" charset="-122"/>
                <a:cs typeface="Barlow" pitchFamily="34" charset="-120"/>
              </a:rPr>
              <a:t>The tertiary signal is hidden unless prescribed. Decide whether first-session mode prescribes one.</a:t>
            </a:r>
            <a:endParaRPr lang="en-US" sz="1950" dirty="0"/>
          </a:p>
        </p:txBody>
      </p:sp>
      <p:sp>
        <p:nvSpPr>
          <p:cNvPr id="13" name="Shape 11"/>
          <p:cNvSpPr/>
          <p:nvPr/>
        </p:nvSpPr>
        <p:spPr>
          <a:xfrm>
            <a:off x="1143000" y="8712547"/>
            <a:ext cx="16002000" cy="9525"/>
          </a:xfrm>
          <a:prstGeom prst="rect">
            <a:avLst/>
          </a:prstGeom>
          <a:solidFill>
            <a:srgbClr val="F2F2F3">
              <a:alpha val="20000"/>
            </a:srgbClr>
          </a:solidFill>
          <a:ln/>
        </p:spPr>
      </p:sp>
      <p:sp>
        <p:nvSpPr>
          <p:cNvPr id="14" name="Text 12"/>
          <p:cNvSpPr/>
          <p:nvPr/>
        </p:nvSpPr>
        <p:spPr>
          <a:xfrm>
            <a:off x="1143000" y="8988772"/>
            <a:ext cx="10293489" cy="421928"/>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B7B7BA"/>
                </a:solidFill>
                <a:latin typeface="Barlow" pitchFamily="34" charset="0"/>
                <a:ea typeface="Barlow" pitchFamily="34" charset="-122"/>
                <a:cs typeface="Barlow" pitchFamily="34" charset="-120"/>
              </a:rPr>
              <a:t>Out of v1, plumbing preserved: coach tablet view · on-device inference · Tier B/C sensors</a:t>
            </a:r>
            <a:endParaRPr lang="en-US" sz="1950" dirty="0"/>
          </a:p>
        </p:txBody>
      </p:sp>
      <p:sp>
        <p:nvSpPr>
          <p:cNvPr id="15" name="Text 13"/>
          <p:cNvSpPr/>
          <p:nvPr/>
        </p:nvSpPr>
        <p:spPr>
          <a:xfrm>
            <a:off x="15673164" y="8988772"/>
            <a:ext cx="1619019" cy="421928"/>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B7B7BA"/>
                </a:solidFill>
                <a:latin typeface="Barlow" pitchFamily="34" charset="0"/>
                <a:ea typeface="Barlow" pitchFamily="34" charset="-122"/>
                <a:cs typeface="Barlow" pitchFamily="34" charset="-120"/>
              </a:rPr>
              <a:t>Spec v1.0 · §15</a:t>
            </a:r>
            <a:endParaRPr lang="en-US" sz="1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2026-08-18T05:16:33Z</dcterms:created>
  <dcterms:modified xsi:type="dcterms:W3CDTF">2026-08-18T05:16:33Z</dcterms:modified>
</cp:coreProperties>
</file>